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7.xml" ContentType="application/vnd.openxmlformats-officedocument.presentationml.tags+xml"/>
  <Override PartName="/ppt/notesSlides/notesSlide15.xml" ContentType="application/vnd.openxmlformats-officedocument.presentationml.notesSlide+xml"/>
  <Override PartName="/ppt/tags/tag18.xml" ContentType="application/vnd.openxmlformats-officedocument.presentationml.tags+xml"/>
  <Override PartName="/ppt/notesSlides/notesSlide16.xml" ContentType="application/vnd.openxmlformats-officedocument.presentationml.notesSlide+xml"/>
  <Override PartName="/ppt/tags/tag19.xml" ContentType="application/vnd.openxmlformats-officedocument.presentationml.tags+xml"/>
  <Override PartName="/ppt/notesSlides/notesSlide17.xml" ContentType="application/vnd.openxmlformats-officedocument.presentationml.notesSlide+xml"/>
  <Override PartName="/ppt/tags/tag20.xml" ContentType="application/vnd.openxmlformats-officedocument.presentationml.tags+xml"/>
  <Override PartName="/ppt/notesSlides/notesSlide18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21.xml" ContentType="application/vnd.openxmlformats-officedocument.presentationml.notesSlide+xml"/>
  <Override PartName="/ppt/tags/tag26.xml" ContentType="application/vnd.openxmlformats-officedocument.presentationml.tags+xml"/>
  <Override PartName="/ppt/notesSlides/notesSlide22.xml" ContentType="application/vnd.openxmlformats-officedocument.presentationml.notesSlide+xml"/>
  <Override PartName="/ppt/tags/tag27.xml" ContentType="application/vnd.openxmlformats-officedocument.presentationml.tags+xml"/>
  <Override PartName="/ppt/notesSlides/notesSlide23.xml" ContentType="application/vnd.openxmlformats-officedocument.presentationml.notesSlide+xml"/>
  <Override PartName="/ppt/tags/tag28.xml" ContentType="application/vnd.openxmlformats-officedocument.presentationml.tags+xml"/>
  <Override PartName="/ppt/notesSlides/notesSlide24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25.xml" ContentType="application/vnd.openxmlformats-officedocument.presentationml.notesSlide+xml"/>
  <Override PartName="/ppt/tags/tag31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7" r:id="rId2"/>
    <p:sldId id="284" r:id="rId3"/>
    <p:sldId id="266" r:id="rId4"/>
    <p:sldId id="308" r:id="rId5"/>
    <p:sldId id="260" r:id="rId6"/>
    <p:sldId id="287" r:id="rId7"/>
    <p:sldId id="261" r:id="rId8"/>
    <p:sldId id="293" r:id="rId9"/>
    <p:sldId id="264" r:id="rId10"/>
    <p:sldId id="271" r:id="rId11"/>
    <p:sldId id="304" r:id="rId12"/>
    <p:sldId id="305" r:id="rId13"/>
    <p:sldId id="299" r:id="rId14"/>
    <p:sldId id="265" r:id="rId15"/>
    <p:sldId id="300" r:id="rId16"/>
    <p:sldId id="303" r:id="rId17"/>
    <p:sldId id="301" r:id="rId18"/>
    <p:sldId id="302" r:id="rId19"/>
    <p:sldId id="306" r:id="rId20"/>
    <p:sldId id="307" r:id="rId21"/>
    <p:sldId id="310" r:id="rId22"/>
    <p:sldId id="311" r:id="rId23"/>
    <p:sldId id="312" r:id="rId24"/>
    <p:sldId id="313" r:id="rId25"/>
    <p:sldId id="314" r:id="rId26"/>
    <p:sldId id="315" r:id="rId27"/>
    <p:sldId id="259" r:id="rId28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7" userDrawn="1">
          <p15:clr>
            <a:srgbClr val="A4A3A4"/>
          </p15:clr>
        </p15:guide>
        <p15:guide id="2" pos="380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muel Garcia" initials="SG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80" autoAdjust="0"/>
    <p:restoredTop sz="86374"/>
  </p:normalViewPr>
  <p:slideViewPr>
    <p:cSldViewPr snapToGrid="0" showGuides="1">
      <p:cViewPr varScale="1">
        <p:scale>
          <a:sx n="103" d="100"/>
          <a:sy n="103" d="100"/>
        </p:scale>
        <p:origin x="1320" y="91"/>
      </p:cViewPr>
      <p:guideLst>
        <p:guide orient="horz" pos="2187"/>
        <p:guide pos="38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D742A-9E91-468C-B0BA-D6E0DC135687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2ECA3-E5F4-44CA-BF21-128C334BA455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2ECA3-E5F4-44CA-BF21-128C334BA455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2ECA3-E5F4-44CA-BF21-128C334BA455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2ECA3-E5F4-44CA-BF21-128C334BA455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2ECA3-E5F4-44CA-BF21-128C334BA455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0" y="2697654"/>
            <a:ext cx="12192000" cy="1462692"/>
            <a:chOff x="0" y="2878638"/>
            <a:chExt cx="9144000" cy="1034852"/>
          </a:xfrm>
        </p:grpSpPr>
        <p:sp>
          <p:nvSpPr>
            <p:cNvPr id="7" name="矩形 6"/>
            <p:cNvSpPr/>
            <p:nvPr/>
          </p:nvSpPr>
          <p:spPr>
            <a:xfrm>
              <a:off x="0" y="3607982"/>
              <a:ext cx="9144000" cy="305508"/>
            </a:xfrm>
            <a:prstGeom prst="rect">
              <a:avLst/>
            </a:prstGeom>
            <a:solidFill>
              <a:srgbClr val="453D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矩形 7"/>
            <p:cNvSpPr/>
            <p:nvPr/>
          </p:nvSpPr>
          <p:spPr>
            <a:xfrm>
              <a:off x="0" y="2878638"/>
              <a:ext cx="9144000" cy="729343"/>
            </a:xfrm>
            <a:prstGeom prst="rect">
              <a:avLst/>
            </a:prstGeom>
            <a:solidFill>
              <a:srgbClr val="6A00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10934299" y="1892024"/>
            <a:ext cx="693020" cy="653562"/>
            <a:chOff x="10920675" y="2008140"/>
            <a:chExt cx="576000" cy="576000"/>
          </a:xfrm>
        </p:grpSpPr>
        <p:sp>
          <p:nvSpPr>
            <p:cNvPr id="11" name="矩形 10"/>
            <p:cNvSpPr/>
            <p:nvPr/>
          </p:nvSpPr>
          <p:spPr>
            <a:xfrm>
              <a:off x="11172675" y="2260140"/>
              <a:ext cx="324000" cy="324000"/>
            </a:xfrm>
            <a:prstGeom prst="rect">
              <a:avLst/>
            </a:prstGeom>
            <a:solidFill>
              <a:srgbClr val="870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2" name="矩形 11"/>
            <p:cNvSpPr/>
            <p:nvPr/>
          </p:nvSpPr>
          <p:spPr>
            <a:xfrm>
              <a:off x="10920675" y="2008140"/>
              <a:ext cx="252000" cy="252000"/>
            </a:xfrm>
            <a:prstGeom prst="rect">
              <a:avLst/>
            </a:prstGeom>
            <a:solidFill>
              <a:srgbClr val="6A00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4" name="Freeform 5"/>
          <p:cNvSpPr>
            <a:spLocks noEditPoints="1"/>
          </p:cNvSpPr>
          <p:nvPr userDrawn="1"/>
        </p:nvSpPr>
        <p:spPr bwMode="auto">
          <a:xfrm>
            <a:off x="11026467" y="2954360"/>
            <a:ext cx="600852" cy="516114"/>
          </a:xfrm>
          <a:custGeom>
            <a:avLst/>
            <a:gdLst>
              <a:gd name="T0" fmla="*/ 17 w 68"/>
              <a:gd name="T1" fmla="*/ 26 h 60"/>
              <a:gd name="T2" fmla="*/ 33 w 68"/>
              <a:gd name="T3" fmla="*/ 31 h 60"/>
              <a:gd name="T4" fmla="*/ 33 w 68"/>
              <a:gd name="T5" fmla="*/ 31 h 60"/>
              <a:gd name="T6" fmla="*/ 49 w 68"/>
              <a:gd name="T7" fmla="*/ 26 h 60"/>
              <a:gd name="T8" fmla="*/ 34 w 68"/>
              <a:gd name="T9" fmla="*/ 18 h 60"/>
              <a:gd name="T10" fmla="*/ 59 w 68"/>
              <a:gd name="T11" fmla="*/ 16 h 60"/>
              <a:gd name="T12" fmla="*/ 55 w 68"/>
              <a:gd name="T13" fmla="*/ 23 h 60"/>
              <a:gd name="T14" fmla="*/ 56 w 68"/>
              <a:gd name="T15" fmla="*/ 15 h 60"/>
              <a:gd name="T16" fmla="*/ 56 w 68"/>
              <a:gd name="T17" fmla="*/ 12 h 60"/>
              <a:gd name="T18" fmla="*/ 52 w 68"/>
              <a:gd name="T19" fmla="*/ 23 h 60"/>
              <a:gd name="T20" fmla="*/ 68 w 68"/>
              <a:gd name="T21" fmla="*/ 32 h 60"/>
              <a:gd name="T22" fmla="*/ 68 w 68"/>
              <a:gd name="T23" fmla="*/ 34 h 60"/>
              <a:gd name="T24" fmla="*/ 67 w 68"/>
              <a:gd name="T25" fmla="*/ 34 h 60"/>
              <a:gd name="T26" fmla="*/ 29 w 68"/>
              <a:gd name="T27" fmla="*/ 50 h 60"/>
              <a:gd name="T28" fmla="*/ 68 w 68"/>
              <a:gd name="T29" fmla="*/ 45 h 60"/>
              <a:gd name="T30" fmla="*/ 30 w 68"/>
              <a:gd name="T31" fmla="*/ 60 h 60"/>
              <a:gd name="T32" fmla="*/ 28 w 68"/>
              <a:gd name="T33" fmla="*/ 59 h 60"/>
              <a:gd name="T34" fmla="*/ 3 w 68"/>
              <a:gd name="T35" fmla="*/ 25 h 60"/>
              <a:gd name="T36" fmla="*/ 14 w 68"/>
              <a:gd name="T37" fmla="*/ 23 h 60"/>
              <a:gd name="T38" fmla="*/ 1 w 68"/>
              <a:gd name="T39" fmla="*/ 10 h 60"/>
              <a:gd name="T40" fmla="*/ 32 w 68"/>
              <a:gd name="T41" fmla="*/ 0 h 60"/>
              <a:gd name="T42" fmla="*/ 65 w 68"/>
              <a:gd name="T43" fmla="*/ 9 h 60"/>
              <a:gd name="T44" fmla="*/ 59 w 68"/>
              <a:gd name="T45" fmla="*/ 14 h 60"/>
              <a:gd name="T46" fmla="*/ 59 w 68"/>
              <a:gd name="T47" fmla="*/ 16 h 60"/>
              <a:gd name="T48" fmla="*/ 58 w 68"/>
              <a:gd name="T49" fmla="*/ 9 h 60"/>
              <a:gd name="T50" fmla="*/ 33 w 68"/>
              <a:gd name="T51" fmla="*/ 4 h 60"/>
              <a:gd name="T52" fmla="*/ 33 w 68"/>
              <a:gd name="T53" fmla="*/ 8 h 60"/>
              <a:gd name="T54" fmla="*/ 54 w 68"/>
              <a:gd name="T55" fmla="*/ 10 h 60"/>
              <a:gd name="T56" fmla="*/ 32 w 68"/>
              <a:gd name="T57" fmla="*/ 53 h 60"/>
              <a:gd name="T58" fmla="*/ 67 w 68"/>
              <a:gd name="T59" fmla="*/ 42 h 60"/>
              <a:gd name="T60" fmla="*/ 32 w 68"/>
              <a:gd name="T61" fmla="*/ 49 h 60"/>
              <a:gd name="T62" fmla="*/ 67 w 68"/>
              <a:gd name="T63" fmla="*/ 40 h 60"/>
              <a:gd name="T64" fmla="*/ 32 w 68"/>
              <a:gd name="T65" fmla="*/ 49 h 60"/>
              <a:gd name="T66" fmla="*/ 32 w 68"/>
              <a:gd name="T67" fmla="*/ 47 h 60"/>
              <a:gd name="T68" fmla="*/ 67 w 68"/>
              <a:gd name="T69" fmla="*/ 36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68" h="60">
                <a:moveTo>
                  <a:pt x="17" y="14"/>
                </a:moveTo>
                <a:cubicBezTo>
                  <a:pt x="17" y="26"/>
                  <a:pt x="17" y="26"/>
                  <a:pt x="17" y="26"/>
                </a:cubicBezTo>
                <a:cubicBezTo>
                  <a:pt x="17" y="26"/>
                  <a:pt x="18" y="27"/>
                  <a:pt x="18" y="27"/>
                </a:cubicBezTo>
                <a:cubicBezTo>
                  <a:pt x="22" y="28"/>
                  <a:pt x="29" y="31"/>
                  <a:pt x="33" y="31"/>
                </a:cubicBezTo>
                <a:cubicBezTo>
                  <a:pt x="33" y="31"/>
                  <a:pt x="33" y="31"/>
                  <a:pt x="33" y="31"/>
                </a:cubicBezTo>
                <a:cubicBezTo>
                  <a:pt x="33" y="31"/>
                  <a:pt x="33" y="31"/>
                  <a:pt x="33" y="31"/>
                </a:cubicBezTo>
                <a:cubicBezTo>
                  <a:pt x="36" y="31"/>
                  <a:pt x="39" y="30"/>
                  <a:pt x="41" y="30"/>
                </a:cubicBezTo>
                <a:cubicBezTo>
                  <a:pt x="45" y="29"/>
                  <a:pt x="47" y="27"/>
                  <a:pt x="49" y="26"/>
                </a:cubicBezTo>
                <a:cubicBezTo>
                  <a:pt x="49" y="14"/>
                  <a:pt x="49" y="14"/>
                  <a:pt x="49" y="14"/>
                </a:cubicBezTo>
                <a:cubicBezTo>
                  <a:pt x="34" y="18"/>
                  <a:pt x="34" y="18"/>
                  <a:pt x="34" y="18"/>
                </a:cubicBezTo>
                <a:cubicBezTo>
                  <a:pt x="17" y="14"/>
                  <a:pt x="17" y="14"/>
                  <a:pt x="17" y="14"/>
                </a:cubicBezTo>
                <a:close/>
                <a:moveTo>
                  <a:pt x="59" y="16"/>
                </a:moveTo>
                <a:cubicBezTo>
                  <a:pt x="61" y="23"/>
                  <a:pt x="61" y="23"/>
                  <a:pt x="61" y="23"/>
                </a:cubicBezTo>
                <a:cubicBezTo>
                  <a:pt x="59" y="25"/>
                  <a:pt x="57" y="25"/>
                  <a:pt x="55" y="23"/>
                </a:cubicBezTo>
                <a:cubicBezTo>
                  <a:pt x="56" y="16"/>
                  <a:pt x="56" y="16"/>
                  <a:pt x="56" y="16"/>
                </a:cubicBezTo>
                <a:cubicBezTo>
                  <a:pt x="56" y="16"/>
                  <a:pt x="56" y="16"/>
                  <a:pt x="56" y="15"/>
                </a:cubicBezTo>
                <a:cubicBezTo>
                  <a:pt x="56" y="15"/>
                  <a:pt x="56" y="14"/>
                  <a:pt x="56" y="14"/>
                </a:cubicBezTo>
                <a:cubicBezTo>
                  <a:pt x="56" y="12"/>
                  <a:pt x="56" y="12"/>
                  <a:pt x="56" y="12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23"/>
                  <a:pt x="52" y="23"/>
                  <a:pt x="52" y="23"/>
                </a:cubicBezTo>
                <a:cubicBezTo>
                  <a:pt x="68" y="30"/>
                  <a:pt x="68" y="30"/>
                  <a:pt x="68" y="30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4"/>
                  <a:pt x="68" y="34"/>
                  <a:pt x="68" y="34"/>
                </a:cubicBezTo>
                <a:cubicBezTo>
                  <a:pt x="68" y="34"/>
                  <a:pt x="68" y="34"/>
                  <a:pt x="68" y="34"/>
                </a:cubicBezTo>
                <a:cubicBezTo>
                  <a:pt x="68" y="34"/>
                  <a:pt x="68" y="34"/>
                  <a:pt x="68" y="34"/>
                </a:cubicBezTo>
                <a:cubicBezTo>
                  <a:pt x="67" y="34"/>
                  <a:pt x="67" y="34"/>
                  <a:pt x="67" y="34"/>
                </a:cubicBezTo>
                <a:cubicBezTo>
                  <a:pt x="30" y="44"/>
                  <a:pt x="30" y="44"/>
                  <a:pt x="30" y="44"/>
                </a:cubicBezTo>
                <a:cubicBezTo>
                  <a:pt x="29" y="46"/>
                  <a:pt x="29" y="48"/>
                  <a:pt x="29" y="50"/>
                </a:cubicBezTo>
                <a:cubicBezTo>
                  <a:pt x="29" y="52"/>
                  <a:pt x="29" y="54"/>
                  <a:pt x="30" y="56"/>
                </a:cubicBezTo>
                <a:cubicBezTo>
                  <a:pt x="68" y="45"/>
                  <a:pt x="68" y="45"/>
                  <a:pt x="68" y="45"/>
                </a:cubicBezTo>
                <a:cubicBezTo>
                  <a:pt x="68" y="48"/>
                  <a:pt x="68" y="48"/>
                  <a:pt x="68" y="48"/>
                </a:cubicBezTo>
                <a:cubicBezTo>
                  <a:pt x="30" y="60"/>
                  <a:pt x="30" y="60"/>
                  <a:pt x="30" y="60"/>
                </a:cubicBezTo>
                <a:cubicBezTo>
                  <a:pt x="29" y="60"/>
                  <a:pt x="29" y="60"/>
                  <a:pt x="29" y="60"/>
                </a:cubicBezTo>
                <a:cubicBezTo>
                  <a:pt x="28" y="59"/>
                  <a:pt x="28" y="59"/>
                  <a:pt x="28" y="59"/>
                </a:cubicBezTo>
                <a:cubicBezTo>
                  <a:pt x="3" y="38"/>
                  <a:pt x="3" y="38"/>
                  <a:pt x="3" y="38"/>
                </a:cubicBezTo>
                <a:cubicBezTo>
                  <a:pt x="2" y="34"/>
                  <a:pt x="1" y="30"/>
                  <a:pt x="3" y="25"/>
                </a:cubicBezTo>
                <a:cubicBezTo>
                  <a:pt x="3" y="25"/>
                  <a:pt x="3" y="25"/>
                  <a:pt x="3" y="25"/>
                </a:cubicBezTo>
                <a:cubicBezTo>
                  <a:pt x="14" y="23"/>
                  <a:pt x="14" y="23"/>
                  <a:pt x="14" y="23"/>
                </a:cubicBezTo>
                <a:cubicBezTo>
                  <a:pt x="14" y="13"/>
                  <a:pt x="14" y="13"/>
                  <a:pt x="14" y="13"/>
                </a:cubicBezTo>
                <a:cubicBezTo>
                  <a:pt x="1" y="10"/>
                  <a:pt x="1" y="10"/>
                  <a:pt x="1" y="10"/>
                </a:cubicBezTo>
                <a:cubicBezTo>
                  <a:pt x="0" y="8"/>
                  <a:pt x="0" y="8"/>
                  <a:pt x="0" y="8"/>
                </a:cubicBezTo>
                <a:cubicBezTo>
                  <a:pt x="32" y="0"/>
                  <a:pt x="32" y="0"/>
                  <a:pt x="32" y="0"/>
                </a:cubicBezTo>
                <a:cubicBezTo>
                  <a:pt x="65" y="7"/>
                  <a:pt x="65" y="7"/>
                  <a:pt x="65" y="7"/>
                </a:cubicBezTo>
                <a:cubicBezTo>
                  <a:pt x="65" y="9"/>
                  <a:pt x="65" y="9"/>
                  <a:pt x="65" y="9"/>
                </a:cubicBezTo>
                <a:cubicBezTo>
                  <a:pt x="59" y="11"/>
                  <a:pt x="59" y="11"/>
                  <a:pt x="59" y="11"/>
                </a:cubicBezTo>
                <a:cubicBezTo>
                  <a:pt x="59" y="14"/>
                  <a:pt x="59" y="14"/>
                  <a:pt x="59" y="14"/>
                </a:cubicBezTo>
                <a:cubicBezTo>
                  <a:pt x="59" y="14"/>
                  <a:pt x="59" y="15"/>
                  <a:pt x="59" y="15"/>
                </a:cubicBezTo>
                <a:cubicBezTo>
                  <a:pt x="59" y="16"/>
                  <a:pt x="59" y="16"/>
                  <a:pt x="59" y="16"/>
                </a:cubicBezTo>
                <a:close/>
                <a:moveTo>
                  <a:pt x="54" y="10"/>
                </a:moveTo>
                <a:cubicBezTo>
                  <a:pt x="58" y="9"/>
                  <a:pt x="58" y="9"/>
                  <a:pt x="58" y="9"/>
                </a:cubicBezTo>
                <a:cubicBezTo>
                  <a:pt x="36" y="5"/>
                  <a:pt x="36" y="5"/>
                  <a:pt x="36" y="5"/>
                </a:cubicBezTo>
                <a:cubicBezTo>
                  <a:pt x="36" y="4"/>
                  <a:pt x="34" y="4"/>
                  <a:pt x="33" y="4"/>
                </a:cubicBezTo>
                <a:cubicBezTo>
                  <a:pt x="31" y="4"/>
                  <a:pt x="29" y="5"/>
                  <a:pt x="29" y="6"/>
                </a:cubicBezTo>
                <a:cubicBezTo>
                  <a:pt x="29" y="7"/>
                  <a:pt x="31" y="8"/>
                  <a:pt x="33" y="8"/>
                </a:cubicBezTo>
                <a:cubicBezTo>
                  <a:pt x="34" y="8"/>
                  <a:pt x="35" y="8"/>
                  <a:pt x="36" y="7"/>
                </a:cubicBezTo>
                <a:cubicBezTo>
                  <a:pt x="54" y="10"/>
                  <a:pt x="54" y="10"/>
                  <a:pt x="54" y="10"/>
                </a:cubicBezTo>
                <a:close/>
                <a:moveTo>
                  <a:pt x="32" y="52"/>
                </a:moveTo>
                <a:cubicBezTo>
                  <a:pt x="32" y="53"/>
                  <a:pt x="32" y="53"/>
                  <a:pt x="32" y="53"/>
                </a:cubicBezTo>
                <a:cubicBezTo>
                  <a:pt x="67" y="43"/>
                  <a:pt x="67" y="43"/>
                  <a:pt x="67" y="43"/>
                </a:cubicBezTo>
                <a:cubicBezTo>
                  <a:pt x="67" y="42"/>
                  <a:pt x="67" y="42"/>
                  <a:pt x="67" y="42"/>
                </a:cubicBezTo>
                <a:cubicBezTo>
                  <a:pt x="32" y="52"/>
                  <a:pt x="32" y="52"/>
                  <a:pt x="32" y="52"/>
                </a:cubicBezTo>
                <a:close/>
                <a:moveTo>
                  <a:pt x="32" y="49"/>
                </a:moveTo>
                <a:cubicBezTo>
                  <a:pt x="32" y="49"/>
                  <a:pt x="32" y="49"/>
                  <a:pt x="32" y="49"/>
                </a:cubicBezTo>
                <a:cubicBezTo>
                  <a:pt x="67" y="40"/>
                  <a:pt x="67" y="40"/>
                  <a:pt x="67" y="40"/>
                </a:cubicBezTo>
                <a:cubicBezTo>
                  <a:pt x="67" y="39"/>
                  <a:pt x="67" y="39"/>
                  <a:pt x="67" y="39"/>
                </a:cubicBezTo>
                <a:cubicBezTo>
                  <a:pt x="32" y="49"/>
                  <a:pt x="32" y="49"/>
                  <a:pt x="32" y="49"/>
                </a:cubicBezTo>
                <a:close/>
                <a:moveTo>
                  <a:pt x="31" y="46"/>
                </a:moveTo>
                <a:cubicBezTo>
                  <a:pt x="32" y="47"/>
                  <a:pt x="32" y="47"/>
                  <a:pt x="32" y="47"/>
                </a:cubicBezTo>
                <a:cubicBezTo>
                  <a:pt x="67" y="37"/>
                  <a:pt x="67" y="37"/>
                  <a:pt x="67" y="37"/>
                </a:cubicBezTo>
                <a:cubicBezTo>
                  <a:pt x="67" y="36"/>
                  <a:pt x="67" y="36"/>
                  <a:pt x="67" y="36"/>
                </a:cubicBezTo>
                <a:lnTo>
                  <a:pt x="31" y="4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362" y="2429346"/>
            <a:ext cx="1596121" cy="1999307"/>
          </a:xfrm>
          <a:prstGeom prst="rect">
            <a:avLst/>
          </a:prstGeom>
        </p:spPr>
      </p:pic>
      <p:sp>
        <p:nvSpPr>
          <p:cNvPr id="20" name="文本占位符 19"/>
          <p:cNvSpPr>
            <a:spLocks noGrp="1"/>
          </p:cNvSpPr>
          <p:nvPr>
            <p:ph type="body" sz="quarter" idx="10"/>
          </p:nvPr>
        </p:nvSpPr>
        <p:spPr>
          <a:xfrm>
            <a:off x="2587484" y="2695225"/>
            <a:ext cx="8438981" cy="10308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="1" i="0" baseline="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1" name="文本占位符 19"/>
          <p:cNvSpPr>
            <a:spLocks noGrp="1"/>
          </p:cNvSpPr>
          <p:nvPr>
            <p:ph type="body" sz="quarter" idx="11"/>
          </p:nvPr>
        </p:nvSpPr>
        <p:spPr>
          <a:xfrm>
            <a:off x="2587484" y="3738042"/>
            <a:ext cx="8438981" cy="42230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2"/>
          </p:nvPr>
        </p:nvSpPr>
        <p:spPr>
          <a:xfrm>
            <a:off x="6658709" y="4846566"/>
            <a:ext cx="5148903" cy="914400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11208694" y="6320412"/>
            <a:ext cx="575959" cy="537587"/>
          </a:xfrm>
          <a:prstGeom prst="rect">
            <a:avLst/>
          </a:prstGeom>
          <a:solidFill>
            <a:srgbClr val="6A00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10801349" y="6406644"/>
            <a:ext cx="1390651" cy="365125"/>
          </a:xfrm>
        </p:spPr>
        <p:txBody>
          <a:bodyPr/>
          <a:lstStyle>
            <a:lvl1pPr algn="ctr">
              <a:defRPr sz="2000" b="1">
                <a:solidFill>
                  <a:schemeClr val="bg1"/>
                </a:solidFill>
              </a:defRPr>
            </a:lvl1pPr>
          </a:lstStyle>
          <a:p>
            <a:fld id="{51D91E7F-84B6-4064-9D4E-CC7D244BCA0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0768" y="120576"/>
            <a:ext cx="657379" cy="653562"/>
            <a:chOff x="10920675" y="2008140"/>
            <a:chExt cx="576000" cy="576000"/>
          </a:xfrm>
        </p:grpSpPr>
        <p:sp>
          <p:nvSpPr>
            <p:cNvPr id="14" name="矩形 13"/>
            <p:cNvSpPr/>
            <p:nvPr/>
          </p:nvSpPr>
          <p:spPr>
            <a:xfrm>
              <a:off x="11172675" y="2260140"/>
              <a:ext cx="324000" cy="324000"/>
            </a:xfrm>
            <a:prstGeom prst="rect">
              <a:avLst/>
            </a:prstGeom>
            <a:solidFill>
              <a:srgbClr val="870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5" name="矩形 14"/>
            <p:cNvSpPr/>
            <p:nvPr/>
          </p:nvSpPr>
          <p:spPr>
            <a:xfrm>
              <a:off x="10920675" y="2008140"/>
              <a:ext cx="252000" cy="252000"/>
            </a:xfrm>
            <a:prstGeom prst="rect">
              <a:avLst/>
            </a:prstGeom>
            <a:solidFill>
              <a:srgbClr val="6A00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7" name="文本占位符 16"/>
          <p:cNvSpPr>
            <a:spLocks noGrp="1"/>
          </p:cNvSpPr>
          <p:nvPr>
            <p:ph type="body" sz="quarter" idx="13"/>
          </p:nvPr>
        </p:nvSpPr>
        <p:spPr>
          <a:xfrm>
            <a:off x="1032184" y="328713"/>
            <a:ext cx="10834208" cy="523220"/>
          </a:xfrm>
        </p:spPr>
        <p:txBody>
          <a:bodyPr wrap="square" anchor="ctr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1" i="0" baseline="0"/>
            </a:lvl1pPr>
          </a:lstStyle>
          <a:p>
            <a:pPr lvl="0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69" y="6406643"/>
            <a:ext cx="1147156" cy="365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致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0" y="851038"/>
            <a:ext cx="12192000" cy="875445"/>
            <a:chOff x="0" y="3019996"/>
            <a:chExt cx="9144000" cy="893494"/>
          </a:xfrm>
        </p:grpSpPr>
        <p:sp>
          <p:nvSpPr>
            <p:cNvPr id="7" name="矩形 6"/>
            <p:cNvSpPr/>
            <p:nvPr/>
          </p:nvSpPr>
          <p:spPr>
            <a:xfrm>
              <a:off x="0" y="3607982"/>
              <a:ext cx="9144000" cy="305508"/>
            </a:xfrm>
            <a:prstGeom prst="rect">
              <a:avLst/>
            </a:prstGeom>
            <a:solidFill>
              <a:srgbClr val="453D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矩形 7"/>
            <p:cNvSpPr/>
            <p:nvPr/>
          </p:nvSpPr>
          <p:spPr>
            <a:xfrm>
              <a:off x="0" y="3019996"/>
              <a:ext cx="9144000" cy="587986"/>
            </a:xfrm>
            <a:prstGeom prst="rect">
              <a:avLst/>
            </a:prstGeom>
            <a:solidFill>
              <a:srgbClr val="6A00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29" y="629102"/>
            <a:ext cx="1051611" cy="132178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054413" y="2828835"/>
            <a:ext cx="40831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b="1" dirty="0">
                <a:solidFill>
                  <a:srgbClr val="6A005F"/>
                </a:solidFill>
              </a:rPr>
              <a:t>THANKS</a:t>
            </a:r>
            <a:endParaRPr lang="zh-CN" altLang="en-US" sz="7200" b="1" dirty="0">
              <a:solidFill>
                <a:srgbClr val="6A005F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027" y="6036473"/>
            <a:ext cx="1508760" cy="477982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7187" y="5943183"/>
            <a:ext cx="2629267" cy="724001"/>
          </a:xfrm>
          <a:prstGeom prst="rect">
            <a:avLst/>
          </a:prstGeom>
        </p:spPr>
      </p:pic>
      <p:sp>
        <p:nvSpPr>
          <p:cNvPr id="17" name="文本占位符 16"/>
          <p:cNvSpPr>
            <a:spLocks noGrp="1"/>
          </p:cNvSpPr>
          <p:nvPr>
            <p:ph type="body" sz="quarter" idx="10"/>
          </p:nvPr>
        </p:nvSpPr>
        <p:spPr>
          <a:xfrm>
            <a:off x="1875440" y="851037"/>
            <a:ext cx="9844611" cy="57610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i="0" baseline="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8" name="文本占位符 16"/>
          <p:cNvSpPr>
            <a:spLocks noGrp="1"/>
          </p:cNvSpPr>
          <p:nvPr>
            <p:ph type="body" sz="quarter" idx="11"/>
          </p:nvPr>
        </p:nvSpPr>
        <p:spPr>
          <a:xfrm>
            <a:off x="1875440" y="1427146"/>
            <a:ext cx="9844611" cy="29933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i="0" baseline="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2"/>
          </p:nvPr>
        </p:nvSpPr>
        <p:spPr>
          <a:xfrm>
            <a:off x="3373886" y="4589847"/>
            <a:ext cx="5444225" cy="108334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6A005F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Relationship Id="rId4" Type="http://schemas.openxmlformats.org/officeDocument/2006/relationships/image" Target="../media/image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.xml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.xml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7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8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9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0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6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7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8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5000" lnSpcReduction="10000"/>
          </a:bodyPr>
          <a:lstStyle/>
          <a:p>
            <a:r>
              <a:rPr lang="zh-CN" altLang="en-US" sz="3600" dirty="0"/>
              <a:t>支持混合隔离级别的分布式 </a:t>
            </a:r>
            <a:r>
              <a:rPr lang="en-US" altLang="zh-CN" sz="3600" dirty="0"/>
              <a:t>KV </a:t>
            </a:r>
            <a:r>
              <a:rPr lang="zh-CN" altLang="en-US" sz="3600" dirty="0"/>
              <a:t>数据库原型的设计与实现</a:t>
            </a:r>
            <a:endParaRPr sz="36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2200275" y="4451350"/>
            <a:ext cx="8439150" cy="1391920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solidFill>
                  <a:schemeClr val="tx1"/>
                </a:solidFill>
              </a:rPr>
              <a:t>答辩人：张继华</a:t>
            </a:r>
            <a:endParaRPr lang="en-US" altLang="zh-CN" sz="3200" dirty="0">
              <a:solidFill>
                <a:schemeClr val="tx1"/>
              </a:solidFill>
            </a:endParaRPr>
          </a:p>
          <a:p>
            <a:r>
              <a:rPr lang="zh-CN" altLang="en-US" sz="3200" b="1" dirty="0">
                <a:solidFill>
                  <a:schemeClr val="tx1"/>
                </a:solidFill>
              </a:rPr>
              <a:t>学号：</a:t>
            </a:r>
            <a:r>
              <a:rPr lang="en-US" altLang="zh-CN" sz="3200" b="1" dirty="0">
                <a:solidFill>
                  <a:schemeClr val="tx1"/>
                </a:solidFill>
              </a:rPr>
              <a:t>522024320201     </a:t>
            </a:r>
          </a:p>
          <a:p>
            <a:r>
              <a:rPr lang="zh-CN" altLang="en-US" sz="3200" b="1" dirty="0">
                <a:solidFill>
                  <a:schemeClr val="tx1"/>
                </a:solidFill>
              </a:rPr>
              <a:t>导师：葛季栋</a:t>
            </a:r>
            <a:r>
              <a:rPr lang="en-US" altLang="zh-CN" sz="3200" b="1" dirty="0">
                <a:solidFill>
                  <a:schemeClr val="tx1"/>
                </a:solidFill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</a:rPr>
              <a:t>副教授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379834" y="1462084"/>
            <a:ext cx="2725425" cy="908109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800" b="1" dirty="0"/>
              <a:t>项目背景</a:t>
            </a:r>
            <a:endParaRPr lang="en-US" altLang="zh-CN" sz="2800" b="1" dirty="0"/>
          </a:p>
        </p:txBody>
      </p:sp>
      <p:sp>
        <p:nvSpPr>
          <p:cNvPr id="6" name="矩形 5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2487551" y="3063754"/>
            <a:ext cx="1516020" cy="1474318"/>
          </a:xfrm>
          <a:prstGeom prst="ellipse">
            <a:avLst/>
          </a:prstGeom>
          <a:solidFill>
            <a:srgbClr val="6B0060"/>
          </a:solidFill>
          <a:ln>
            <a:solidFill>
              <a:srgbClr val="6B0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2525813" y="3370029"/>
            <a:ext cx="1439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 录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041668" y="3877106"/>
            <a:ext cx="24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CONTENTS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798409" y="1619364"/>
            <a:ext cx="421626" cy="429719"/>
          </a:xfrm>
          <a:prstGeom prst="ellipse">
            <a:avLst/>
          </a:prstGeom>
          <a:solidFill>
            <a:srgbClr val="6B0060"/>
          </a:solidFill>
          <a:ln>
            <a:solidFill>
              <a:srgbClr val="6B0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5798409" y="1619364"/>
            <a:ext cx="421626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379834" y="1942475"/>
            <a:ext cx="2182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</a:rPr>
              <a:t>Project Background</a:t>
            </a:r>
            <a:endParaRPr lang="zh-CN" altLang="en-US" sz="1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副标题 2"/>
          <p:cNvSpPr txBox="1"/>
          <p:nvPr/>
        </p:nvSpPr>
        <p:spPr>
          <a:xfrm>
            <a:off x="6379834" y="2529807"/>
            <a:ext cx="2424239" cy="908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b="1" dirty="0"/>
              <a:t>需求分析</a:t>
            </a:r>
            <a:endParaRPr lang="en-US" altLang="zh-CN" sz="2800" b="1" dirty="0"/>
          </a:p>
        </p:txBody>
      </p:sp>
      <p:sp>
        <p:nvSpPr>
          <p:cNvPr id="21" name="椭圆 20"/>
          <p:cNvSpPr/>
          <p:nvPr/>
        </p:nvSpPr>
        <p:spPr>
          <a:xfrm>
            <a:off x="5798409" y="2687087"/>
            <a:ext cx="421626" cy="429719"/>
          </a:xfrm>
          <a:prstGeom prst="ellipse">
            <a:avLst/>
          </a:prstGeom>
          <a:solidFill>
            <a:srgbClr val="6B0060"/>
          </a:solidFill>
          <a:ln>
            <a:solidFill>
              <a:srgbClr val="6B0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5798409" y="2687087"/>
            <a:ext cx="421626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zh-CN" altLang="en-US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379834" y="3065485"/>
            <a:ext cx="2014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</a:rPr>
              <a:t>Requirement Analysis</a:t>
            </a:r>
          </a:p>
        </p:txBody>
      </p:sp>
      <p:sp>
        <p:nvSpPr>
          <p:cNvPr id="24" name="副标题 2"/>
          <p:cNvSpPr txBox="1"/>
          <p:nvPr/>
        </p:nvSpPr>
        <p:spPr>
          <a:xfrm>
            <a:off x="6379834" y="3521890"/>
            <a:ext cx="2424239" cy="908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b="1" dirty="0"/>
              <a:t>系统设计</a:t>
            </a:r>
            <a:endParaRPr lang="en-US" altLang="zh-CN" sz="2800" b="1" dirty="0"/>
          </a:p>
        </p:txBody>
      </p:sp>
      <p:sp>
        <p:nvSpPr>
          <p:cNvPr id="25" name="椭圆 24"/>
          <p:cNvSpPr/>
          <p:nvPr/>
        </p:nvSpPr>
        <p:spPr>
          <a:xfrm>
            <a:off x="5798409" y="3679170"/>
            <a:ext cx="421626" cy="429719"/>
          </a:xfrm>
          <a:prstGeom prst="ellipse">
            <a:avLst/>
          </a:prstGeom>
          <a:solidFill>
            <a:srgbClr val="6B0060"/>
          </a:solidFill>
          <a:ln>
            <a:solidFill>
              <a:srgbClr val="6B0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5798409" y="3679170"/>
            <a:ext cx="421626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zh-CN" altLang="en-US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379834" y="4002281"/>
            <a:ext cx="2601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</a:rPr>
              <a:t>System Design</a:t>
            </a:r>
          </a:p>
        </p:txBody>
      </p:sp>
      <p:sp>
        <p:nvSpPr>
          <p:cNvPr id="28" name="副标题 2"/>
          <p:cNvSpPr txBox="1"/>
          <p:nvPr/>
        </p:nvSpPr>
        <p:spPr>
          <a:xfrm>
            <a:off x="6379834" y="4512760"/>
            <a:ext cx="2424239" cy="908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b="1" dirty="0"/>
              <a:t>系统实现</a:t>
            </a:r>
            <a:endParaRPr lang="en-US" altLang="zh-CN" sz="2800" b="1" dirty="0"/>
          </a:p>
        </p:txBody>
      </p:sp>
      <p:sp>
        <p:nvSpPr>
          <p:cNvPr id="29" name="椭圆 28"/>
          <p:cNvSpPr/>
          <p:nvPr/>
        </p:nvSpPr>
        <p:spPr>
          <a:xfrm>
            <a:off x="5798409" y="4670040"/>
            <a:ext cx="421626" cy="429719"/>
          </a:xfrm>
          <a:prstGeom prst="ellipse">
            <a:avLst/>
          </a:prstGeom>
          <a:solidFill>
            <a:srgbClr val="6B0060"/>
          </a:solidFill>
          <a:ln>
            <a:solidFill>
              <a:srgbClr val="6B0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文本框 29"/>
          <p:cNvSpPr txBox="1"/>
          <p:nvPr/>
        </p:nvSpPr>
        <p:spPr>
          <a:xfrm>
            <a:off x="5798409" y="4670040"/>
            <a:ext cx="421626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endParaRPr lang="zh-CN" altLang="en-US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414692" y="5077327"/>
            <a:ext cx="22051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</a:rPr>
              <a:t>System Implementation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08" y="53759"/>
            <a:ext cx="2866867" cy="864610"/>
          </a:xfrm>
          <a:prstGeom prst="rect">
            <a:avLst/>
          </a:prstGeom>
        </p:spPr>
      </p:pic>
      <p:sp>
        <p:nvSpPr>
          <p:cNvPr id="2" name="副标题 2"/>
          <p:cNvSpPr txBox="1"/>
          <p:nvPr/>
        </p:nvSpPr>
        <p:spPr>
          <a:xfrm>
            <a:off x="6379834" y="5578111"/>
            <a:ext cx="3201196" cy="908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b="1" dirty="0"/>
              <a:t>系统测试与总结</a:t>
            </a:r>
            <a:endParaRPr lang="en-US" altLang="zh-CN" sz="2800" b="1" dirty="0"/>
          </a:p>
        </p:txBody>
      </p:sp>
      <p:sp>
        <p:nvSpPr>
          <p:cNvPr id="4" name="椭圆 3"/>
          <p:cNvSpPr/>
          <p:nvPr/>
        </p:nvSpPr>
        <p:spPr>
          <a:xfrm>
            <a:off x="5798410" y="5735391"/>
            <a:ext cx="421626" cy="429719"/>
          </a:xfrm>
          <a:prstGeom prst="ellipse">
            <a:avLst/>
          </a:prstGeom>
          <a:solidFill>
            <a:srgbClr val="6B0060"/>
          </a:solidFill>
          <a:ln>
            <a:solidFill>
              <a:srgbClr val="6B0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798410" y="5735391"/>
            <a:ext cx="421626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endParaRPr lang="zh-CN" altLang="en-US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14693" y="6142678"/>
            <a:ext cx="301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</a:rPr>
              <a:t>System Test and Summary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/>
          <p:cNvSpPr/>
          <p:nvPr/>
        </p:nvSpPr>
        <p:spPr bwMode="auto">
          <a:xfrm>
            <a:off x="1912588" y="1704802"/>
            <a:ext cx="3381639" cy="3378639"/>
          </a:xfrm>
          <a:custGeom>
            <a:avLst/>
            <a:gdLst>
              <a:gd name="T0" fmla="*/ 929 w 1857"/>
              <a:gd name="T1" fmla="*/ 0 h 1855"/>
              <a:gd name="T2" fmla="*/ 1857 w 1857"/>
              <a:gd name="T3" fmla="*/ 928 h 1855"/>
              <a:gd name="T4" fmla="*/ 929 w 1857"/>
              <a:gd name="T5" fmla="*/ 1855 h 1855"/>
              <a:gd name="T6" fmla="*/ 0 w 1857"/>
              <a:gd name="T7" fmla="*/ 928 h 1855"/>
              <a:gd name="T8" fmla="*/ 929 w 1857"/>
              <a:gd name="T9" fmla="*/ 0 h 1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57" h="1855">
                <a:moveTo>
                  <a:pt x="929" y="0"/>
                </a:moveTo>
                <a:lnTo>
                  <a:pt x="1857" y="928"/>
                </a:lnTo>
                <a:lnTo>
                  <a:pt x="929" y="1855"/>
                </a:lnTo>
                <a:lnTo>
                  <a:pt x="0" y="928"/>
                </a:lnTo>
                <a:lnTo>
                  <a:pt x="929" y="0"/>
                </a:lnTo>
                <a:close/>
              </a:path>
            </a:pathLst>
          </a:custGeom>
          <a:solidFill>
            <a:srgbClr val="6E0F6D"/>
          </a:solidFill>
          <a:ln w="0">
            <a:noFill/>
            <a:prstDash val="solid"/>
            <a:round/>
          </a:ln>
        </p:spPr>
        <p:txBody>
          <a:bodyPr vert="horz" wrap="square" lIns="121890" tIns="60945" rIns="121890" bIns="60945" numCol="1" anchor="t" anchorCtr="0" compatLnSpc="1"/>
          <a:lstStyle/>
          <a:p>
            <a:endParaRPr lang="zh-CN" altLang="en-US"/>
          </a:p>
        </p:txBody>
      </p:sp>
      <p:sp>
        <p:nvSpPr>
          <p:cNvPr id="3" name="文本框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99405" y="2322035"/>
            <a:ext cx="1608005" cy="1497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973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01</a:t>
            </a:r>
            <a:endParaRPr lang="zh-CN" altLang="en-US" sz="973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" name="文本框 1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60150" y="3668255"/>
            <a:ext cx="3286516" cy="4102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Part</a:t>
            </a:r>
            <a:r>
              <a:rPr lang="zh-CN" altLang="en-US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one</a:t>
            </a:r>
            <a:endParaRPr lang="zh-CN" altLang="en-US" sz="2665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TextBox 11"/>
          <p:cNvSpPr txBox="1"/>
          <p:nvPr/>
        </p:nvSpPr>
        <p:spPr>
          <a:xfrm>
            <a:off x="6988036" y="3527513"/>
            <a:ext cx="1999276" cy="333750"/>
          </a:xfrm>
          <a:prstGeom prst="rect">
            <a:avLst/>
          </a:prstGeom>
          <a:noFill/>
        </p:spPr>
        <p:txBody>
          <a:bodyPr wrap="none" lIns="86683" tIns="43341" rIns="86683" bIns="43341" rtlCol="0">
            <a:spAutoFit/>
          </a:bodyPr>
          <a:lstStyle/>
          <a:p>
            <a:r>
              <a:rPr lang="en-US" altLang="zh-CN" sz="1600" b="1" dirty="0">
                <a:solidFill>
                  <a:srgbClr val="6E0F6D"/>
                </a:solidFill>
                <a:latin typeface="+mn-ea"/>
                <a:cs typeface="+mn-ea"/>
                <a:sym typeface="+mn-lt"/>
              </a:rPr>
              <a:t>Project Background</a:t>
            </a:r>
          </a:p>
        </p:txBody>
      </p:sp>
      <p:sp>
        <p:nvSpPr>
          <p:cNvPr id="6" name="矩形 7"/>
          <p:cNvSpPr/>
          <p:nvPr/>
        </p:nvSpPr>
        <p:spPr>
          <a:xfrm>
            <a:off x="6954253" y="2714935"/>
            <a:ext cx="2213809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4000" b="1" dirty="0">
                <a:solidFill>
                  <a:srgbClr val="6E0F6D"/>
                </a:solidFill>
                <a:latin typeface="+mn-ea"/>
                <a:cs typeface="+mn-ea"/>
              </a:rPr>
              <a:t>项目背景</a:t>
            </a:r>
          </a:p>
        </p:txBody>
      </p:sp>
      <p:cxnSp>
        <p:nvCxnSpPr>
          <p:cNvPr id="7" name="直接连接符 1"/>
          <p:cNvCxnSpPr/>
          <p:nvPr>
            <p:custDataLst>
              <p:tags r:id="rId3"/>
            </p:custDataLst>
          </p:nvPr>
        </p:nvCxnSpPr>
        <p:spPr>
          <a:xfrm>
            <a:off x="5883586" y="3429000"/>
            <a:ext cx="3928174" cy="0"/>
          </a:xfrm>
          <a:prstGeom prst="line">
            <a:avLst/>
          </a:prstGeom>
          <a:ln w="12700">
            <a:solidFill>
              <a:srgbClr val="6E0F6D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等腰三角形 26"/>
          <p:cNvSpPr>
            <a:spLocks noChangeArrowheads="1"/>
          </p:cNvSpPr>
          <p:nvPr/>
        </p:nvSpPr>
        <p:spPr bwMode="auto">
          <a:xfrm rot="16200000">
            <a:off x="11519998" y="6203320"/>
            <a:ext cx="841485" cy="498379"/>
          </a:xfrm>
          <a:prstGeom prst="triangle">
            <a:avLst>
              <a:gd name="adj" fmla="val 0"/>
            </a:avLst>
          </a:prstGeom>
          <a:solidFill>
            <a:srgbClr val="6E0F6D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08" y="53759"/>
            <a:ext cx="2866867" cy="864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/>
              <a:t>项目背景</a:t>
            </a:r>
          </a:p>
        </p:txBody>
      </p:sp>
      <p:sp>
        <p:nvSpPr>
          <p:cNvPr id="4" name="椭圆 29"/>
          <p:cNvSpPr/>
          <p:nvPr/>
        </p:nvSpPr>
        <p:spPr bwMode="auto">
          <a:xfrm>
            <a:off x="4391760" y="3021607"/>
            <a:ext cx="3085729" cy="3085728"/>
          </a:xfrm>
          <a:prstGeom prst="ellipse">
            <a:avLst/>
          </a:prstGeom>
          <a:noFill/>
          <a:ln w="44450" cap="flat">
            <a:solidFill>
              <a:srgbClr val="6B006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 err="1">
              <a:solidFill>
                <a:schemeClr val="accent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</p:txBody>
      </p:sp>
      <p:sp>
        <p:nvSpPr>
          <p:cNvPr id="6" name="文本框 28"/>
          <p:cNvSpPr txBox="1"/>
          <p:nvPr/>
        </p:nvSpPr>
        <p:spPr>
          <a:xfrm>
            <a:off x="5216479" y="4290410"/>
            <a:ext cx="1436291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项目背景</a:t>
            </a:r>
            <a:endParaRPr lang="en-US" sz="2800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</p:txBody>
      </p:sp>
      <p:grpSp>
        <p:nvGrpSpPr>
          <p:cNvPr id="8" name="组合 209"/>
          <p:cNvGrpSpPr>
            <a:grpSpLocks noChangeAspect="1"/>
          </p:cNvGrpSpPr>
          <p:nvPr/>
        </p:nvGrpSpPr>
        <p:grpSpPr>
          <a:xfrm>
            <a:off x="5331120" y="2470249"/>
            <a:ext cx="1207008" cy="1207008"/>
            <a:chOff x="5466464" y="1399081"/>
            <a:chExt cx="1207008" cy="1207008"/>
          </a:xfrm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grpSpPr>
        <p:sp useBgFill="1">
          <p:nvSpPr>
            <p:cNvPr id="9" name="椭圆 210"/>
            <p:cNvSpPr/>
            <p:nvPr/>
          </p:nvSpPr>
          <p:spPr bwMode="auto">
            <a:xfrm>
              <a:off x="5466464" y="1399081"/>
              <a:ext cx="1207008" cy="1207008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2805" rIns="0" bIns="42805" numCol="1" rtlCol="0" anchor="ctr" anchorCtr="0" compatLnSpc="1"/>
            <a:lstStyle/>
            <a:p>
              <a:pPr algn="ctr" defTabSz="855345" fontAlgn="base">
                <a:spcBef>
                  <a:spcPct val="0"/>
                </a:spcBef>
                <a:spcAft>
                  <a:spcPct val="0"/>
                </a:spcAft>
              </a:pPr>
              <a:endParaRPr lang="en-US" sz="147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 useBgFill="1">
          <p:nvSpPr>
            <p:cNvPr id="10" name="椭圆 211"/>
            <p:cNvSpPr/>
            <p:nvPr/>
          </p:nvSpPr>
          <p:spPr bwMode="auto">
            <a:xfrm>
              <a:off x="5512476" y="1445094"/>
              <a:ext cx="1114984" cy="111498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blurRad="241300" dist="114300" dir="2700000" sx="101000" sy="101000" algn="tl" rotWithShape="0">
                <a:schemeClr val="accent1">
                  <a:alpha val="26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11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solidFill>
              <a:srgbClr val="6B0060">
                <a:alpha val="88000"/>
              </a:srgbClr>
            </a:solidFill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 dirty="0">
                <a:noFill/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13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noFill/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</p:grpSp>
      <p:grpSp>
        <p:nvGrpSpPr>
          <p:cNvPr id="14" name="组合 4"/>
          <p:cNvGrpSpPr>
            <a:grpSpLocks noChangeAspect="1"/>
          </p:cNvGrpSpPr>
          <p:nvPr/>
        </p:nvGrpSpPr>
        <p:grpSpPr bwMode="auto">
          <a:xfrm>
            <a:off x="5670267" y="2798708"/>
            <a:ext cx="549275" cy="547687"/>
            <a:chOff x="3483" y="1309"/>
            <a:chExt cx="346" cy="345"/>
          </a:xfrm>
          <a:solidFill>
            <a:schemeClr val="bg1"/>
          </a:solidFill>
        </p:grpSpPr>
        <p:sp>
          <p:nvSpPr>
            <p:cNvPr id="15" name="Freeform 5"/>
            <p:cNvSpPr/>
            <p:nvPr/>
          </p:nvSpPr>
          <p:spPr bwMode="auto">
            <a:xfrm>
              <a:off x="3606" y="1432"/>
              <a:ext cx="99" cy="99"/>
            </a:xfrm>
            <a:custGeom>
              <a:avLst/>
              <a:gdLst>
                <a:gd name="T0" fmla="*/ 74 w 107"/>
                <a:gd name="T1" fmla="*/ 4 h 107"/>
                <a:gd name="T2" fmla="*/ 74 w 107"/>
                <a:gd name="T3" fmla="*/ 4 h 107"/>
                <a:gd name="T4" fmla="*/ 54 w 107"/>
                <a:gd name="T5" fmla="*/ 0 h 107"/>
                <a:gd name="T6" fmla="*/ 33 w 107"/>
                <a:gd name="T7" fmla="*/ 4 h 107"/>
                <a:gd name="T8" fmla="*/ 16 w 107"/>
                <a:gd name="T9" fmla="*/ 16 h 107"/>
                <a:gd name="T10" fmla="*/ 5 w 107"/>
                <a:gd name="T11" fmla="*/ 33 h 107"/>
                <a:gd name="T12" fmla="*/ 0 w 107"/>
                <a:gd name="T13" fmla="*/ 53 h 107"/>
                <a:gd name="T14" fmla="*/ 5 w 107"/>
                <a:gd name="T15" fmla="*/ 74 h 107"/>
                <a:gd name="T16" fmla="*/ 16 w 107"/>
                <a:gd name="T17" fmla="*/ 91 h 107"/>
                <a:gd name="T18" fmla="*/ 33 w 107"/>
                <a:gd name="T19" fmla="*/ 102 h 107"/>
                <a:gd name="T20" fmla="*/ 54 w 107"/>
                <a:gd name="T21" fmla="*/ 107 h 107"/>
                <a:gd name="T22" fmla="*/ 74 w 107"/>
                <a:gd name="T23" fmla="*/ 102 h 107"/>
                <a:gd name="T24" fmla="*/ 91 w 107"/>
                <a:gd name="T25" fmla="*/ 91 h 107"/>
                <a:gd name="T26" fmla="*/ 103 w 107"/>
                <a:gd name="T27" fmla="*/ 74 h 107"/>
                <a:gd name="T28" fmla="*/ 107 w 107"/>
                <a:gd name="T29" fmla="*/ 53 h 107"/>
                <a:gd name="T30" fmla="*/ 103 w 107"/>
                <a:gd name="T31" fmla="*/ 33 h 107"/>
                <a:gd name="T32" fmla="*/ 91 w 107"/>
                <a:gd name="T33" fmla="*/ 16 h 107"/>
                <a:gd name="T34" fmla="*/ 74 w 107"/>
                <a:gd name="T35" fmla="*/ 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7" h="107">
                  <a:moveTo>
                    <a:pt x="74" y="4"/>
                  </a:moveTo>
                  <a:lnTo>
                    <a:pt x="74" y="4"/>
                  </a:lnTo>
                  <a:cubicBezTo>
                    <a:pt x="68" y="1"/>
                    <a:pt x="61" y="0"/>
                    <a:pt x="54" y="0"/>
                  </a:cubicBezTo>
                  <a:cubicBezTo>
                    <a:pt x="46" y="0"/>
                    <a:pt x="40" y="1"/>
                    <a:pt x="33" y="4"/>
                  </a:cubicBezTo>
                  <a:cubicBezTo>
                    <a:pt x="27" y="7"/>
                    <a:pt x="21" y="11"/>
                    <a:pt x="16" y="16"/>
                  </a:cubicBezTo>
                  <a:cubicBezTo>
                    <a:pt x="11" y="20"/>
                    <a:pt x="8" y="26"/>
                    <a:pt x="5" y="33"/>
                  </a:cubicBezTo>
                  <a:cubicBezTo>
                    <a:pt x="2" y="39"/>
                    <a:pt x="0" y="46"/>
                    <a:pt x="0" y="53"/>
                  </a:cubicBezTo>
                  <a:cubicBezTo>
                    <a:pt x="0" y="61"/>
                    <a:pt x="2" y="67"/>
                    <a:pt x="5" y="74"/>
                  </a:cubicBezTo>
                  <a:cubicBezTo>
                    <a:pt x="8" y="80"/>
                    <a:pt x="11" y="86"/>
                    <a:pt x="16" y="91"/>
                  </a:cubicBezTo>
                  <a:cubicBezTo>
                    <a:pt x="21" y="96"/>
                    <a:pt x="27" y="99"/>
                    <a:pt x="33" y="102"/>
                  </a:cubicBezTo>
                  <a:cubicBezTo>
                    <a:pt x="40" y="105"/>
                    <a:pt x="46" y="107"/>
                    <a:pt x="54" y="107"/>
                  </a:cubicBezTo>
                  <a:cubicBezTo>
                    <a:pt x="61" y="107"/>
                    <a:pt x="68" y="105"/>
                    <a:pt x="74" y="102"/>
                  </a:cubicBezTo>
                  <a:cubicBezTo>
                    <a:pt x="81" y="99"/>
                    <a:pt x="87" y="96"/>
                    <a:pt x="91" y="91"/>
                  </a:cubicBezTo>
                  <a:cubicBezTo>
                    <a:pt x="96" y="86"/>
                    <a:pt x="100" y="80"/>
                    <a:pt x="103" y="74"/>
                  </a:cubicBezTo>
                  <a:cubicBezTo>
                    <a:pt x="106" y="67"/>
                    <a:pt x="107" y="61"/>
                    <a:pt x="107" y="53"/>
                  </a:cubicBezTo>
                  <a:cubicBezTo>
                    <a:pt x="107" y="46"/>
                    <a:pt x="106" y="39"/>
                    <a:pt x="103" y="33"/>
                  </a:cubicBezTo>
                  <a:cubicBezTo>
                    <a:pt x="100" y="26"/>
                    <a:pt x="96" y="20"/>
                    <a:pt x="91" y="16"/>
                  </a:cubicBezTo>
                  <a:cubicBezTo>
                    <a:pt x="87" y="11"/>
                    <a:pt x="81" y="7"/>
                    <a:pt x="74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16" name="Freeform 6"/>
            <p:cNvSpPr/>
            <p:nvPr/>
          </p:nvSpPr>
          <p:spPr bwMode="auto">
            <a:xfrm>
              <a:off x="3719" y="1432"/>
              <a:ext cx="110" cy="152"/>
            </a:xfrm>
            <a:custGeom>
              <a:avLst/>
              <a:gdLst>
                <a:gd name="T0" fmla="*/ 111 w 119"/>
                <a:gd name="T1" fmla="*/ 0 h 164"/>
                <a:gd name="T2" fmla="*/ 111 w 119"/>
                <a:gd name="T3" fmla="*/ 0 h 164"/>
                <a:gd name="T4" fmla="*/ 0 w 119"/>
                <a:gd name="T5" fmla="*/ 0 h 164"/>
                <a:gd name="T6" fmla="*/ 82 w 119"/>
                <a:gd name="T7" fmla="*/ 164 h 164"/>
                <a:gd name="T8" fmla="*/ 109 w 119"/>
                <a:gd name="T9" fmla="*/ 111 h 164"/>
                <a:gd name="T10" fmla="*/ 119 w 119"/>
                <a:gd name="T11" fmla="*/ 53 h 164"/>
                <a:gd name="T12" fmla="*/ 111 w 119"/>
                <a:gd name="T13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64">
                  <a:moveTo>
                    <a:pt x="111" y="0"/>
                  </a:moveTo>
                  <a:lnTo>
                    <a:pt x="111" y="0"/>
                  </a:lnTo>
                  <a:lnTo>
                    <a:pt x="0" y="0"/>
                  </a:lnTo>
                  <a:lnTo>
                    <a:pt x="82" y="164"/>
                  </a:lnTo>
                  <a:cubicBezTo>
                    <a:pt x="94" y="148"/>
                    <a:pt x="103" y="130"/>
                    <a:pt x="109" y="111"/>
                  </a:cubicBezTo>
                  <a:cubicBezTo>
                    <a:pt x="115" y="92"/>
                    <a:pt x="119" y="73"/>
                    <a:pt x="119" y="53"/>
                  </a:cubicBezTo>
                  <a:cubicBezTo>
                    <a:pt x="119" y="35"/>
                    <a:pt x="116" y="17"/>
                    <a:pt x="11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17" name="Freeform 7"/>
            <p:cNvSpPr/>
            <p:nvPr/>
          </p:nvSpPr>
          <p:spPr bwMode="auto">
            <a:xfrm>
              <a:off x="3483" y="1380"/>
              <a:ext cx="110" cy="150"/>
            </a:xfrm>
            <a:custGeom>
              <a:avLst/>
              <a:gdLst>
                <a:gd name="T0" fmla="*/ 37 w 119"/>
                <a:gd name="T1" fmla="*/ 0 h 163"/>
                <a:gd name="T2" fmla="*/ 37 w 119"/>
                <a:gd name="T3" fmla="*/ 0 h 163"/>
                <a:gd name="T4" fmla="*/ 10 w 119"/>
                <a:gd name="T5" fmla="*/ 52 h 163"/>
                <a:gd name="T6" fmla="*/ 0 w 119"/>
                <a:gd name="T7" fmla="*/ 110 h 163"/>
                <a:gd name="T8" fmla="*/ 8 w 119"/>
                <a:gd name="T9" fmla="*/ 163 h 163"/>
                <a:gd name="T10" fmla="*/ 119 w 119"/>
                <a:gd name="T11" fmla="*/ 163 h 163"/>
                <a:gd name="T12" fmla="*/ 37 w 119"/>
                <a:gd name="T13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63">
                  <a:moveTo>
                    <a:pt x="37" y="0"/>
                  </a:moveTo>
                  <a:lnTo>
                    <a:pt x="37" y="0"/>
                  </a:lnTo>
                  <a:cubicBezTo>
                    <a:pt x="25" y="16"/>
                    <a:pt x="16" y="33"/>
                    <a:pt x="10" y="52"/>
                  </a:cubicBezTo>
                  <a:cubicBezTo>
                    <a:pt x="3" y="71"/>
                    <a:pt x="0" y="90"/>
                    <a:pt x="0" y="110"/>
                  </a:cubicBezTo>
                  <a:cubicBezTo>
                    <a:pt x="0" y="128"/>
                    <a:pt x="3" y="146"/>
                    <a:pt x="8" y="163"/>
                  </a:cubicBezTo>
                  <a:lnTo>
                    <a:pt x="119" y="163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18" name="Freeform 8"/>
            <p:cNvSpPr/>
            <p:nvPr/>
          </p:nvSpPr>
          <p:spPr bwMode="auto">
            <a:xfrm>
              <a:off x="3630" y="1311"/>
              <a:ext cx="181" cy="101"/>
            </a:xfrm>
            <a:custGeom>
              <a:avLst/>
              <a:gdLst>
                <a:gd name="T0" fmla="*/ 14 w 196"/>
                <a:gd name="T1" fmla="*/ 106 h 109"/>
                <a:gd name="T2" fmla="*/ 14 w 196"/>
                <a:gd name="T3" fmla="*/ 106 h 109"/>
                <a:gd name="T4" fmla="*/ 28 w 196"/>
                <a:gd name="T5" fmla="*/ 104 h 109"/>
                <a:gd name="T6" fmla="*/ 196 w 196"/>
                <a:gd name="T7" fmla="*/ 104 h 109"/>
                <a:gd name="T8" fmla="*/ 171 w 196"/>
                <a:gd name="T9" fmla="*/ 66 h 109"/>
                <a:gd name="T10" fmla="*/ 139 w 196"/>
                <a:gd name="T11" fmla="*/ 34 h 109"/>
                <a:gd name="T12" fmla="*/ 99 w 196"/>
                <a:gd name="T13" fmla="*/ 12 h 109"/>
                <a:gd name="T14" fmla="*/ 55 w 196"/>
                <a:gd name="T15" fmla="*/ 0 h 109"/>
                <a:gd name="T16" fmla="*/ 0 w 196"/>
                <a:gd name="T17" fmla="*/ 109 h 109"/>
                <a:gd name="T18" fmla="*/ 14 w 196"/>
                <a:gd name="T19" fmla="*/ 106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6" h="109">
                  <a:moveTo>
                    <a:pt x="14" y="106"/>
                  </a:moveTo>
                  <a:lnTo>
                    <a:pt x="14" y="106"/>
                  </a:lnTo>
                  <a:cubicBezTo>
                    <a:pt x="18" y="105"/>
                    <a:pt x="23" y="104"/>
                    <a:pt x="28" y="104"/>
                  </a:cubicBezTo>
                  <a:lnTo>
                    <a:pt x="196" y="104"/>
                  </a:lnTo>
                  <a:cubicBezTo>
                    <a:pt x="190" y="90"/>
                    <a:pt x="181" y="77"/>
                    <a:pt x="171" y="66"/>
                  </a:cubicBezTo>
                  <a:cubicBezTo>
                    <a:pt x="162" y="54"/>
                    <a:pt x="151" y="43"/>
                    <a:pt x="139" y="34"/>
                  </a:cubicBezTo>
                  <a:cubicBezTo>
                    <a:pt x="126" y="25"/>
                    <a:pt x="113" y="18"/>
                    <a:pt x="99" y="12"/>
                  </a:cubicBezTo>
                  <a:cubicBezTo>
                    <a:pt x="85" y="6"/>
                    <a:pt x="70" y="2"/>
                    <a:pt x="55" y="0"/>
                  </a:cubicBezTo>
                  <a:lnTo>
                    <a:pt x="0" y="109"/>
                  </a:lnTo>
                  <a:cubicBezTo>
                    <a:pt x="5" y="108"/>
                    <a:pt x="9" y="106"/>
                    <a:pt x="14" y="1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19" name="Freeform 9"/>
            <p:cNvSpPr/>
            <p:nvPr/>
          </p:nvSpPr>
          <p:spPr bwMode="auto">
            <a:xfrm>
              <a:off x="3535" y="1309"/>
              <a:ext cx="119" cy="144"/>
            </a:xfrm>
            <a:custGeom>
              <a:avLst/>
              <a:gdLst>
                <a:gd name="T0" fmla="*/ 129 w 129"/>
                <a:gd name="T1" fmla="*/ 0 h 156"/>
                <a:gd name="T2" fmla="*/ 129 w 129"/>
                <a:gd name="T3" fmla="*/ 0 h 156"/>
                <a:gd name="T4" fmla="*/ 59 w 129"/>
                <a:gd name="T5" fmla="*/ 14 h 156"/>
                <a:gd name="T6" fmla="*/ 0 w 129"/>
                <a:gd name="T7" fmla="*/ 54 h 156"/>
                <a:gd name="T8" fmla="*/ 51 w 129"/>
                <a:gd name="T9" fmla="*/ 156 h 156"/>
                <a:gd name="T10" fmla="*/ 129 w 129"/>
                <a:gd name="T1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9" h="156">
                  <a:moveTo>
                    <a:pt x="129" y="0"/>
                  </a:moveTo>
                  <a:lnTo>
                    <a:pt x="129" y="0"/>
                  </a:lnTo>
                  <a:cubicBezTo>
                    <a:pt x="105" y="0"/>
                    <a:pt x="82" y="5"/>
                    <a:pt x="59" y="14"/>
                  </a:cubicBezTo>
                  <a:cubicBezTo>
                    <a:pt x="37" y="23"/>
                    <a:pt x="17" y="36"/>
                    <a:pt x="0" y="54"/>
                  </a:cubicBezTo>
                  <a:lnTo>
                    <a:pt x="51" y="156"/>
                  </a:lnTo>
                  <a:lnTo>
                    <a:pt x="1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20" name="Freeform 10"/>
            <p:cNvSpPr/>
            <p:nvPr/>
          </p:nvSpPr>
          <p:spPr bwMode="auto">
            <a:xfrm>
              <a:off x="3500" y="1550"/>
              <a:ext cx="182" cy="102"/>
            </a:xfrm>
            <a:custGeom>
              <a:avLst/>
              <a:gdLst>
                <a:gd name="T0" fmla="*/ 183 w 197"/>
                <a:gd name="T1" fmla="*/ 4 h 110"/>
                <a:gd name="T2" fmla="*/ 183 w 197"/>
                <a:gd name="T3" fmla="*/ 4 h 110"/>
                <a:gd name="T4" fmla="*/ 169 w 197"/>
                <a:gd name="T5" fmla="*/ 5 h 110"/>
                <a:gd name="T6" fmla="*/ 0 w 197"/>
                <a:gd name="T7" fmla="*/ 5 h 110"/>
                <a:gd name="T8" fmla="*/ 25 w 197"/>
                <a:gd name="T9" fmla="*/ 44 h 110"/>
                <a:gd name="T10" fmla="*/ 58 w 197"/>
                <a:gd name="T11" fmla="*/ 75 h 110"/>
                <a:gd name="T12" fmla="*/ 98 w 197"/>
                <a:gd name="T13" fmla="*/ 97 h 110"/>
                <a:gd name="T14" fmla="*/ 142 w 197"/>
                <a:gd name="T15" fmla="*/ 110 h 110"/>
                <a:gd name="T16" fmla="*/ 197 w 197"/>
                <a:gd name="T17" fmla="*/ 0 h 110"/>
                <a:gd name="T18" fmla="*/ 183 w 197"/>
                <a:gd name="T19" fmla="*/ 4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7" h="110">
                  <a:moveTo>
                    <a:pt x="183" y="4"/>
                  </a:moveTo>
                  <a:lnTo>
                    <a:pt x="183" y="4"/>
                  </a:lnTo>
                  <a:cubicBezTo>
                    <a:pt x="178" y="5"/>
                    <a:pt x="174" y="5"/>
                    <a:pt x="169" y="5"/>
                  </a:cubicBezTo>
                  <a:lnTo>
                    <a:pt x="0" y="5"/>
                  </a:lnTo>
                  <a:cubicBezTo>
                    <a:pt x="7" y="19"/>
                    <a:pt x="15" y="32"/>
                    <a:pt x="25" y="44"/>
                  </a:cubicBezTo>
                  <a:cubicBezTo>
                    <a:pt x="35" y="56"/>
                    <a:pt x="46" y="66"/>
                    <a:pt x="58" y="75"/>
                  </a:cubicBezTo>
                  <a:cubicBezTo>
                    <a:pt x="70" y="84"/>
                    <a:pt x="83" y="91"/>
                    <a:pt x="98" y="97"/>
                  </a:cubicBezTo>
                  <a:cubicBezTo>
                    <a:pt x="112" y="103"/>
                    <a:pt x="126" y="107"/>
                    <a:pt x="142" y="110"/>
                  </a:cubicBezTo>
                  <a:lnTo>
                    <a:pt x="197" y="0"/>
                  </a:lnTo>
                  <a:cubicBezTo>
                    <a:pt x="192" y="2"/>
                    <a:pt x="188" y="3"/>
                    <a:pt x="183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21" name="Freeform 11"/>
            <p:cNvSpPr/>
            <p:nvPr/>
          </p:nvSpPr>
          <p:spPr bwMode="auto">
            <a:xfrm>
              <a:off x="3657" y="1509"/>
              <a:ext cx="120" cy="145"/>
            </a:xfrm>
            <a:custGeom>
              <a:avLst/>
              <a:gdLst>
                <a:gd name="T0" fmla="*/ 0 w 130"/>
                <a:gd name="T1" fmla="*/ 157 h 157"/>
                <a:gd name="T2" fmla="*/ 0 w 130"/>
                <a:gd name="T3" fmla="*/ 157 h 157"/>
                <a:gd name="T4" fmla="*/ 70 w 130"/>
                <a:gd name="T5" fmla="*/ 142 h 157"/>
                <a:gd name="T6" fmla="*/ 130 w 130"/>
                <a:gd name="T7" fmla="*/ 103 h 157"/>
                <a:gd name="T8" fmla="*/ 79 w 130"/>
                <a:gd name="T9" fmla="*/ 0 h 157"/>
                <a:gd name="T10" fmla="*/ 0 w 130"/>
                <a:gd name="T11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157">
                  <a:moveTo>
                    <a:pt x="0" y="157"/>
                  </a:moveTo>
                  <a:lnTo>
                    <a:pt x="0" y="157"/>
                  </a:lnTo>
                  <a:cubicBezTo>
                    <a:pt x="25" y="157"/>
                    <a:pt x="48" y="152"/>
                    <a:pt x="70" y="142"/>
                  </a:cubicBezTo>
                  <a:cubicBezTo>
                    <a:pt x="93" y="133"/>
                    <a:pt x="113" y="120"/>
                    <a:pt x="130" y="103"/>
                  </a:cubicBezTo>
                  <a:lnTo>
                    <a:pt x="79" y="0"/>
                  </a:lnTo>
                  <a:lnTo>
                    <a:pt x="0" y="15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</p:grpSp>
      <p:sp>
        <p:nvSpPr>
          <p:cNvPr id="22" name="文本框 78"/>
          <p:cNvSpPr txBox="1"/>
          <p:nvPr/>
        </p:nvSpPr>
        <p:spPr>
          <a:xfrm>
            <a:off x="5547830" y="2138757"/>
            <a:ext cx="812800" cy="2457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业务背景</a:t>
            </a:r>
          </a:p>
        </p:txBody>
      </p:sp>
      <p:grpSp>
        <p:nvGrpSpPr>
          <p:cNvPr id="23" name="组合 209"/>
          <p:cNvGrpSpPr>
            <a:grpSpLocks noChangeAspect="1"/>
          </p:cNvGrpSpPr>
          <p:nvPr/>
        </p:nvGrpSpPr>
        <p:grpSpPr>
          <a:xfrm>
            <a:off x="4009473" y="4633681"/>
            <a:ext cx="1207008" cy="1207008"/>
            <a:chOff x="5466464" y="1399081"/>
            <a:chExt cx="1207008" cy="1207008"/>
          </a:xfrm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grpSpPr>
        <p:sp useBgFill="1">
          <p:nvSpPr>
            <p:cNvPr id="24" name="椭圆 210"/>
            <p:cNvSpPr/>
            <p:nvPr/>
          </p:nvSpPr>
          <p:spPr bwMode="auto">
            <a:xfrm>
              <a:off x="5466464" y="1399081"/>
              <a:ext cx="1207008" cy="1207008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2805" rIns="0" bIns="42805" numCol="1" rtlCol="0" anchor="ctr" anchorCtr="0" compatLnSpc="1"/>
            <a:lstStyle/>
            <a:p>
              <a:pPr algn="ctr" defTabSz="855345" fontAlgn="base">
                <a:spcBef>
                  <a:spcPct val="0"/>
                </a:spcBef>
                <a:spcAft>
                  <a:spcPct val="0"/>
                </a:spcAft>
              </a:pPr>
              <a:endParaRPr lang="en-US" sz="147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 useBgFill="1">
          <p:nvSpPr>
            <p:cNvPr id="25" name="椭圆 211"/>
            <p:cNvSpPr/>
            <p:nvPr/>
          </p:nvSpPr>
          <p:spPr bwMode="auto">
            <a:xfrm>
              <a:off x="5512476" y="1445094"/>
              <a:ext cx="1114984" cy="111498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blurRad="241300" dist="114300" dir="2700000" sx="101000" sy="101000" algn="tl" rotWithShape="0">
                <a:schemeClr val="accent1">
                  <a:alpha val="26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26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solidFill>
              <a:srgbClr val="6B0060">
                <a:alpha val="88000"/>
              </a:srgbClr>
            </a:solidFill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noFill/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27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noFill/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</p:grpSp>
      <p:grpSp>
        <p:nvGrpSpPr>
          <p:cNvPr id="28" name="组合 209"/>
          <p:cNvGrpSpPr>
            <a:grpSpLocks noChangeAspect="1"/>
          </p:cNvGrpSpPr>
          <p:nvPr/>
        </p:nvGrpSpPr>
        <p:grpSpPr>
          <a:xfrm>
            <a:off x="6698784" y="4633681"/>
            <a:ext cx="1207008" cy="1207008"/>
            <a:chOff x="5466464" y="1399081"/>
            <a:chExt cx="1207008" cy="1207008"/>
          </a:xfrm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grpSpPr>
        <p:sp useBgFill="1">
          <p:nvSpPr>
            <p:cNvPr id="29" name="椭圆 210"/>
            <p:cNvSpPr/>
            <p:nvPr/>
          </p:nvSpPr>
          <p:spPr bwMode="auto">
            <a:xfrm>
              <a:off x="5466464" y="1399081"/>
              <a:ext cx="1207008" cy="1207008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2805" rIns="0" bIns="42805" numCol="1" rtlCol="0" anchor="ctr" anchorCtr="0" compatLnSpc="1"/>
            <a:lstStyle/>
            <a:p>
              <a:pPr algn="ctr" defTabSz="855345" fontAlgn="base">
                <a:spcBef>
                  <a:spcPct val="0"/>
                </a:spcBef>
                <a:spcAft>
                  <a:spcPct val="0"/>
                </a:spcAft>
              </a:pPr>
              <a:endParaRPr lang="en-US" sz="147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 useBgFill="1">
          <p:nvSpPr>
            <p:cNvPr id="30" name="椭圆 211"/>
            <p:cNvSpPr/>
            <p:nvPr/>
          </p:nvSpPr>
          <p:spPr bwMode="auto">
            <a:xfrm>
              <a:off x="5512476" y="1445094"/>
              <a:ext cx="1114984" cy="111498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blurRad="241300" dist="114300" dir="2700000" sx="101000" sy="101000" algn="tl" rotWithShape="0">
                <a:schemeClr val="accent1">
                  <a:alpha val="26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31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solidFill>
              <a:srgbClr val="6B0060">
                <a:alpha val="88000"/>
              </a:srgbClr>
            </a:solidFill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noFill/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32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noFill/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</p:grpSp>
      <p:grpSp>
        <p:nvGrpSpPr>
          <p:cNvPr id="33" name="组合 14"/>
          <p:cNvGrpSpPr>
            <a:grpSpLocks noChangeAspect="1"/>
          </p:cNvGrpSpPr>
          <p:nvPr/>
        </p:nvGrpSpPr>
        <p:grpSpPr bwMode="auto">
          <a:xfrm>
            <a:off x="4415333" y="4987539"/>
            <a:ext cx="395287" cy="496887"/>
            <a:chOff x="5064" y="1460"/>
            <a:chExt cx="249" cy="313"/>
          </a:xfrm>
          <a:solidFill>
            <a:srgbClr val="FFFFFF"/>
          </a:solidFill>
        </p:grpSpPr>
        <p:sp>
          <p:nvSpPr>
            <p:cNvPr id="34" name="Freeform 15"/>
            <p:cNvSpPr/>
            <p:nvPr/>
          </p:nvSpPr>
          <p:spPr bwMode="auto">
            <a:xfrm>
              <a:off x="5064" y="1460"/>
              <a:ext cx="202" cy="246"/>
            </a:xfrm>
            <a:custGeom>
              <a:avLst/>
              <a:gdLst>
                <a:gd name="T0" fmla="*/ 140 w 240"/>
                <a:gd name="T1" fmla="*/ 220 h 293"/>
                <a:gd name="T2" fmla="*/ 140 w 240"/>
                <a:gd name="T3" fmla="*/ 220 h 293"/>
                <a:gd name="T4" fmla="*/ 33 w 240"/>
                <a:gd name="T5" fmla="*/ 113 h 293"/>
                <a:gd name="T6" fmla="*/ 89 w 240"/>
                <a:gd name="T7" fmla="*/ 57 h 293"/>
                <a:gd name="T8" fmla="*/ 140 w 240"/>
                <a:gd name="T9" fmla="*/ 107 h 293"/>
                <a:gd name="T10" fmla="*/ 208 w 240"/>
                <a:gd name="T11" fmla="*/ 39 h 293"/>
                <a:gd name="T12" fmla="*/ 205 w 240"/>
                <a:gd name="T13" fmla="*/ 35 h 293"/>
                <a:gd name="T14" fmla="*/ 167 w 240"/>
                <a:gd name="T15" fmla="*/ 9 h 293"/>
                <a:gd name="T16" fmla="*/ 120 w 240"/>
                <a:gd name="T17" fmla="*/ 0 h 293"/>
                <a:gd name="T18" fmla="*/ 73 w 240"/>
                <a:gd name="T19" fmla="*/ 9 h 293"/>
                <a:gd name="T20" fmla="*/ 35 w 240"/>
                <a:gd name="T21" fmla="*/ 35 h 293"/>
                <a:gd name="T22" fmla="*/ 9 w 240"/>
                <a:gd name="T23" fmla="*/ 73 h 293"/>
                <a:gd name="T24" fmla="*/ 0 w 240"/>
                <a:gd name="T25" fmla="*/ 120 h 293"/>
                <a:gd name="T26" fmla="*/ 9 w 240"/>
                <a:gd name="T27" fmla="*/ 165 h 293"/>
                <a:gd name="T28" fmla="*/ 36 w 240"/>
                <a:gd name="T29" fmla="*/ 203 h 293"/>
                <a:gd name="T30" fmla="*/ 66 w 240"/>
                <a:gd name="T31" fmla="*/ 244 h 293"/>
                <a:gd name="T32" fmla="*/ 79 w 240"/>
                <a:gd name="T33" fmla="*/ 293 h 293"/>
                <a:gd name="T34" fmla="*/ 161 w 240"/>
                <a:gd name="T35" fmla="*/ 293 h 293"/>
                <a:gd name="T36" fmla="*/ 174 w 240"/>
                <a:gd name="T37" fmla="*/ 244 h 293"/>
                <a:gd name="T38" fmla="*/ 204 w 240"/>
                <a:gd name="T39" fmla="*/ 203 h 293"/>
                <a:gd name="T40" fmla="*/ 231 w 240"/>
                <a:gd name="T41" fmla="*/ 165 h 293"/>
                <a:gd name="T42" fmla="*/ 240 w 240"/>
                <a:gd name="T43" fmla="*/ 120 h 293"/>
                <a:gd name="T44" fmla="*/ 140 w 240"/>
                <a:gd name="T45" fmla="*/ 22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40" h="293">
                  <a:moveTo>
                    <a:pt x="140" y="220"/>
                  </a:moveTo>
                  <a:lnTo>
                    <a:pt x="140" y="220"/>
                  </a:lnTo>
                  <a:lnTo>
                    <a:pt x="33" y="113"/>
                  </a:lnTo>
                  <a:lnTo>
                    <a:pt x="89" y="57"/>
                  </a:lnTo>
                  <a:lnTo>
                    <a:pt x="140" y="107"/>
                  </a:lnTo>
                  <a:lnTo>
                    <a:pt x="208" y="39"/>
                  </a:lnTo>
                  <a:cubicBezTo>
                    <a:pt x="207" y="37"/>
                    <a:pt x="206" y="36"/>
                    <a:pt x="205" y="35"/>
                  </a:cubicBezTo>
                  <a:cubicBezTo>
                    <a:pt x="194" y="24"/>
                    <a:pt x="181" y="15"/>
                    <a:pt x="167" y="9"/>
                  </a:cubicBezTo>
                  <a:cubicBezTo>
                    <a:pt x="152" y="3"/>
                    <a:pt x="137" y="0"/>
                    <a:pt x="120" y="0"/>
                  </a:cubicBezTo>
                  <a:cubicBezTo>
                    <a:pt x="103" y="0"/>
                    <a:pt x="88" y="3"/>
                    <a:pt x="73" y="9"/>
                  </a:cubicBezTo>
                  <a:cubicBezTo>
                    <a:pt x="59" y="15"/>
                    <a:pt x="46" y="24"/>
                    <a:pt x="35" y="35"/>
                  </a:cubicBezTo>
                  <a:cubicBezTo>
                    <a:pt x="24" y="46"/>
                    <a:pt x="16" y="58"/>
                    <a:pt x="9" y="73"/>
                  </a:cubicBezTo>
                  <a:cubicBezTo>
                    <a:pt x="3" y="87"/>
                    <a:pt x="0" y="103"/>
                    <a:pt x="0" y="120"/>
                  </a:cubicBezTo>
                  <a:cubicBezTo>
                    <a:pt x="0" y="136"/>
                    <a:pt x="3" y="151"/>
                    <a:pt x="9" y="165"/>
                  </a:cubicBezTo>
                  <a:cubicBezTo>
                    <a:pt x="15" y="179"/>
                    <a:pt x="24" y="192"/>
                    <a:pt x="36" y="203"/>
                  </a:cubicBezTo>
                  <a:cubicBezTo>
                    <a:pt x="48" y="216"/>
                    <a:pt x="58" y="230"/>
                    <a:pt x="66" y="244"/>
                  </a:cubicBezTo>
                  <a:cubicBezTo>
                    <a:pt x="73" y="259"/>
                    <a:pt x="78" y="275"/>
                    <a:pt x="79" y="293"/>
                  </a:cubicBezTo>
                  <a:lnTo>
                    <a:pt x="161" y="293"/>
                  </a:lnTo>
                  <a:cubicBezTo>
                    <a:pt x="162" y="275"/>
                    <a:pt x="167" y="259"/>
                    <a:pt x="174" y="244"/>
                  </a:cubicBezTo>
                  <a:cubicBezTo>
                    <a:pt x="182" y="230"/>
                    <a:pt x="192" y="216"/>
                    <a:pt x="204" y="203"/>
                  </a:cubicBezTo>
                  <a:cubicBezTo>
                    <a:pt x="216" y="192"/>
                    <a:pt x="225" y="179"/>
                    <a:pt x="231" y="165"/>
                  </a:cubicBezTo>
                  <a:cubicBezTo>
                    <a:pt x="237" y="151"/>
                    <a:pt x="240" y="136"/>
                    <a:pt x="240" y="120"/>
                  </a:cubicBezTo>
                  <a:lnTo>
                    <a:pt x="140" y="22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35" name="Freeform 16"/>
            <p:cNvSpPr/>
            <p:nvPr/>
          </p:nvSpPr>
          <p:spPr bwMode="auto">
            <a:xfrm>
              <a:off x="5131" y="1729"/>
              <a:ext cx="67" cy="44"/>
            </a:xfrm>
            <a:custGeom>
              <a:avLst/>
              <a:gdLst>
                <a:gd name="T0" fmla="*/ 0 w 80"/>
                <a:gd name="T1" fmla="*/ 40 h 53"/>
                <a:gd name="T2" fmla="*/ 0 w 80"/>
                <a:gd name="T3" fmla="*/ 40 h 53"/>
                <a:gd name="T4" fmla="*/ 4 w 80"/>
                <a:gd name="T5" fmla="*/ 49 h 53"/>
                <a:gd name="T6" fmla="*/ 13 w 80"/>
                <a:gd name="T7" fmla="*/ 53 h 53"/>
                <a:gd name="T8" fmla="*/ 67 w 80"/>
                <a:gd name="T9" fmla="*/ 53 h 53"/>
                <a:gd name="T10" fmla="*/ 76 w 80"/>
                <a:gd name="T11" fmla="*/ 49 h 53"/>
                <a:gd name="T12" fmla="*/ 80 w 80"/>
                <a:gd name="T13" fmla="*/ 40 h 53"/>
                <a:gd name="T14" fmla="*/ 80 w 80"/>
                <a:gd name="T15" fmla="*/ 0 h 53"/>
                <a:gd name="T16" fmla="*/ 0 w 80"/>
                <a:gd name="T17" fmla="*/ 0 h 53"/>
                <a:gd name="T18" fmla="*/ 0 w 80"/>
                <a:gd name="T19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53">
                  <a:moveTo>
                    <a:pt x="0" y="40"/>
                  </a:moveTo>
                  <a:lnTo>
                    <a:pt x="0" y="40"/>
                  </a:lnTo>
                  <a:cubicBezTo>
                    <a:pt x="0" y="43"/>
                    <a:pt x="1" y="46"/>
                    <a:pt x="4" y="49"/>
                  </a:cubicBezTo>
                  <a:cubicBezTo>
                    <a:pt x="7" y="52"/>
                    <a:pt x="10" y="53"/>
                    <a:pt x="13" y="53"/>
                  </a:cubicBezTo>
                  <a:lnTo>
                    <a:pt x="67" y="53"/>
                  </a:lnTo>
                  <a:cubicBezTo>
                    <a:pt x="70" y="53"/>
                    <a:pt x="73" y="52"/>
                    <a:pt x="76" y="49"/>
                  </a:cubicBezTo>
                  <a:cubicBezTo>
                    <a:pt x="79" y="46"/>
                    <a:pt x="80" y="43"/>
                    <a:pt x="80" y="40"/>
                  </a:cubicBezTo>
                  <a:lnTo>
                    <a:pt x="80" y="0"/>
                  </a:lnTo>
                  <a:lnTo>
                    <a:pt x="0" y="0"/>
                  </a:lnTo>
                  <a:lnTo>
                    <a:pt x="0" y="4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36" name="Freeform 17"/>
            <p:cNvSpPr/>
            <p:nvPr/>
          </p:nvSpPr>
          <p:spPr bwMode="auto">
            <a:xfrm>
              <a:off x="5123" y="1466"/>
              <a:ext cx="190" cy="147"/>
            </a:xfrm>
            <a:custGeom>
              <a:avLst/>
              <a:gdLst>
                <a:gd name="T0" fmla="*/ 207 w 226"/>
                <a:gd name="T1" fmla="*/ 0 h 174"/>
                <a:gd name="T2" fmla="*/ 207 w 226"/>
                <a:gd name="T3" fmla="*/ 0 h 174"/>
                <a:gd name="T4" fmla="*/ 154 w 226"/>
                <a:gd name="T5" fmla="*/ 52 h 174"/>
                <a:gd name="T6" fmla="*/ 70 w 226"/>
                <a:gd name="T7" fmla="*/ 137 h 174"/>
                <a:gd name="T8" fmla="*/ 19 w 226"/>
                <a:gd name="T9" fmla="*/ 86 h 174"/>
                <a:gd name="T10" fmla="*/ 0 w 226"/>
                <a:gd name="T11" fmla="*/ 105 h 174"/>
                <a:gd name="T12" fmla="*/ 70 w 226"/>
                <a:gd name="T13" fmla="*/ 174 h 174"/>
                <a:gd name="T14" fmla="*/ 165 w 226"/>
                <a:gd name="T15" fmla="*/ 79 h 174"/>
                <a:gd name="T16" fmla="*/ 226 w 226"/>
                <a:gd name="T17" fmla="*/ 18 h 174"/>
                <a:gd name="T18" fmla="*/ 207 w 226"/>
                <a:gd name="T19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" h="174">
                  <a:moveTo>
                    <a:pt x="207" y="0"/>
                  </a:moveTo>
                  <a:lnTo>
                    <a:pt x="207" y="0"/>
                  </a:lnTo>
                  <a:lnTo>
                    <a:pt x="154" y="52"/>
                  </a:lnTo>
                  <a:lnTo>
                    <a:pt x="70" y="137"/>
                  </a:lnTo>
                  <a:lnTo>
                    <a:pt x="19" y="86"/>
                  </a:lnTo>
                  <a:lnTo>
                    <a:pt x="0" y="105"/>
                  </a:lnTo>
                  <a:lnTo>
                    <a:pt x="70" y="174"/>
                  </a:lnTo>
                  <a:lnTo>
                    <a:pt x="165" y="79"/>
                  </a:lnTo>
                  <a:lnTo>
                    <a:pt x="226" y="18"/>
                  </a:lnTo>
                  <a:lnTo>
                    <a:pt x="207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</p:grpSp>
      <p:grpSp>
        <p:nvGrpSpPr>
          <p:cNvPr id="37" name="组合 20"/>
          <p:cNvGrpSpPr>
            <a:grpSpLocks noChangeAspect="1"/>
          </p:cNvGrpSpPr>
          <p:nvPr/>
        </p:nvGrpSpPr>
        <p:grpSpPr bwMode="auto">
          <a:xfrm>
            <a:off x="7096707" y="4947851"/>
            <a:ext cx="411162" cy="536575"/>
            <a:chOff x="5245" y="2879"/>
            <a:chExt cx="259" cy="338"/>
          </a:xfrm>
          <a:solidFill>
            <a:schemeClr val="bg1"/>
          </a:solidFill>
        </p:grpSpPr>
        <p:sp>
          <p:nvSpPr>
            <p:cNvPr id="38" name="Freeform 21"/>
            <p:cNvSpPr/>
            <p:nvPr/>
          </p:nvSpPr>
          <p:spPr bwMode="auto">
            <a:xfrm>
              <a:off x="5284" y="2879"/>
              <a:ext cx="179" cy="88"/>
            </a:xfrm>
            <a:custGeom>
              <a:avLst/>
              <a:gdLst>
                <a:gd name="T0" fmla="*/ 33 w 213"/>
                <a:gd name="T1" fmla="*/ 77 h 105"/>
                <a:gd name="T2" fmla="*/ 33 w 213"/>
                <a:gd name="T3" fmla="*/ 77 h 105"/>
                <a:gd name="T4" fmla="*/ 50 w 213"/>
                <a:gd name="T5" fmla="*/ 51 h 105"/>
                <a:gd name="T6" fmla="*/ 75 w 213"/>
                <a:gd name="T7" fmla="*/ 33 h 105"/>
                <a:gd name="T8" fmla="*/ 107 w 213"/>
                <a:gd name="T9" fmla="*/ 27 h 105"/>
                <a:gd name="T10" fmla="*/ 139 w 213"/>
                <a:gd name="T11" fmla="*/ 33 h 105"/>
                <a:gd name="T12" fmla="*/ 164 w 213"/>
                <a:gd name="T13" fmla="*/ 51 h 105"/>
                <a:gd name="T14" fmla="*/ 181 w 213"/>
                <a:gd name="T15" fmla="*/ 77 h 105"/>
                <a:gd name="T16" fmla="*/ 187 w 213"/>
                <a:gd name="T17" fmla="*/ 105 h 105"/>
                <a:gd name="T18" fmla="*/ 213 w 213"/>
                <a:gd name="T19" fmla="*/ 105 h 105"/>
                <a:gd name="T20" fmla="*/ 205 w 213"/>
                <a:gd name="T21" fmla="*/ 66 h 105"/>
                <a:gd name="T22" fmla="*/ 183 w 213"/>
                <a:gd name="T23" fmla="*/ 32 h 105"/>
                <a:gd name="T24" fmla="*/ 149 w 213"/>
                <a:gd name="T25" fmla="*/ 8 h 105"/>
                <a:gd name="T26" fmla="*/ 107 w 213"/>
                <a:gd name="T27" fmla="*/ 0 h 105"/>
                <a:gd name="T28" fmla="*/ 65 w 213"/>
                <a:gd name="T29" fmla="*/ 8 h 105"/>
                <a:gd name="T30" fmla="*/ 31 w 213"/>
                <a:gd name="T31" fmla="*/ 32 h 105"/>
                <a:gd name="T32" fmla="*/ 8 w 213"/>
                <a:gd name="T33" fmla="*/ 66 h 105"/>
                <a:gd name="T34" fmla="*/ 0 w 213"/>
                <a:gd name="T35" fmla="*/ 105 h 105"/>
                <a:gd name="T36" fmla="*/ 27 w 213"/>
                <a:gd name="T37" fmla="*/ 105 h 105"/>
                <a:gd name="T38" fmla="*/ 33 w 213"/>
                <a:gd name="T39" fmla="*/ 77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13" h="105">
                  <a:moveTo>
                    <a:pt x="33" y="77"/>
                  </a:moveTo>
                  <a:lnTo>
                    <a:pt x="33" y="77"/>
                  </a:lnTo>
                  <a:cubicBezTo>
                    <a:pt x="37" y="67"/>
                    <a:pt x="43" y="58"/>
                    <a:pt x="50" y="51"/>
                  </a:cubicBezTo>
                  <a:cubicBezTo>
                    <a:pt x="57" y="43"/>
                    <a:pt x="65" y="37"/>
                    <a:pt x="75" y="33"/>
                  </a:cubicBezTo>
                  <a:cubicBezTo>
                    <a:pt x="85" y="29"/>
                    <a:pt x="95" y="27"/>
                    <a:pt x="107" y="27"/>
                  </a:cubicBezTo>
                  <a:cubicBezTo>
                    <a:pt x="118" y="27"/>
                    <a:pt x="129" y="29"/>
                    <a:pt x="139" y="33"/>
                  </a:cubicBezTo>
                  <a:cubicBezTo>
                    <a:pt x="148" y="37"/>
                    <a:pt x="157" y="43"/>
                    <a:pt x="164" y="51"/>
                  </a:cubicBezTo>
                  <a:cubicBezTo>
                    <a:pt x="171" y="58"/>
                    <a:pt x="177" y="67"/>
                    <a:pt x="181" y="77"/>
                  </a:cubicBezTo>
                  <a:cubicBezTo>
                    <a:pt x="184" y="86"/>
                    <a:pt x="186" y="95"/>
                    <a:pt x="187" y="105"/>
                  </a:cubicBezTo>
                  <a:lnTo>
                    <a:pt x="213" y="105"/>
                  </a:lnTo>
                  <a:cubicBezTo>
                    <a:pt x="213" y="91"/>
                    <a:pt x="210" y="78"/>
                    <a:pt x="205" y="66"/>
                  </a:cubicBezTo>
                  <a:cubicBezTo>
                    <a:pt x="200" y="53"/>
                    <a:pt x="192" y="42"/>
                    <a:pt x="183" y="32"/>
                  </a:cubicBezTo>
                  <a:cubicBezTo>
                    <a:pt x="173" y="22"/>
                    <a:pt x="162" y="14"/>
                    <a:pt x="149" y="8"/>
                  </a:cubicBezTo>
                  <a:cubicBezTo>
                    <a:pt x="136" y="3"/>
                    <a:pt x="122" y="0"/>
                    <a:pt x="107" y="0"/>
                  </a:cubicBezTo>
                  <a:cubicBezTo>
                    <a:pt x="92" y="0"/>
                    <a:pt x="78" y="3"/>
                    <a:pt x="65" y="8"/>
                  </a:cubicBezTo>
                  <a:cubicBezTo>
                    <a:pt x="52" y="14"/>
                    <a:pt x="40" y="22"/>
                    <a:pt x="31" y="32"/>
                  </a:cubicBezTo>
                  <a:cubicBezTo>
                    <a:pt x="21" y="42"/>
                    <a:pt x="14" y="53"/>
                    <a:pt x="8" y="66"/>
                  </a:cubicBezTo>
                  <a:cubicBezTo>
                    <a:pt x="3" y="78"/>
                    <a:pt x="1" y="91"/>
                    <a:pt x="0" y="105"/>
                  </a:cubicBezTo>
                  <a:lnTo>
                    <a:pt x="27" y="105"/>
                  </a:lnTo>
                  <a:cubicBezTo>
                    <a:pt x="28" y="95"/>
                    <a:pt x="29" y="86"/>
                    <a:pt x="33" y="77"/>
                  </a:cubicBez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39" name="Freeform 22"/>
            <p:cNvSpPr>
              <a:spLocks noEditPoints="1"/>
            </p:cNvSpPr>
            <p:nvPr/>
          </p:nvSpPr>
          <p:spPr bwMode="auto">
            <a:xfrm>
              <a:off x="5245" y="2967"/>
              <a:ext cx="259" cy="227"/>
            </a:xfrm>
            <a:custGeom>
              <a:avLst/>
              <a:gdLst>
                <a:gd name="T0" fmla="*/ 70 w 308"/>
                <a:gd name="T1" fmla="*/ 51 h 270"/>
                <a:gd name="T2" fmla="*/ 70 w 308"/>
                <a:gd name="T3" fmla="*/ 51 h 270"/>
                <a:gd name="T4" fmla="*/ 61 w 308"/>
                <a:gd name="T5" fmla="*/ 55 h 270"/>
                <a:gd name="T6" fmla="*/ 51 w 308"/>
                <a:gd name="T7" fmla="*/ 51 h 270"/>
                <a:gd name="T8" fmla="*/ 47 w 308"/>
                <a:gd name="T9" fmla="*/ 42 h 270"/>
                <a:gd name="T10" fmla="*/ 51 w 308"/>
                <a:gd name="T11" fmla="*/ 32 h 270"/>
                <a:gd name="T12" fmla="*/ 61 w 308"/>
                <a:gd name="T13" fmla="*/ 28 h 270"/>
                <a:gd name="T14" fmla="*/ 70 w 308"/>
                <a:gd name="T15" fmla="*/ 32 h 270"/>
                <a:gd name="T16" fmla="*/ 74 w 308"/>
                <a:gd name="T17" fmla="*/ 42 h 270"/>
                <a:gd name="T18" fmla="*/ 70 w 308"/>
                <a:gd name="T19" fmla="*/ 51 h 270"/>
                <a:gd name="T20" fmla="*/ 238 w 308"/>
                <a:gd name="T21" fmla="*/ 32 h 270"/>
                <a:gd name="T22" fmla="*/ 238 w 308"/>
                <a:gd name="T23" fmla="*/ 32 h 270"/>
                <a:gd name="T24" fmla="*/ 247 w 308"/>
                <a:gd name="T25" fmla="*/ 28 h 270"/>
                <a:gd name="T26" fmla="*/ 257 w 308"/>
                <a:gd name="T27" fmla="*/ 32 h 270"/>
                <a:gd name="T28" fmla="*/ 261 w 308"/>
                <a:gd name="T29" fmla="*/ 42 h 270"/>
                <a:gd name="T30" fmla="*/ 257 w 308"/>
                <a:gd name="T31" fmla="*/ 51 h 270"/>
                <a:gd name="T32" fmla="*/ 247 w 308"/>
                <a:gd name="T33" fmla="*/ 55 h 270"/>
                <a:gd name="T34" fmla="*/ 238 w 308"/>
                <a:gd name="T35" fmla="*/ 51 h 270"/>
                <a:gd name="T36" fmla="*/ 234 w 308"/>
                <a:gd name="T37" fmla="*/ 42 h 270"/>
                <a:gd name="T38" fmla="*/ 238 w 308"/>
                <a:gd name="T39" fmla="*/ 32 h 270"/>
                <a:gd name="T40" fmla="*/ 154 w 308"/>
                <a:gd name="T41" fmla="*/ 197 h 270"/>
                <a:gd name="T42" fmla="*/ 154 w 308"/>
                <a:gd name="T43" fmla="*/ 197 h 270"/>
                <a:gd name="T44" fmla="*/ 165 w 308"/>
                <a:gd name="T45" fmla="*/ 202 h 270"/>
                <a:gd name="T46" fmla="*/ 308 w 308"/>
                <a:gd name="T47" fmla="*/ 270 h 270"/>
                <a:gd name="T48" fmla="*/ 308 w 308"/>
                <a:gd name="T49" fmla="*/ 82 h 270"/>
                <a:gd name="T50" fmla="*/ 308 w 308"/>
                <a:gd name="T51" fmla="*/ 0 h 270"/>
                <a:gd name="T52" fmla="*/ 260 w 308"/>
                <a:gd name="T53" fmla="*/ 0 h 270"/>
                <a:gd name="T54" fmla="*/ 234 w 308"/>
                <a:gd name="T55" fmla="*/ 0 h 270"/>
                <a:gd name="T56" fmla="*/ 74 w 308"/>
                <a:gd name="T57" fmla="*/ 0 h 270"/>
                <a:gd name="T58" fmla="*/ 47 w 308"/>
                <a:gd name="T59" fmla="*/ 0 h 270"/>
                <a:gd name="T60" fmla="*/ 0 w 308"/>
                <a:gd name="T61" fmla="*/ 0 h 270"/>
                <a:gd name="T62" fmla="*/ 0 w 308"/>
                <a:gd name="T63" fmla="*/ 82 h 270"/>
                <a:gd name="T64" fmla="*/ 0 w 308"/>
                <a:gd name="T65" fmla="*/ 270 h 270"/>
                <a:gd name="T66" fmla="*/ 143 w 308"/>
                <a:gd name="T67" fmla="*/ 202 h 270"/>
                <a:gd name="T68" fmla="*/ 154 w 308"/>
                <a:gd name="T69" fmla="*/ 19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8" h="270">
                  <a:moveTo>
                    <a:pt x="70" y="51"/>
                  </a:moveTo>
                  <a:lnTo>
                    <a:pt x="70" y="51"/>
                  </a:lnTo>
                  <a:cubicBezTo>
                    <a:pt x="67" y="54"/>
                    <a:pt x="64" y="55"/>
                    <a:pt x="61" y="55"/>
                  </a:cubicBezTo>
                  <a:cubicBezTo>
                    <a:pt x="57" y="55"/>
                    <a:pt x="54" y="54"/>
                    <a:pt x="51" y="51"/>
                  </a:cubicBezTo>
                  <a:cubicBezTo>
                    <a:pt x="48" y="48"/>
                    <a:pt x="47" y="45"/>
                    <a:pt x="47" y="42"/>
                  </a:cubicBezTo>
                  <a:cubicBezTo>
                    <a:pt x="47" y="38"/>
                    <a:pt x="48" y="35"/>
                    <a:pt x="51" y="32"/>
                  </a:cubicBezTo>
                  <a:cubicBezTo>
                    <a:pt x="54" y="30"/>
                    <a:pt x="57" y="28"/>
                    <a:pt x="61" y="28"/>
                  </a:cubicBezTo>
                  <a:cubicBezTo>
                    <a:pt x="64" y="28"/>
                    <a:pt x="67" y="30"/>
                    <a:pt x="70" y="32"/>
                  </a:cubicBezTo>
                  <a:cubicBezTo>
                    <a:pt x="73" y="35"/>
                    <a:pt x="74" y="38"/>
                    <a:pt x="74" y="42"/>
                  </a:cubicBezTo>
                  <a:cubicBezTo>
                    <a:pt x="74" y="45"/>
                    <a:pt x="73" y="48"/>
                    <a:pt x="70" y="51"/>
                  </a:cubicBezTo>
                  <a:close/>
                  <a:moveTo>
                    <a:pt x="238" y="32"/>
                  </a:moveTo>
                  <a:lnTo>
                    <a:pt x="238" y="32"/>
                  </a:lnTo>
                  <a:cubicBezTo>
                    <a:pt x="240" y="30"/>
                    <a:pt x="244" y="28"/>
                    <a:pt x="247" y="28"/>
                  </a:cubicBezTo>
                  <a:cubicBezTo>
                    <a:pt x="251" y="28"/>
                    <a:pt x="254" y="30"/>
                    <a:pt x="257" y="32"/>
                  </a:cubicBezTo>
                  <a:cubicBezTo>
                    <a:pt x="259" y="35"/>
                    <a:pt x="261" y="38"/>
                    <a:pt x="261" y="42"/>
                  </a:cubicBezTo>
                  <a:cubicBezTo>
                    <a:pt x="261" y="45"/>
                    <a:pt x="259" y="48"/>
                    <a:pt x="257" y="51"/>
                  </a:cubicBezTo>
                  <a:cubicBezTo>
                    <a:pt x="254" y="54"/>
                    <a:pt x="251" y="55"/>
                    <a:pt x="247" y="55"/>
                  </a:cubicBezTo>
                  <a:cubicBezTo>
                    <a:pt x="244" y="55"/>
                    <a:pt x="240" y="54"/>
                    <a:pt x="238" y="51"/>
                  </a:cubicBezTo>
                  <a:cubicBezTo>
                    <a:pt x="235" y="48"/>
                    <a:pt x="234" y="45"/>
                    <a:pt x="234" y="42"/>
                  </a:cubicBezTo>
                  <a:cubicBezTo>
                    <a:pt x="234" y="38"/>
                    <a:pt x="235" y="35"/>
                    <a:pt x="238" y="32"/>
                  </a:cubicBezTo>
                  <a:close/>
                  <a:moveTo>
                    <a:pt x="154" y="197"/>
                  </a:moveTo>
                  <a:lnTo>
                    <a:pt x="154" y="197"/>
                  </a:lnTo>
                  <a:lnTo>
                    <a:pt x="165" y="202"/>
                  </a:lnTo>
                  <a:lnTo>
                    <a:pt x="308" y="270"/>
                  </a:lnTo>
                  <a:lnTo>
                    <a:pt x="308" y="82"/>
                  </a:lnTo>
                  <a:lnTo>
                    <a:pt x="308" y="0"/>
                  </a:lnTo>
                  <a:lnTo>
                    <a:pt x="260" y="0"/>
                  </a:lnTo>
                  <a:lnTo>
                    <a:pt x="234" y="0"/>
                  </a:lnTo>
                  <a:lnTo>
                    <a:pt x="74" y="0"/>
                  </a:lnTo>
                  <a:lnTo>
                    <a:pt x="47" y="0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270"/>
                  </a:lnTo>
                  <a:lnTo>
                    <a:pt x="143" y="202"/>
                  </a:lnTo>
                  <a:lnTo>
                    <a:pt x="154" y="197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40" name="Freeform 23"/>
            <p:cNvSpPr/>
            <p:nvPr/>
          </p:nvSpPr>
          <p:spPr bwMode="auto">
            <a:xfrm>
              <a:off x="5284" y="2991"/>
              <a:ext cx="23" cy="23"/>
            </a:xfrm>
            <a:custGeom>
              <a:avLst/>
              <a:gdLst>
                <a:gd name="T0" fmla="*/ 13 w 27"/>
                <a:gd name="T1" fmla="*/ 0 h 27"/>
                <a:gd name="T2" fmla="*/ 13 w 27"/>
                <a:gd name="T3" fmla="*/ 0 h 27"/>
                <a:gd name="T4" fmla="*/ 4 w 27"/>
                <a:gd name="T5" fmla="*/ 4 h 27"/>
                <a:gd name="T6" fmla="*/ 0 w 27"/>
                <a:gd name="T7" fmla="*/ 14 h 27"/>
                <a:gd name="T8" fmla="*/ 4 w 27"/>
                <a:gd name="T9" fmla="*/ 23 h 27"/>
                <a:gd name="T10" fmla="*/ 13 w 27"/>
                <a:gd name="T11" fmla="*/ 27 h 27"/>
                <a:gd name="T12" fmla="*/ 23 w 27"/>
                <a:gd name="T13" fmla="*/ 23 h 27"/>
                <a:gd name="T14" fmla="*/ 27 w 27"/>
                <a:gd name="T15" fmla="*/ 14 h 27"/>
                <a:gd name="T16" fmla="*/ 23 w 27"/>
                <a:gd name="T17" fmla="*/ 4 h 27"/>
                <a:gd name="T18" fmla="*/ 13 w 27"/>
                <a:gd name="T1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" h="27">
                  <a:moveTo>
                    <a:pt x="13" y="0"/>
                  </a:moveTo>
                  <a:lnTo>
                    <a:pt x="13" y="0"/>
                  </a:lnTo>
                  <a:cubicBezTo>
                    <a:pt x="10" y="0"/>
                    <a:pt x="7" y="2"/>
                    <a:pt x="4" y="4"/>
                  </a:cubicBezTo>
                  <a:cubicBezTo>
                    <a:pt x="1" y="7"/>
                    <a:pt x="0" y="10"/>
                    <a:pt x="0" y="14"/>
                  </a:cubicBezTo>
                  <a:cubicBezTo>
                    <a:pt x="0" y="17"/>
                    <a:pt x="1" y="20"/>
                    <a:pt x="4" y="23"/>
                  </a:cubicBezTo>
                  <a:cubicBezTo>
                    <a:pt x="7" y="26"/>
                    <a:pt x="10" y="27"/>
                    <a:pt x="13" y="27"/>
                  </a:cubicBezTo>
                  <a:cubicBezTo>
                    <a:pt x="17" y="27"/>
                    <a:pt x="20" y="26"/>
                    <a:pt x="23" y="23"/>
                  </a:cubicBezTo>
                  <a:cubicBezTo>
                    <a:pt x="25" y="20"/>
                    <a:pt x="27" y="17"/>
                    <a:pt x="27" y="14"/>
                  </a:cubicBezTo>
                  <a:cubicBezTo>
                    <a:pt x="27" y="10"/>
                    <a:pt x="25" y="7"/>
                    <a:pt x="23" y="4"/>
                  </a:cubicBezTo>
                  <a:cubicBezTo>
                    <a:pt x="20" y="2"/>
                    <a:pt x="17" y="0"/>
                    <a:pt x="13" y="0"/>
                  </a:cubicBez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41" name="Freeform 24"/>
            <p:cNvSpPr/>
            <p:nvPr/>
          </p:nvSpPr>
          <p:spPr bwMode="auto">
            <a:xfrm>
              <a:off x="5442" y="2991"/>
              <a:ext cx="21" cy="23"/>
            </a:xfrm>
            <a:custGeom>
              <a:avLst/>
              <a:gdLst>
                <a:gd name="T0" fmla="*/ 13 w 26"/>
                <a:gd name="T1" fmla="*/ 27 h 27"/>
                <a:gd name="T2" fmla="*/ 13 w 26"/>
                <a:gd name="T3" fmla="*/ 27 h 27"/>
                <a:gd name="T4" fmla="*/ 23 w 26"/>
                <a:gd name="T5" fmla="*/ 23 h 27"/>
                <a:gd name="T6" fmla="*/ 26 w 26"/>
                <a:gd name="T7" fmla="*/ 14 h 27"/>
                <a:gd name="T8" fmla="*/ 23 w 26"/>
                <a:gd name="T9" fmla="*/ 4 h 27"/>
                <a:gd name="T10" fmla="*/ 13 w 26"/>
                <a:gd name="T11" fmla="*/ 0 h 27"/>
                <a:gd name="T12" fmla="*/ 4 w 26"/>
                <a:gd name="T13" fmla="*/ 4 h 27"/>
                <a:gd name="T14" fmla="*/ 0 w 26"/>
                <a:gd name="T15" fmla="*/ 14 h 27"/>
                <a:gd name="T16" fmla="*/ 4 w 26"/>
                <a:gd name="T17" fmla="*/ 23 h 27"/>
                <a:gd name="T18" fmla="*/ 13 w 26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27">
                  <a:moveTo>
                    <a:pt x="13" y="27"/>
                  </a:moveTo>
                  <a:lnTo>
                    <a:pt x="13" y="27"/>
                  </a:lnTo>
                  <a:cubicBezTo>
                    <a:pt x="17" y="27"/>
                    <a:pt x="20" y="26"/>
                    <a:pt x="23" y="23"/>
                  </a:cubicBezTo>
                  <a:cubicBezTo>
                    <a:pt x="25" y="20"/>
                    <a:pt x="26" y="17"/>
                    <a:pt x="26" y="14"/>
                  </a:cubicBezTo>
                  <a:cubicBezTo>
                    <a:pt x="26" y="10"/>
                    <a:pt x="25" y="7"/>
                    <a:pt x="23" y="4"/>
                  </a:cubicBezTo>
                  <a:cubicBezTo>
                    <a:pt x="20" y="2"/>
                    <a:pt x="17" y="0"/>
                    <a:pt x="13" y="0"/>
                  </a:cubicBezTo>
                  <a:cubicBezTo>
                    <a:pt x="10" y="0"/>
                    <a:pt x="6" y="2"/>
                    <a:pt x="4" y="4"/>
                  </a:cubicBezTo>
                  <a:cubicBezTo>
                    <a:pt x="1" y="7"/>
                    <a:pt x="0" y="10"/>
                    <a:pt x="0" y="14"/>
                  </a:cubicBezTo>
                  <a:cubicBezTo>
                    <a:pt x="0" y="17"/>
                    <a:pt x="1" y="20"/>
                    <a:pt x="4" y="23"/>
                  </a:cubicBezTo>
                  <a:cubicBezTo>
                    <a:pt x="6" y="26"/>
                    <a:pt x="10" y="27"/>
                    <a:pt x="13" y="27"/>
                  </a:cubicBez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42" name="Freeform 25"/>
            <p:cNvSpPr/>
            <p:nvPr/>
          </p:nvSpPr>
          <p:spPr bwMode="auto">
            <a:xfrm>
              <a:off x="5246" y="3157"/>
              <a:ext cx="256" cy="60"/>
            </a:xfrm>
            <a:custGeom>
              <a:avLst/>
              <a:gdLst>
                <a:gd name="T0" fmla="*/ 153 w 305"/>
                <a:gd name="T1" fmla="*/ 0 h 72"/>
                <a:gd name="T2" fmla="*/ 153 w 305"/>
                <a:gd name="T3" fmla="*/ 0 h 72"/>
                <a:gd name="T4" fmla="*/ 0 w 305"/>
                <a:gd name="T5" fmla="*/ 72 h 72"/>
                <a:gd name="T6" fmla="*/ 153 w 305"/>
                <a:gd name="T7" fmla="*/ 72 h 72"/>
                <a:gd name="T8" fmla="*/ 305 w 305"/>
                <a:gd name="T9" fmla="*/ 72 h 72"/>
                <a:gd name="T10" fmla="*/ 153 w 305"/>
                <a:gd name="T11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5" h="72">
                  <a:moveTo>
                    <a:pt x="153" y="0"/>
                  </a:moveTo>
                  <a:lnTo>
                    <a:pt x="153" y="0"/>
                  </a:lnTo>
                  <a:lnTo>
                    <a:pt x="0" y="72"/>
                  </a:lnTo>
                  <a:lnTo>
                    <a:pt x="153" y="72"/>
                  </a:lnTo>
                  <a:lnTo>
                    <a:pt x="305" y="72"/>
                  </a:lnTo>
                  <a:lnTo>
                    <a:pt x="153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</p:grpSp>
      <p:sp>
        <p:nvSpPr>
          <p:cNvPr id="43" name="文本框 78"/>
          <p:cNvSpPr txBox="1"/>
          <p:nvPr/>
        </p:nvSpPr>
        <p:spPr>
          <a:xfrm>
            <a:off x="3614024" y="5870348"/>
            <a:ext cx="1219200" cy="2457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传统解决方案</a:t>
            </a:r>
            <a:endParaRPr lang="en-US" sz="16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</p:txBody>
      </p:sp>
      <p:sp>
        <p:nvSpPr>
          <p:cNvPr id="44" name="文本框 78"/>
          <p:cNvSpPr txBox="1"/>
          <p:nvPr/>
        </p:nvSpPr>
        <p:spPr>
          <a:xfrm>
            <a:off x="7326113" y="5861114"/>
            <a:ext cx="1219200" cy="2457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本文关键工作</a:t>
            </a:r>
          </a:p>
        </p:txBody>
      </p:sp>
      <p:sp>
        <p:nvSpPr>
          <p:cNvPr id="45" name="对话气泡: 矩形 44"/>
          <p:cNvSpPr/>
          <p:nvPr/>
        </p:nvSpPr>
        <p:spPr>
          <a:xfrm>
            <a:off x="53789" y="3370858"/>
            <a:ext cx="3485624" cy="2875302"/>
          </a:xfrm>
          <a:prstGeom prst="wedgeRectCallout">
            <a:avLst>
              <a:gd name="adj1" fmla="val 80203"/>
              <a:gd name="adj2" fmla="val 9296"/>
            </a:avLst>
          </a:prstGeom>
          <a:solidFill>
            <a:srgbClr val="E7ABDC">
              <a:alpha val="20000"/>
            </a:srgb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传统解决方案</a:t>
            </a: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传统解决方案多依赖于现有流式计算引擎进行计算，依赖于消息队列进行数据存储</a:t>
            </a:r>
            <a:endParaRPr lang="en-US" altLang="zh-CN" sz="1200" dirty="0">
              <a:solidFill>
                <a:schemeClr val="tx1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1.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中间计算结果不透明，难以保证数据计算准确性</a:t>
            </a:r>
            <a:endParaRPr lang="en-US" altLang="zh-CN" sz="1600" dirty="0">
              <a:solidFill>
                <a:schemeClr val="tx1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2.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数据开发困难、运维困难</a:t>
            </a:r>
            <a:endParaRPr lang="en-US" altLang="zh-CN" sz="1600" dirty="0">
              <a:solidFill>
                <a:schemeClr val="tx1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3.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难以处理数据延迟上传的场景</a:t>
            </a:r>
            <a:endParaRPr lang="en-US" altLang="zh-CN" sz="1600" dirty="0">
              <a:solidFill>
                <a:schemeClr val="tx1"/>
              </a:solidFill>
              <a:latin typeface="+mn-ea"/>
              <a:sym typeface="等线" panose="02010600030101010101" pitchFamily="2" charset="-122"/>
            </a:endParaRPr>
          </a:p>
        </p:txBody>
      </p:sp>
      <p:sp>
        <p:nvSpPr>
          <p:cNvPr id="46" name="对话气泡: 矩形 45"/>
          <p:cNvSpPr/>
          <p:nvPr/>
        </p:nvSpPr>
        <p:spPr>
          <a:xfrm>
            <a:off x="53789" y="878945"/>
            <a:ext cx="4779435" cy="2464275"/>
          </a:xfrm>
          <a:prstGeom prst="wedgeRectCallout">
            <a:avLst>
              <a:gd name="adj1" fmla="val 80206"/>
              <a:gd name="adj2" fmla="val 41512"/>
            </a:avLst>
          </a:prstGeom>
          <a:solidFill>
            <a:schemeClr val="bg2">
              <a:lumMod val="90000"/>
              <a:alpha val="2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业务背景</a:t>
            </a:r>
          </a:p>
          <a:p>
            <a:pPr indent="0">
              <a:lnSpc>
                <a:spcPct val="130000"/>
              </a:lnSpc>
              <a:buNone/>
            </a:pPr>
            <a:r>
              <a:rPr lang="en-US" altLang="zh-CN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1.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美团研发美团餐饮系统，用于帮助餐饮商户打造线上线下一体化的智能餐厅</a:t>
            </a:r>
            <a:endParaRPr lang="en-US" altLang="zh-CN" sz="1200" dirty="0">
              <a:solidFill>
                <a:schemeClr val="tx1"/>
              </a:solidFill>
              <a:latin typeface="+mn-ea"/>
              <a:sym typeface="等线" panose="02010600030101010101" pitchFamily="2" charset="-122"/>
            </a:endParaRPr>
          </a:p>
          <a:p>
            <a:pPr indent="0">
              <a:lnSpc>
                <a:spcPct val="130000"/>
              </a:lnSpc>
              <a:buNone/>
            </a:pPr>
            <a:r>
              <a:rPr lang="en-US" altLang="zh-CN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2.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随着大数据时代的到来，餐饮商户对于实时对账报表的需求越发迫切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3.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公司现有计算系统以天为单位进行批量计算，无法生成分钟级时延的实时报表</a:t>
            </a:r>
            <a:endParaRPr lang="zh-CN" altLang="en-US" sz="1600" dirty="0">
              <a:solidFill>
                <a:schemeClr val="tx1"/>
              </a:solidFill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1600" dirty="0">
              <a:solidFill>
                <a:schemeClr val="tx1"/>
              </a:solidFill>
              <a:sym typeface="等线" panose="02010600030101010101" pitchFamily="2" charset="-122"/>
            </a:endParaRPr>
          </a:p>
        </p:txBody>
      </p:sp>
      <p:sp>
        <p:nvSpPr>
          <p:cNvPr id="47" name="对话气泡: 矩形 46"/>
          <p:cNvSpPr/>
          <p:nvPr/>
        </p:nvSpPr>
        <p:spPr>
          <a:xfrm>
            <a:off x="8515582" y="2225488"/>
            <a:ext cx="3705860" cy="3644860"/>
          </a:xfrm>
          <a:prstGeom prst="wedgeRectCallout">
            <a:avLst>
              <a:gd name="adj1" fmla="val -67236"/>
              <a:gd name="adj2" fmla="val 43890"/>
            </a:avLst>
          </a:prstGeom>
          <a:solidFill>
            <a:schemeClr val="accent2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本文关键工作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1.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采用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Lambda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架构搭建实时计算链路，对餐饮商户产出的数据进行实时处理，支持下游分钟级时延报表的生成</a:t>
            </a:r>
            <a:endParaRPr lang="en-US" altLang="zh-CN" sz="1600" dirty="0">
              <a:solidFill>
                <a:schemeClr val="tx1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2.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设计实时离线边界治理方案，用于解决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Lambda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架构下实时离线边界不清晰的问题</a:t>
            </a:r>
            <a:endParaRPr lang="en-US" altLang="zh-CN" sz="1600" dirty="0">
              <a:solidFill>
                <a:schemeClr val="tx1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3.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开发可操作的工作台，辅助数据开发人员通过任务配置来进行数据开发</a:t>
            </a:r>
            <a:endParaRPr lang="en-US" altLang="zh-CN" sz="1600" dirty="0">
              <a:solidFill>
                <a:schemeClr val="tx1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4.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设计监控方案，确保数据准确性</a:t>
            </a:r>
            <a:endParaRPr lang="en-US" altLang="zh-CN" sz="1600" dirty="0">
              <a:solidFill>
                <a:schemeClr val="tx1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en-US" altLang="zh-CN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zh-CN" altLang="en-US" sz="1600" dirty="0">
              <a:solidFill>
                <a:schemeClr val="tx1"/>
              </a:solidFill>
              <a:sym typeface="等线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/>
              <a:t>使用场景</a:t>
            </a:r>
          </a:p>
        </p:txBody>
      </p:sp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6500495" y="851534"/>
            <a:ext cx="4902835" cy="5434965"/>
          </a:xfrm>
          <a:prstGeom prst="rect">
            <a:avLst/>
          </a:prstGeom>
          <a:solidFill>
            <a:srgbClr val="ECECEC"/>
          </a:solidFill>
          <a:ln>
            <a:solidFill>
              <a:srgbClr val="6A0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数据处理场景：通过数据计算链路对餐饮数据进行接入、存储、计算、修正，并通过旁路监控保证整个处理过程的数据准确性、一致性等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数据开发场景：通过可操作的工作台辅助数据开发人员进行数据开发，提升开发效率。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系统管理场景：通过提供监控系统，并给予工作台的管理员权限，让平台运维人员能够对系统进行管理。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报表开发场景：为报表开发人员提供查询接口，让其查询计算完毕后的数据用于生成实时报表。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514" y="966507"/>
            <a:ext cx="5302998" cy="47492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40541" y="5862221"/>
            <a:ext cx="31331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图</a:t>
            </a:r>
            <a:r>
              <a:rPr lang="en-US" altLang="zh-CN" sz="1600" dirty="0"/>
              <a:t>1-1</a:t>
            </a:r>
            <a:r>
              <a:rPr lang="zh-CN" altLang="en-US" sz="1600" dirty="0"/>
              <a:t>：实时计算平台使用场景图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/>
          <p:cNvSpPr/>
          <p:nvPr/>
        </p:nvSpPr>
        <p:spPr bwMode="auto">
          <a:xfrm>
            <a:off x="1912588" y="1704802"/>
            <a:ext cx="3381639" cy="3378639"/>
          </a:xfrm>
          <a:custGeom>
            <a:avLst/>
            <a:gdLst>
              <a:gd name="T0" fmla="*/ 929 w 1857"/>
              <a:gd name="T1" fmla="*/ 0 h 1855"/>
              <a:gd name="T2" fmla="*/ 1857 w 1857"/>
              <a:gd name="T3" fmla="*/ 928 h 1855"/>
              <a:gd name="T4" fmla="*/ 929 w 1857"/>
              <a:gd name="T5" fmla="*/ 1855 h 1855"/>
              <a:gd name="T6" fmla="*/ 0 w 1857"/>
              <a:gd name="T7" fmla="*/ 928 h 1855"/>
              <a:gd name="T8" fmla="*/ 929 w 1857"/>
              <a:gd name="T9" fmla="*/ 0 h 1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57" h="1855">
                <a:moveTo>
                  <a:pt x="929" y="0"/>
                </a:moveTo>
                <a:lnTo>
                  <a:pt x="1857" y="928"/>
                </a:lnTo>
                <a:lnTo>
                  <a:pt x="929" y="1855"/>
                </a:lnTo>
                <a:lnTo>
                  <a:pt x="0" y="928"/>
                </a:lnTo>
                <a:lnTo>
                  <a:pt x="929" y="0"/>
                </a:lnTo>
                <a:close/>
              </a:path>
            </a:pathLst>
          </a:custGeom>
          <a:solidFill>
            <a:srgbClr val="6E0F6D"/>
          </a:solidFill>
          <a:ln w="0">
            <a:noFill/>
            <a:prstDash val="solid"/>
            <a:round/>
          </a:ln>
        </p:spPr>
        <p:txBody>
          <a:bodyPr vert="horz" wrap="square" lIns="121890" tIns="60945" rIns="121890" bIns="60945" numCol="1" anchor="t" anchorCtr="0" compatLnSpc="1"/>
          <a:lstStyle/>
          <a:p>
            <a:endParaRPr lang="zh-CN" altLang="en-US"/>
          </a:p>
        </p:txBody>
      </p:sp>
      <p:sp>
        <p:nvSpPr>
          <p:cNvPr id="3" name="文本框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99405" y="2322035"/>
            <a:ext cx="1608005" cy="1497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973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02</a:t>
            </a:r>
            <a:endParaRPr lang="zh-CN" altLang="en-US" sz="973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" name="文本框 1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60150" y="3668255"/>
            <a:ext cx="3286516" cy="4102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Part</a:t>
            </a:r>
            <a:r>
              <a:rPr lang="zh-CN" altLang="en-US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two</a:t>
            </a:r>
            <a:endParaRPr lang="zh-CN" altLang="en-US" sz="2665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TextBox 11"/>
          <p:cNvSpPr txBox="1"/>
          <p:nvPr/>
        </p:nvSpPr>
        <p:spPr>
          <a:xfrm>
            <a:off x="6897775" y="3539625"/>
            <a:ext cx="2185225" cy="333750"/>
          </a:xfrm>
          <a:prstGeom prst="rect">
            <a:avLst/>
          </a:prstGeom>
          <a:noFill/>
        </p:spPr>
        <p:txBody>
          <a:bodyPr wrap="none" lIns="86683" tIns="43341" rIns="86683" bIns="43341" rtlCol="0">
            <a:spAutoFit/>
          </a:bodyPr>
          <a:lstStyle/>
          <a:p>
            <a:r>
              <a:rPr lang="en-US" altLang="zh-CN" sz="1600" b="1" dirty="0">
                <a:solidFill>
                  <a:srgbClr val="6E0F6D"/>
                </a:solidFill>
                <a:latin typeface="+mn-ea"/>
                <a:cs typeface="+mn-ea"/>
                <a:sym typeface="+mn-lt"/>
              </a:rPr>
              <a:t>Requirement Analysis</a:t>
            </a:r>
          </a:p>
        </p:txBody>
      </p:sp>
      <p:sp>
        <p:nvSpPr>
          <p:cNvPr id="6" name="矩形 7"/>
          <p:cNvSpPr/>
          <p:nvPr/>
        </p:nvSpPr>
        <p:spPr>
          <a:xfrm>
            <a:off x="6954253" y="2714935"/>
            <a:ext cx="2213809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4000" b="1" dirty="0">
                <a:solidFill>
                  <a:srgbClr val="6E0F6D"/>
                </a:solidFill>
                <a:latin typeface="+mn-ea"/>
                <a:cs typeface="+mn-ea"/>
              </a:rPr>
              <a:t>需求分析</a:t>
            </a:r>
          </a:p>
        </p:txBody>
      </p:sp>
      <p:cxnSp>
        <p:nvCxnSpPr>
          <p:cNvPr id="7" name="直接连接符 1"/>
          <p:cNvCxnSpPr/>
          <p:nvPr>
            <p:custDataLst>
              <p:tags r:id="rId3"/>
            </p:custDataLst>
          </p:nvPr>
        </p:nvCxnSpPr>
        <p:spPr>
          <a:xfrm>
            <a:off x="5883586" y="3429000"/>
            <a:ext cx="3928174" cy="0"/>
          </a:xfrm>
          <a:prstGeom prst="line">
            <a:avLst/>
          </a:prstGeom>
          <a:ln w="12700">
            <a:solidFill>
              <a:srgbClr val="6E0F6D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等腰三角形 26"/>
          <p:cNvSpPr>
            <a:spLocks noChangeArrowheads="1"/>
          </p:cNvSpPr>
          <p:nvPr/>
        </p:nvSpPr>
        <p:spPr bwMode="auto">
          <a:xfrm rot="16200000">
            <a:off x="11519998" y="6203320"/>
            <a:ext cx="841485" cy="498379"/>
          </a:xfrm>
          <a:prstGeom prst="triangle">
            <a:avLst>
              <a:gd name="adj" fmla="val 0"/>
            </a:avLst>
          </a:prstGeom>
          <a:solidFill>
            <a:srgbClr val="6E0F6D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08" y="53759"/>
            <a:ext cx="2866867" cy="864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/>
              <a:t>需求分析</a:t>
            </a:r>
          </a:p>
        </p:txBody>
      </p:sp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6963557" y="1156448"/>
            <a:ext cx="4902835" cy="4524934"/>
          </a:xfrm>
          <a:prstGeom prst="rect">
            <a:avLst/>
          </a:prstGeom>
          <a:solidFill>
            <a:srgbClr val="ECECEC"/>
          </a:solidFill>
          <a:ln>
            <a:solidFill>
              <a:srgbClr val="6A0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/>
                </a:solidFill>
              </a:rPr>
              <a:t>功能性需求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如系统用例图所示，本系统有三个参与者：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1.</a:t>
            </a:r>
            <a:r>
              <a:rPr lang="zh-CN" altLang="en-US" sz="1600" dirty="0">
                <a:solidFill>
                  <a:schemeClr val="tx1"/>
                </a:solidFill>
              </a:rPr>
              <a:t>数据开发人员需要通过系统管理任务配置、进行任务粒度数据回溯、查询任务血缘、配置限流白名单、接收推送的任务告警信息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2.</a:t>
            </a:r>
            <a:r>
              <a:rPr lang="zh-CN" altLang="en-US" sz="1600" dirty="0">
                <a:solidFill>
                  <a:schemeClr val="tx1"/>
                </a:solidFill>
              </a:rPr>
              <a:t>平台运维人员需要管理工作台、监控以及支撑服务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3.</a:t>
            </a:r>
            <a:r>
              <a:rPr lang="zh-CN" altLang="en-US" sz="1600" dirty="0">
                <a:solidFill>
                  <a:schemeClr val="tx1"/>
                </a:solidFill>
              </a:rPr>
              <a:t>报表开发人员需要查询系统计算完毕后产生的结果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/>
                </a:solidFill>
              </a:rPr>
              <a:t>非功能性需求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1.</a:t>
            </a:r>
            <a:r>
              <a:rPr lang="zh-CN" altLang="en-US" sz="1600" dirty="0">
                <a:solidFill>
                  <a:schemeClr val="tx1"/>
                </a:solidFill>
              </a:rPr>
              <a:t>准确性：核心表数据</a:t>
            </a:r>
            <a:r>
              <a:rPr lang="en-US" altLang="zh-CN" sz="1600" dirty="0">
                <a:solidFill>
                  <a:schemeClr val="tx1"/>
                </a:solidFill>
              </a:rPr>
              <a:t>99.999% </a:t>
            </a:r>
            <a:r>
              <a:rPr lang="zh-CN" altLang="en-US" sz="1600" dirty="0">
                <a:solidFill>
                  <a:schemeClr val="tx1"/>
                </a:solidFill>
              </a:rPr>
              <a:t>，其他</a:t>
            </a:r>
            <a:r>
              <a:rPr lang="en-US" altLang="zh-CN" sz="1600" dirty="0">
                <a:solidFill>
                  <a:schemeClr val="tx1"/>
                </a:solidFill>
              </a:rPr>
              <a:t>99.9%</a:t>
            </a:r>
            <a:r>
              <a:rPr lang="zh-CN" altLang="en-US" sz="1600" dirty="0">
                <a:solidFill>
                  <a:schemeClr val="tx1"/>
                </a:solidFill>
              </a:rPr>
              <a:t>。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2.</a:t>
            </a:r>
            <a:r>
              <a:rPr lang="zh-CN" altLang="en-US" sz="1600" dirty="0">
                <a:solidFill>
                  <a:schemeClr val="tx1"/>
                </a:solidFill>
              </a:rPr>
              <a:t>时效性：从接入到计算完成的全过程耗时小于</a:t>
            </a:r>
            <a:r>
              <a:rPr lang="en-US" altLang="zh-CN" sz="1600" dirty="0">
                <a:solidFill>
                  <a:schemeClr val="tx1"/>
                </a:solidFill>
              </a:rPr>
              <a:t>2 min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815353" y="6048509"/>
            <a:ext cx="3375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图</a:t>
            </a:r>
            <a:r>
              <a:rPr lang="en-US" altLang="zh-CN" sz="1600" dirty="0"/>
              <a:t>3-2</a:t>
            </a:r>
            <a:r>
              <a:rPr lang="zh-CN" altLang="en-US" sz="1600" dirty="0"/>
              <a:t>：实时计算平台系统用例图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230" y="915060"/>
            <a:ext cx="6042364" cy="50809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/>
          <p:cNvSpPr/>
          <p:nvPr/>
        </p:nvSpPr>
        <p:spPr bwMode="auto">
          <a:xfrm>
            <a:off x="1912588" y="1704802"/>
            <a:ext cx="3381639" cy="3378639"/>
          </a:xfrm>
          <a:custGeom>
            <a:avLst/>
            <a:gdLst>
              <a:gd name="T0" fmla="*/ 929 w 1857"/>
              <a:gd name="T1" fmla="*/ 0 h 1855"/>
              <a:gd name="T2" fmla="*/ 1857 w 1857"/>
              <a:gd name="T3" fmla="*/ 928 h 1855"/>
              <a:gd name="T4" fmla="*/ 929 w 1857"/>
              <a:gd name="T5" fmla="*/ 1855 h 1855"/>
              <a:gd name="T6" fmla="*/ 0 w 1857"/>
              <a:gd name="T7" fmla="*/ 928 h 1855"/>
              <a:gd name="T8" fmla="*/ 929 w 1857"/>
              <a:gd name="T9" fmla="*/ 0 h 1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57" h="1855">
                <a:moveTo>
                  <a:pt x="929" y="0"/>
                </a:moveTo>
                <a:lnTo>
                  <a:pt x="1857" y="928"/>
                </a:lnTo>
                <a:lnTo>
                  <a:pt x="929" y="1855"/>
                </a:lnTo>
                <a:lnTo>
                  <a:pt x="0" y="928"/>
                </a:lnTo>
                <a:lnTo>
                  <a:pt x="929" y="0"/>
                </a:lnTo>
                <a:close/>
              </a:path>
            </a:pathLst>
          </a:custGeom>
          <a:solidFill>
            <a:srgbClr val="6E0F6D"/>
          </a:solidFill>
          <a:ln w="0">
            <a:noFill/>
            <a:prstDash val="solid"/>
            <a:round/>
          </a:ln>
        </p:spPr>
        <p:txBody>
          <a:bodyPr vert="horz" wrap="square" lIns="121890" tIns="60945" rIns="121890" bIns="60945" numCol="1" anchor="t" anchorCtr="0" compatLnSpc="1"/>
          <a:lstStyle/>
          <a:p>
            <a:endParaRPr lang="zh-CN" altLang="en-US"/>
          </a:p>
        </p:txBody>
      </p:sp>
      <p:sp>
        <p:nvSpPr>
          <p:cNvPr id="3" name="文本框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99405" y="2322035"/>
            <a:ext cx="1608005" cy="1497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973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03</a:t>
            </a:r>
            <a:endParaRPr lang="zh-CN" altLang="en-US" sz="973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" name="文本框 1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60150" y="3668255"/>
            <a:ext cx="3286516" cy="4102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Part</a:t>
            </a:r>
            <a:r>
              <a:rPr lang="zh-CN" altLang="en-US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three</a:t>
            </a:r>
            <a:endParaRPr lang="zh-CN" altLang="en-US" sz="2665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TextBox 11"/>
          <p:cNvSpPr txBox="1"/>
          <p:nvPr/>
        </p:nvSpPr>
        <p:spPr>
          <a:xfrm>
            <a:off x="7290748" y="3539625"/>
            <a:ext cx="1540818" cy="333750"/>
          </a:xfrm>
          <a:prstGeom prst="rect">
            <a:avLst/>
          </a:prstGeom>
          <a:noFill/>
        </p:spPr>
        <p:txBody>
          <a:bodyPr wrap="none" lIns="86683" tIns="43341" rIns="86683" bIns="43341" rtlCol="0">
            <a:spAutoFit/>
          </a:bodyPr>
          <a:lstStyle/>
          <a:p>
            <a:r>
              <a:rPr lang="en-US" altLang="zh-CN" sz="1600" b="1" dirty="0">
                <a:solidFill>
                  <a:srgbClr val="6E0F6D"/>
                </a:solidFill>
                <a:latin typeface="+mn-ea"/>
                <a:cs typeface="+mn-ea"/>
                <a:sym typeface="+mn-lt"/>
              </a:rPr>
              <a:t>System Design</a:t>
            </a:r>
          </a:p>
        </p:txBody>
      </p:sp>
      <p:sp>
        <p:nvSpPr>
          <p:cNvPr id="6" name="矩形 7"/>
          <p:cNvSpPr/>
          <p:nvPr/>
        </p:nvSpPr>
        <p:spPr>
          <a:xfrm>
            <a:off x="6954253" y="2714935"/>
            <a:ext cx="2213809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4000" b="1" dirty="0">
                <a:solidFill>
                  <a:srgbClr val="6E0F6D"/>
                </a:solidFill>
                <a:latin typeface="+mn-ea"/>
                <a:cs typeface="+mn-ea"/>
              </a:rPr>
              <a:t>系统设计</a:t>
            </a:r>
          </a:p>
        </p:txBody>
      </p:sp>
      <p:cxnSp>
        <p:nvCxnSpPr>
          <p:cNvPr id="7" name="直接连接符 1"/>
          <p:cNvCxnSpPr/>
          <p:nvPr>
            <p:custDataLst>
              <p:tags r:id="rId3"/>
            </p:custDataLst>
          </p:nvPr>
        </p:nvCxnSpPr>
        <p:spPr>
          <a:xfrm>
            <a:off x="5883586" y="3429000"/>
            <a:ext cx="3928174" cy="0"/>
          </a:xfrm>
          <a:prstGeom prst="line">
            <a:avLst/>
          </a:prstGeom>
          <a:ln w="12700">
            <a:solidFill>
              <a:srgbClr val="6E0F6D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等腰三角形 26"/>
          <p:cNvSpPr>
            <a:spLocks noChangeArrowheads="1"/>
          </p:cNvSpPr>
          <p:nvPr/>
        </p:nvSpPr>
        <p:spPr bwMode="auto">
          <a:xfrm rot="16200000">
            <a:off x="11519998" y="6203320"/>
            <a:ext cx="841485" cy="498379"/>
          </a:xfrm>
          <a:prstGeom prst="triangle">
            <a:avLst>
              <a:gd name="adj" fmla="val 0"/>
            </a:avLst>
          </a:prstGeom>
          <a:solidFill>
            <a:srgbClr val="6E0F6D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08" y="53759"/>
            <a:ext cx="2866867" cy="864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架构设计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370295" y="5885668"/>
            <a:ext cx="35634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图</a:t>
            </a:r>
            <a:r>
              <a:rPr lang="en-US" altLang="zh-CN" sz="1600" dirty="0"/>
              <a:t>3-4</a:t>
            </a:r>
            <a:r>
              <a:rPr lang="zh-CN" altLang="en-US" sz="1600" dirty="0"/>
              <a:t>：实时计算平台架构设计图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1359" y="798792"/>
            <a:ext cx="7906870" cy="49232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模块划分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121525" y="5800777"/>
            <a:ext cx="4040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图</a:t>
            </a:r>
            <a:r>
              <a:rPr lang="en-US" altLang="zh-CN" sz="1600" dirty="0"/>
              <a:t>3-10</a:t>
            </a:r>
            <a:r>
              <a:rPr lang="zh-CN" altLang="en-US" sz="1600" dirty="0"/>
              <a:t>：实时计算平台层次与模块划分图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017" y="1297217"/>
            <a:ext cx="9340137" cy="44079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51D91E7F-84B6-4064-9D4E-CC7D244BCA04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业务流程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516278" y="6035466"/>
            <a:ext cx="27842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图</a:t>
            </a:r>
            <a:r>
              <a:rPr lang="en-US" altLang="zh-CN" sz="1600" dirty="0"/>
              <a:t>3-6</a:t>
            </a:r>
            <a:r>
              <a:rPr lang="zh-CN" altLang="en-US" sz="1600" dirty="0"/>
              <a:t>：系统过程视图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255469" y="2601156"/>
            <a:ext cx="27842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图</a:t>
            </a:r>
            <a:r>
              <a:rPr lang="en-US" altLang="zh-CN" sz="1600" dirty="0"/>
              <a:t>3-3</a:t>
            </a:r>
            <a:r>
              <a:rPr lang="zh-CN" altLang="en-US" sz="1600" dirty="0"/>
              <a:t>：计算</a:t>
            </a:r>
            <a:r>
              <a:rPr lang="en-US" altLang="zh-CN" sz="1600" dirty="0"/>
              <a:t>SQL</a:t>
            </a:r>
            <a:r>
              <a:rPr lang="zh-CN" altLang="en-US" sz="1600" dirty="0"/>
              <a:t>生成示意图</a:t>
            </a:r>
          </a:p>
        </p:txBody>
      </p:sp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6234392" y="3160367"/>
            <a:ext cx="5455407" cy="3044376"/>
          </a:xfrm>
          <a:prstGeom prst="rect">
            <a:avLst/>
          </a:prstGeom>
          <a:solidFill>
            <a:srgbClr val="ECECEC"/>
          </a:solidFill>
          <a:ln>
            <a:solidFill>
              <a:srgbClr val="6A0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存储引擎采用数仓分层模型，分为</a:t>
            </a:r>
            <a:r>
              <a:rPr lang="en-US" altLang="zh-CN" sz="1600" dirty="0">
                <a:solidFill>
                  <a:schemeClr val="tx1"/>
                </a:solidFill>
              </a:rPr>
              <a:t>ODS</a:t>
            </a:r>
            <a:r>
              <a:rPr lang="zh-CN" altLang="en-US" sz="1600" dirty="0">
                <a:solidFill>
                  <a:schemeClr val="tx1"/>
                </a:solidFill>
              </a:rPr>
              <a:t>层、</a:t>
            </a:r>
            <a:r>
              <a:rPr lang="en-US" altLang="zh-CN" sz="1600" dirty="0">
                <a:solidFill>
                  <a:schemeClr val="tx1"/>
                </a:solidFill>
              </a:rPr>
              <a:t>DWT</a:t>
            </a:r>
            <a:r>
              <a:rPr lang="zh-CN" altLang="en-US" sz="1600" dirty="0">
                <a:solidFill>
                  <a:schemeClr val="tx1"/>
                </a:solidFill>
              </a:rPr>
              <a:t>层、</a:t>
            </a:r>
            <a:r>
              <a:rPr lang="en-US" altLang="zh-CN" sz="1600" dirty="0">
                <a:solidFill>
                  <a:schemeClr val="tx1"/>
                </a:solidFill>
              </a:rPr>
              <a:t>APP</a:t>
            </a:r>
            <a:r>
              <a:rPr lang="zh-CN" altLang="en-US" sz="1600" dirty="0">
                <a:solidFill>
                  <a:schemeClr val="tx1"/>
                </a:solidFill>
              </a:rPr>
              <a:t>层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1.ODS</a:t>
            </a:r>
            <a:r>
              <a:rPr lang="zh-CN" altLang="en-US" sz="1600" dirty="0">
                <a:solidFill>
                  <a:schemeClr val="tx1"/>
                </a:solidFill>
              </a:rPr>
              <a:t>层：存放预处理后的上游 </a:t>
            </a:r>
            <a:r>
              <a:rPr lang="en-US" altLang="zh-CN" sz="1600" dirty="0" err="1">
                <a:solidFill>
                  <a:schemeClr val="tx1"/>
                </a:solidFill>
              </a:rPr>
              <a:t>Binlog</a:t>
            </a:r>
            <a:r>
              <a:rPr lang="en-US" altLang="zh-CN" sz="1600" dirty="0">
                <a:solidFill>
                  <a:schemeClr val="tx1"/>
                </a:solidFill>
              </a:rPr>
              <a:t> </a:t>
            </a:r>
            <a:r>
              <a:rPr lang="zh-CN" altLang="en-US" sz="1600" dirty="0">
                <a:solidFill>
                  <a:schemeClr val="tx1"/>
                </a:solidFill>
              </a:rPr>
              <a:t>日志数据。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2.DWT</a:t>
            </a:r>
            <a:r>
              <a:rPr lang="zh-CN" altLang="en-US" sz="1600" dirty="0">
                <a:solidFill>
                  <a:schemeClr val="tx1"/>
                </a:solidFill>
              </a:rPr>
              <a:t>层：存储数据按主题预聚合产生的中间计算结果。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3.APP</a:t>
            </a:r>
            <a:r>
              <a:rPr lang="zh-CN" altLang="en-US" sz="1600" dirty="0">
                <a:solidFill>
                  <a:schemeClr val="tx1"/>
                </a:solidFill>
              </a:rPr>
              <a:t>层：存储数据经过多次聚合计算后产生的最终结果。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747" y="851308"/>
            <a:ext cx="5587253" cy="510264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4392" y="771971"/>
            <a:ext cx="5794002" cy="1551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51D91E7F-84B6-4064-9D4E-CC7D244BCA04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业务流程</a:t>
            </a:r>
            <a:endParaRPr kumimoji="1"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456394" y="3075116"/>
            <a:ext cx="32340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图</a:t>
            </a:r>
            <a:r>
              <a:rPr lang="en-US" altLang="zh-CN" sz="1600" dirty="0"/>
              <a:t>3-25</a:t>
            </a:r>
            <a:r>
              <a:rPr lang="zh-CN" altLang="en-US" sz="1600" dirty="0"/>
              <a:t>：中间计算结果保存示意图</a:t>
            </a:r>
          </a:p>
        </p:txBody>
      </p:sp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176492" y="1085690"/>
            <a:ext cx="5455407" cy="5173916"/>
          </a:xfrm>
          <a:prstGeom prst="rect">
            <a:avLst/>
          </a:prstGeom>
          <a:solidFill>
            <a:srgbClr val="ECECEC"/>
          </a:solidFill>
          <a:ln>
            <a:solidFill>
              <a:srgbClr val="6A0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/>
                </a:solidFill>
              </a:rPr>
              <a:t>中间计算与最终计算的差异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1.</a:t>
            </a:r>
            <a:r>
              <a:rPr lang="zh-CN" altLang="en-US" sz="1600" dirty="0">
                <a:solidFill>
                  <a:schemeClr val="tx1"/>
                </a:solidFill>
              </a:rPr>
              <a:t>计算结果存入的位置不同。中间计算结果存入 </a:t>
            </a:r>
            <a:r>
              <a:rPr lang="en-US" altLang="zh-CN" sz="1600" dirty="0">
                <a:solidFill>
                  <a:schemeClr val="tx1"/>
                </a:solidFill>
              </a:rPr>
              <a:t>DWT </a:t>
            </a:r>
            <a:r>
              <a:rPr lang="zh-CN" altLang="en-US" sz="1600" dirty="0">
                <a:solidFill>
                  <a:schemeClr val="tx1"/>
                </a:solidFill>
              </a:rPr>
              <a:t>层。而最终计算结果存入 </a:t>
            </a:r>
            <a:r>
              <a:rPr lang="en-US" altLang="zh-CN" sz="1600" dirty="0">
                <a:solidFill>
                  <a:schemeClr val="tx1"/>
                </a:solidFill>
              </a:rPr>
              <a:t>APP </a:t>
            </a:r>
            <a:r>
              <a:rPr lang="zh-CN" altLang="en-US" sz="1600" dirty="0">
                <a:solidFill>
                  <a:schemeClr val="tx1"/>
                </a:solidFill>
              </a:rPr>
              <a:t>层。</a:t>
            </a: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2.</a:t>
            </a:r>
            <a:r>
              <a:rPr lang="zh-CN" altLang="en-US" sz="1600" dirty="0">
                <a:solidFill>
                  <a:schemeClr val="tx1"/>
                </a:solidFill>
              </a:rPr>
              <a:t>计算周期不同。中间计算每 </a:t>
            </a:r>
            <a:r>
              <a:rPr lang="en-US" altLang="zh-CN" sz="1600" dirty="0">
                <a:solidFill>
                  <a:schemeClr val="tx1"/>
                </a:solidFill>
              </a:rPr>
              <a:t>2s </a:t>
            </a:r>
            <a:r>
              <a:rPr lang="zh-CN" altLang="en-US" sz="1600" dirty="0">
                <a:solidFill>
                  <a:schemeClr val="tx1"/>
                </a:solidFill>
              </a:rPr>
              <a:t>执行一次，最终计算每 </a:t>
            </a:r>
            <a:r>
              <a:rPr lang="en-US" altLang="zh-CN" sz="1600" dirty="0">
                <a:solidFill>
                  <a:schemeClr val="tx1"/>
                </a:solidFill>
              </a:rPr>
              <a:t>1min </a:t>
            </a:r>
            <a:r>
              <a:rPr lang="zh-CN" altLang="en-US" sz="1600" dirty="0">
                <a:solidFill>
                  <a:schemeClr val="tx1"/>
                </a:solidFill>
              </a:rPr>
              <a:t>执行一次。原因在于中间计算的数据粒度细（订单粒度），单次计算耗时短。而最终计算的数据粒度粗（门店、商户粒度），因此计算涉及的数据多，单次计算耗时长。</a:t>
            </a: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3.</a:t>
            </a:r>
            <a:r>
              <a:rPr lang="zh-CN" altLang="en-US" sz="1600" dirty="0">
                <a:solidFill>
                  <a:schemeClr val="tx1"/>
                </a:solidFill>
              </a:rPr>
              <a:t>计算结果存储的方式不同。中间计算通过数据对比依赖字段直接删除表中的旧数据，然后插入计算结果。而最终计算会将表中旧数据查出，与计算产生的新数据在内存中进行对比，通过生成调整 </a:t>
            </a:r>
            <a:r>
              <a:rPr lang="en-US" altLang="zh-CN" sz="1600" dirty="0">
                <a:solidFill>
                  <a:schemeClr val="tx1"/>
                </a:solidFill>
              </a:rPr>
              <a:t>SQL </a:t>
            </a:r>
            <a:r>
              <a:rPr lang="zh-CN" altLang="en-US" sz="1600" dirty="0">
                <a:solidFill>
                  <a:schemeClr val="tx1"/>
                </a:solidFill>
              </a:rPr>
              <a:t>将旧数据修改为新数据。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456394" y="5921052"/>
            <a:ext cx="32340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图</a:t>
            </a:r>
            <a:r>
              <a:rPr lang="en-US" altLang="zh-CN" sz="1600" dirty="0"/>
              <a:t>3-26</a:t>
            </a:r>
            <a:r>
              <a:rPr lang="zh-CN" altLang="en-US" sz="1600" dirty="0"/>
              <a:t>：最终计算结果保存示意图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2750" y="738883"/>
            <a:ext cx="6281177" cy="221358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2750" y="3560458"/>
            <a:ext cx="6183458" cy="2094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/>
          <p:cNvSpPr/>
          <p:nvPr/>
        </p:nvSpPr>
        <p:spPr bwMode="auto">
          <a:xfrm>
            <a:off x="1912588" y="1704802"/>
            <a:ext cx="3381639" cy="3378639"/>
          </a:xfrm>
          <a:custGeom>
            <a:avLst/>
            <a:gdLst>
              <a:gd name="T0" fmla="*/ 929 w 1857"/>
              <a:gd name="T1" fmla="*/ 0 h 1855"/>
              <a:gd name="T2" fmla="*/ 1857 w 1857"/>
              <a:gd name="T3" fmla="*/ 928 h 1855"/>
              <a:gd name="T4" fmla="*/ 929 w 1857"/>
              <a:gd name="T5" fmla="*/ 1855 h 1855"/>
              <a:gd name="T6" fmla="*/ 0 w 1857"/>
              <a:gd name="T7" fmla="*/ 928 h 1855"/>
              <a:gd name="T8" fmla="*/ 929 w 1857"/>
              <a:gd name="T9" fmla="*/ 0 h 1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57" h="1855">
                <a:moveTo>
                  <a:pt x="929" y="0"/>
                </a:moveTo>
                <a:lnTo>
                  <a:pt x="1857" y="928"/>
                </a:lnTo>
                <a:lnTo>
                  <a:pt x="929" y="1855"/>
                </a:lnTo>
                <a:lnTo>
                  <a:pt x="0" y="928"/>
                </a:lnTo>
                <a:lnTo>
                  <a:pt x="929" y="0"/>
                </a:lnTo>
                <a:close/>
              </a:path>
            </a:pathLst>
          </a:custGeom>
          <a:solidFill>
            <a:srgbClr val="6E0F6D"/>
          </a:solidFill>
          <a:ln w="0">
            <a:noFill/>
            <a:prstDash val="solid"/>
            <a:round/>
          </a:ln>
        </p:spPr>
        <p:txBody>
          <a:bodyPr vert="horz" wrap="square" lIns="121890" tIns="60945" rIns="121890" bIns="60945" numCol="1" anchor="t" anchorCtr="0" compatLnSpc="1"/>
          <a:lstStyle/>
          <a:p>
            <a:endParaRPr lang="zh-CN" altLang="en-US"/>
          </a:p>
        </p:txBody>
      </p:sp>
      <p:sp>
        <p:nvSpPr>
          <p:cNvPr id="3" name="文本框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99405" y="2322035"/>
            <a:ext cx="1608005" cy="1497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973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04</a:t>
            </a:r>
            <a:endParaRPr lang="zh-CN" altLang="en-US" sz="973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" name="文本框 1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60150" y="3668255"/>
            <a:ext cx="3286516" cy="4102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Part four</a:t>
            </a:r>
            <a:endParaRPr lang="zh-CN" altLang="en-US" sz="2665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TextBox 11"/>
          <p:cNvSpPr txBox="1"/>
          <p:nvPr/>
        </p:nvSpPr>
        <p:spPr>
          <a:xfrm>
            <a:off x="6868356" y="3539625"/>
            <a:ext cx="2385601" cy="333750"/>
          </a:xfrm>
          <a:prstGeom prst="rect">
            <a:avLst/>
          </a:prstGeom>
          <a:noFill/>
        </p:spPr>
        <p:txBody>
          <a:bodyPr wrap="none" lIns="86683" tIns="43341" rIns="86683" bIns="43341" rtlCol="0">
            <a:spAutoFit/>
          </a:bodyPr>
          <a:lstStyle/>
          <a:p>
            <a:r>
              <a:rPr lang="en-US" altLang="zh-CN" sz="1600" b="1" dirty="0">
                <a:solidFill>
                  <a:srgbClr val="6E0F6D"/>
                </a:solidFill>
                <a:latin typeface="+mn-ea"/>
                <a:cs typeface="+mn-ea"/>
                <a:sym typeface="+mn-lt"/>
              </a:rPr>
              <a:t>System Implementation</a:t>
            </a:r>
          </a:p>
        </p:txBody>
      </p:sp>
      <p:sp>
        <p:nvSpPr>
          <p:cNvPr id="6" name="矩形 7"/>
          <p:cNvSpPr/>
          <p:nvPr/>
        </p:nvSpPr>
        <p:spPr>
          <a:xfrm>
            <a:off x="6954253" y="2714935"/>
            <a:ext cx="2213809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4000" b="1" dirty="0">
                <a:solidFill>
                  <a:srgbClr val="6E0F6D"/>
                </a:solidFill>
                <a:latin typeface="+mn-ea"/>
                <a:cs typeface="+mn-ea"/>
              </a:rPr>
              <a:t>系统实现</a:t>
            </a:r>
          </a:p>
        </p:txBody>
      </p:sp>
      <p:cxnSp>
        <p:nvCxnSpPr>
          <p:cNvPr id="7" name="直接连接符 1"/>
          <p:cNvCxnSpPr/>
          <p:nvPr>
            <p:custDataLst>
              <p:tags r:id="rId3"/>
            </p:custDataLst>
          </p:nvPr>
        </p:nvCxnSpPr>
        <p:spPr>
          <a:xfrm>
            <a:off x="5883586" y="3429000"/>
            <a:ext cx="3928174" cy="0"/>
          </a:xfrm>
          <a:prstGeom prst="line">
            <a:avLst/>
          </a:prstGeom>
          <a:ln w="12700">
            <a:solidFill>
              <a:srgbClr val="6E0F6D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等腰三角形 26"/>
          <p:cNvSpPr>
            <a:spLocks noChangeArrowheads="1"/>
          </p:cNvSpPr>
          <p:nvPr/>
        </p:nvSpPr>
        <p:spPr bwMode="auto">
          <a:xfrm rot="16200000">
            <a:off x="11519998" y="6203320"/>
            <a:ext cx="841485" cy="498379"/>
          </a:xfrm>
          <a:prstGeom prst="triangle">
            <a:avLst>
              <a:gd name="adj" fmla="val 0"/>
            </a:avLst>
          </a:prstGeom>
          <a:solidFill>
            <a:srgbClr val="6E0F6D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08" y="53759"/>
            <a:ext cx="2866867" cy="864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实现效果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3988073" y="5959660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图</a:t>
            </a:r>
            <a:r>
              <a:rPr lang="en-US" altLang="zh-CN" sz="1600" dirty="0"/>
              <a:t>4-11</a:t>
            </a:r>
            <a:r>
              <a:rPr lang="zh-CN" altLang="en-US" sz="1600" dirty="0"/>
              <a:t>：实时数仓工作台主页面展示图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257" y="836342"/>
            <a:ext cx="5427275" cy="50601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实现效果</a:t>
            </a:r>
            <a:endParaRPr kumimoji="1" lang="zh-CN" altLang="en-US" dirty="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006568" y="5798789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4-14</a:t>
            </a:r>
            <a:r>
              <a:rPr lang="zh-CN" altLang="en-US" dirty="0"/>
              <a:t>：任务详情页面展示图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497" y="1020822"/>
            <a:ext cx="8421006" cy="46084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实现效果</a:t>
            </a:r>
            <a:endParaRPr kumimoji="1" lang="zh-CN" altLang="en-US" dirty="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013292" y="5702186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4-16</a:t>
            </a:r>
            <a:r>
              <a:rPr lang="zh-CN" altLang="en-US" dirty="0"/>
              <a:t>：任务回溯页面展示图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76" y="1760938"/>
            <a:ext cx="10148047" cy="36050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实现效果</a:t>
            </a:r>
            <a:endParaRPr kumimoji="1" lang="zh-CN" altLang="en-US" dirty="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3999844" y="6038344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4-18</a:t>
            </a:r>
            <a:r>
              <a:rPr lang="zh-CN" altLang="en-US" dirty="0"/>
              <a:t>：</a:t>
            </a:r>
            <a:r>
              <a:rPr lang="en-US" altLang="zh-CN" dirty="0"/>
              <a:t>BCP </a:t>
            </a:r>
            <a:r>
              <a:rPr lang="zh-CN" altLang="en-US" dirty="0"/>
              <a:t>触发消息配置示例图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6646" y="922822"/>
            <a:ext cx="6447961" cy="51155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实现效果</a:t>
            </a:r>
            <a:endParaRPr kumimoji="1" lang="zh-CN" altLang="en-US" dirty="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006568" y="5798789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4-20</a:t>
            </a:r>
            <a:r>
              <a:rPr lang="zh-CN" altLang="en-US" dirty="0"/>
              <a:t>：可视化性能大盘展示图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018" y="1025401"/>
            <a:ext cx="7886208" cy="46895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/>
          <p:cNvSpPr/>
          <p:nvPr/>
        </p:nvSpPr>
        <p:spPr bwMode="auto">
          <a:xfrm>
            <a:off x="1912588" y="1704802"/>
            <a:ext cx="3381639" cy="3378639"/>
          </a:xfrm>
          <a:custGeom>
            <a:avLst/>
            <a:gdLst>
              <a:gd name="T0" fmla="*/ 929 w 1857"/>
              <a:gd name="T1" fmla="*/ 0 h 1855"/>
              <a:gd name="T2" fmla="*/ 1857 w 1857"/>
              <a:gd name="T3" fmla="*/ 928 h 1855"/>
              <a:gd name="T4" fmla="*/ 929 w 1857"/>
              <a:gd name="T5" fmla="*/ 1855 h 1855"/>
              <a:gd name="T6" fmla="*/ 0 w 1857"/>
              <a:gd name="T7" fmla="*/ 928 h 1855"/>
              <a:gd name="T8" fmla="*/ 929 w 1857"/>
              <a:gd name="T9" fmla="*/ 0 h 1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57" h="1855">
                <a:moveTo>
                  <a:pt x="929" y="0"/>
                </a:moveTo>
                <a:lnTo>
                  <a:pt x="1857" y="928"/>
                </a:lnTo>
                <a:lnTo>
                  <a:pt x="929" y="1855"/>
                </a:lnTo>
                <a:lnTo>
                  <a:pt x="0" y="928"/>
                </a:lnTo>
                <a:lnTo>
                  <a:pt x="929" y="0"/>
                </a:lnTo>
                <a:close/>
              </a:path>
            </a:pathLst>
          </a:custGeom>
          <a:solidFill>
            <a:srgbClr val="6E0F6D"/>
          </a:solidFill>
          <a:ln w="0">
            <a:noFill/>
            <a:prstDash val="solid"/>
            <a:round/>
          </a:ln>
        </p:spPr>
        <p:txBody>
          <a:bodyPr vert="horz" wrap="square" lIns="121890" tIns="60945" rIns="121890" bIns="60945" numCol="1" anchor="t" anchorCtr="0" compatLnSpc="1"/>
          <a:lstStyle/>
          <a:p>
            <a:endParaRPr lang="zh-CN" altLang="en-US"/>
          </a:p>
        </p:txBody>
      </p:sp>
      <p:sp>
        <p:nvSpPr>
          <p:cNvPr id="3" name="文本框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99405" y="2322035"/>
            <a:ext cx="1608005" cy="1497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973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05</a:t>
            </a:r>
            <a:endParaRPr lang="zh-CN" altLang="en-US" sz="973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" name="文本框 1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60150" y="3668255"/>
            <a:ext cx="3286516" cy="4102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Part five</a:t>
            </a:r>
            <a:endParaRPr lang="zh-CN" altLang="en-US" sz="2665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TextBox 11"/>
          <p:cNvSpPr txBox="1"/>
          <p:nvPr/>
        </p:nvSpPr>
        <p:spPr>
          <a:xfrm>
            <a:off x="6622676" y="3539625"/>
            <a:ext cx="2817229" cy="579971"/>
          </a:xfrm>
          <a:prstGeom prst="rect">
            <a:avLst/>
          </a:prstGeom>
          <a:noFill/>
        </p:spPr>
        <p:txBody>
          <a:bodyPr wrap="square" lIns="86683" tIns="43341" rIns="86683" bIns="43341" rtlCol="0">
            <a:spAutoFit/>
          </a:bodyPr>
          <a:lstStyle/>
          <a:p>
            <a:r>
              <a:rPr lang="en-US" altLang="zh-CN" sz="1600" b="1" dirty="0">
                <a:solidFill>
                  <a:srgbClr val="6E0F6D"/>
                </a:solidFill>
                <a:latin typeface="+mn-ea"/>
                <a:cs typeface="+mn-ea"/>
                <a:sym typeface="+mn-lt"/>
              </a:rPr>
              <a:t>System Test and Summary</a:t>
            </a:r>
          </a:p>
          <a:p>
            <a:endParaRPr lang="en-US" altLang="zh-CN" sz="1600" b="1" dirty="0">
              <a:solidFill>
                <a:srgbClr val="6E0F6D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6" name="矩形 7"/>
          <p:cNvSpPr/>
          <p:nvPr/>
        </p:nvSpPr>
        <p:spPr>
          <a:xfrm>
            <a:off x="6133483" y="2714935"/>
            <a:ext cx="3783724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4000" b="1" dirty="0">
                <a:solidFill>
                  <a:srgbClr val="6E0F6D"/>
                </a:solidFill>
                <a:latin typeface="+mn-ea"/>
                <a:cs typeface="+mn-ea"/>
              </a:rPr>
              <a:t>系统测试与总结</a:t>
            </a:r>
          </a:p>
        </p:txBody>
      </p:sp>
      <p:cxnSp>
        <p:nvCxnSpPr>
          <p:cNvPr id="7" name="直接连接符 1"/>
          <p:cNvCxnSpPr/>
          <p:nvPr>
            <p:custDataLst>
              <p:tags r:id="rId3"/>
            </p:custDataLst>
          </p:nvPr>
        </p:nvCxnSpPr>
        <p:spPr>
          <a:xfrm>
            <a:off x="5883586" y="3429000"/>
            <a:ext cx="3928174" cy="0"/>
          </a:xfrm>
          <a:prstGeom prst="line">
            <a:avLst/>
          </a:prstGeom>
          <a:ln w="12700">
            <a:solidFill>
              <a:srgbClr val="6E0F6D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等腰三角形 26"/>
          <p:cNvSpPr>
            <a:spLocks noChangeArrowheads="1"/>
          </p:cNvSpPr>
          <p:nvPr/>
        </p:nvSpPr>
        <p:spPr bwMode="auto">
          <a:xfrm rot="16200000">
            <a:off x="11519998" y="6203320"/>
            <a:ext cx="841485" cy="498379"/>
          </a:xfrm>
          <a:prstGeom prst="triangle">
            <a:avLst>
              <a:gd name="adj" fmla="val 0"/>
            </a:avLst>
          </a:prstGeom>
          <a:solidFill>
            <a:srgbClr val="6E0F6D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08" y="53759"/>
            <a:ext cx="2866867" cy="864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测试环境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978449" y="1567562"/>
            <a:ext cx="823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表</a:t>
            </a:r>
            <a:r>
              <a:rPr lang="en-US" altLang="zh-CN" dirty="0"/>
              <a:t>5-1</a:t>
            </a:r>
            <a:r>
              <a:rPr lang="zh-CN" altLang="en-US" dirty="0"/>
              <a:t>：面向餐饮商户业务数据的实时计算平台的测试环境说明表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032000" y="2054478"/>
          <a:ext cx="8128000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4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3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环境项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环境值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部署环境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CentOS 7 </a:t>
                      </a:r>
                      <a:r>
                        <a:rPr lang="zh-CN" altLang="en-US" dirty="0"/>
                        <a:t>操作系统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部署位置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美团云服务器集群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容器参数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HULK</a:t>
                      </a:r>
                      <a:r>
                        <a:rPr lang="zh-CN" altLang="en-US" dirty="0"/>
                        <a:t>容器，机器配置为</a:t>
                      </a:r>
                      <a:r>
                        <a:rPr lang="en-US" altLang="zh-CN" dirty="0"/>
                        <a:t>16</a:t>
                      </a:r>
                      <a:r>
                        <a:rPr lang="zh-CN" altLang="en-US" dirty="0"/>
                        <a:t>核</a:t>
                      </a:r>
                      <a:r>
                        <a:rPr lang="en-US" altLang="zh-CN" dirty="0"/>
                        <a:t>CPU</a:t>
                      </a:r>
                      <a:r>
                        <a:rPr lang="zh-CN" altLang="en-US" dirty="0"/>
                        <a:t>，</a:t>
                      </a:r>
                      <a:r>
                        <a:rPr lang="en-US" altLang="zh-CN" dirty="0"/>
                        <a:t>16G</a:t>
                      </a:r>
                      <a:r>
                        <a:rPr lang="zh-CN" altLang="en-US" dirty="0"/>
                        <a:t>内存以及</a:t>
                      </a:r>
                      <a:r>
                        <a:rPr lang="en-US" altLang="zh-CN" dirty="0"/>
                        <a:t>150G</a:t>
                      </a:r>
                      <a:r>
                        <a:rPr lang="zh-CN" altLang="en-US" dirty="0"/>
                        <a:t>硬盘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开发环境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MacOS Ventura 13.6 </a:t>
                      </a:r>
                      <a:r>
                        <a:rPr lang="zh-CN" altLang="en-US" dirty="0"/>
                        <a:t>操作系统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前端测试环境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市面上的主流浏览器，包括</a:t>
                      </a:r>
                      <a:r>
                        <a:rPr lang="en-US" altLang="zh-CN" dirty="0"/>
                        <a:t>Edge</a:t>
                      </a:r>
                      <a:r>
                        <a:rPr lang="zh-CN" altLang="en-US" dirty="0"/>
                        <a:t>、</a:t>
                      </a:r>
                      <a:r>
                        <a:rPr lang="en-US" altLang="zh-CN" dirty="0"/>
                        <a:t>Chrome</a:t>
                      </a:r>
                      <a:r>
                        <a:rPr lang="zh-CN" altLang="en-US" dirty="0"/>
                        <a:t>、</a:t>
                      </a:r>
                      <a:r>
                        <a:rPr lang="en-US" altLang="zh-CN" dirty="0"/>
                        <a:t>IE </a:t>
                      </a:r>
                      <a:r>
                        <a:rPr lang="zh-CN" altLang="en-US" dirty="0"/>
                        <a:t>等，此外还会使用</a:t>
                      </a:r>
                      <a:r>
                        <a:rPr lang="en-US" altLang="zh-CN" dirty="0"/>
                        <a:t>Postman</a:t>
                      </a:r>
                      <a:r>
                        <a:rPr lang="zh-CN" altLang="en-US" dirty="0"/>
                        <a:t>请求后端接口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后端测试环境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CentOS 7 </a:t>
                      </a:r>
                      <a:r>
                        <a:rPr lang="zh-CN" altLang="en-US" dirty="0"/>
                        <a:t>操作系统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数据库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Redis</a:t>
                      </a:r>
                      <a:r>
                        <a:rPr lang="zh-CN" altLang="en-US" dirty="0"/>
                        <a:t>、</a:t>
                      </a:r>
                      <a:r>
                        <a:rPr lang="en-US" altLang="zh-CN" dirty="0"/>
                        <a:t>Blade</a:t>
                      </a:r>
                      <a:r>
                        <a:rPr lang="zh-CN" altLang="en-US" dirty="0"/>
                        <a:t>、</a:t>
                      </a:r>
                      <a:r>
                        <a:rPr lang="en-US" altLang="zh-CN" dirty="0"/>
                        <a:t>Doris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性能测试</a:t>
            </a:r>
            <a:endParaRPr kumimoji="1"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99" y="1406064"/>
            <a:ext cx="7550491" cy="3226448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2209839" y="4818968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5-1</a:t>
            </a:r>
            <a:r>
              <a:rPr lang="zh-CN" altLang="en-US" dirty="0"/>
              <a:t>：时间</a:t>
            </a:r>
            <a:r>
              <a:rPr lang="en-US" altLang="zh-CN" dirty="0"/>
              <a:t>-MQ </a:t>
            </a:r>
            <a:r>
              <a:rPr lang="zh-CN" altLang="en-US" dirty="0"/>
              <a:t>数据积压量关系图 </a:t>
            </a:r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7948892" y="1406064"/>
            <a:ext cx="4032438" cy="3481942"/>
          </a:xfrm>
          <a:prstGeom prst="rect">
            <a:avLst/>
          </a:prstGeom>
          <a:solidFill>
            <a:srgbClr val="ECECEC"/>
          </a:solidFill>
          <a:ln>
            <a:solidFill>
              <a:srgbClr val="6A0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/>
                </a:solidFill>
              </a:rPr>
              <a:t>性能测试环境设置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1.</a:t>
            </a:r>
            <a:r>
              <a:rPr lang="zh-CN" altLang="en-US" sz="1600" dirty="0">
                <a:solidFill>
                  <a:schemeClr val="tx1"/>
                </a:solidFill>
              </a:rPr>
              <a:t>机器数量：共</a:t>
            </a:r>
            <a:r>
              <a:rPr lang="en-US" altLang="zh-CN" sz="1600" dirty="0">
                <a:solidFill>
                  <a:schemeClr val="tx1"/>
                </a:solidFill>
              </a:rPr>
              <a:t>44</a:t>
            </a:r>
            <a:r>
              <a:rPr lang="zh-CN" altLang="en-US" sz="1600" dirty="0">
                <a:solidFill>
                  <a:schemeClr val="tx1"/>
                </a:solidFill>
              </a:rPr>
              <a:t>台，</a:t>
            </a:r>
            <a:r>
              <a:rPr lang="en-US" altLang="zh-CN" sz="1600" dirty="0">
                <a:solidFill>
                  <a:schemeClr val="tx1"/>
                </a:solidFill>
              </a:rPr>
              <a:t>8</a:t>
            </a:r>
            <a:r>
              <a:rPr lang="zh-CN" altLang="en-US" sz="1600" dirty="0">
                <a:solidFill>
                  <a:schemeClr val="tx1"/>
                </a:solidFill>
              </a:rPr>
              <a:t>台部署接入模块，</a:t>
            </a:r>
            <a:r>
              <a:rPr lang="en-US" altLang="zh-CN" sz="1600" dirty="0">
                <a:solidFill>
                  <a:schemeClr val="tx1"/>
                </a:solidFill>
              </a:rPr>
              <a:t>12</a:t>
            </a:r>
            <a:r>
              <a:rPr lang="zh-CN" altLang="en-US" sz="1600" dirty="0">
                <a:solidFill>
                  <a:schemeClr val="tx1"/>
                </a:solidFill>
              </a:rPr>
              <a:t>台部署存储模块，</a:t>
            </a:r>
            <a:r>
              <a:rPr lang="en-US" altLang="zh-CN" sz="1600" dirty="0">
                <a:solidFill>
                  <a:schemeClr val="tx1"/>
                </a:solidFill>
              </a:rPr>
              <a:t>24</a:t>
            </a:r>
            <a:r>
              <a:rPr lang="zh-CN" altLang="en-US" sz="1600" dirty="0">
                <a:solidFill>
                  <a:schemeClr val="tx1"/>
                </a:solidFill>
              </a:rPr>
              <a:t>台部署计算模块。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2.</a:t>
            </a:r>
            <a:r>
              <a:rPr lang="zh-CN" altLang="en-US" sz="1600" dirty="0">
                <a:solidFill>
                  <a:schemeClr val="tx1"/>
                </a:solidFill>
              </a:rPr>
              <a:t>机器配置：机器配置与表</a:t>
            </a:r>
            <a:r>
              <a:rPr lang="en-US" altLang="zh-CN" sz="1600" dirty="0">
                <a:solidFill>
                  <a:schemeClr val="tx1"/>
                </a:solidFill>
              </a:rPr>
              <a:t>5-1</a:t>
            </a:r>
            <a:r>
              <a:rPr lang="zh-CN" altLang="en-US" sz="1600" dirty="0">
                <a:solidFill>
                  <a:schemeClr val="tx1"/>
                </a:solidFill>
              </a:rPr>
              <a:t>测试环境说明表中展示的容器参数一致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性能测试通过数据回溯进行，图</a:t>
            </a:r>
            <a:r>
              <a:rPr lang="en-US" altLang="zh-CN" sz="1600" dirty="0">
                <a:solidFill>
                  <a:schemeClr val="tx1"/>
                </a:solidFill>
              </a:rPr>
              <a:t>5-1</a:t>
            </a:r>
            <a:r>
              <a:rPr lang="zh-CN" altLang="en-US" sz="1600" dirty="0">
                <a:solidFill>
                  <a:schemeClr val="tx1"/>
                </a:solidFill>
              </a:rPr>
              <a:t>展示了回溯</a:t>
            </a:r>
            <a:r>
              <a:rPr lang="en-US" altLang="zh-CN" sz="1600" dirty="0">
                <a:solidFill>
                  <a:schemeClr val="tx1"/>
                </a:solidFill>
              </a:rPr>
              <a:t>MQ</a:t>
            </a:r>
            <a:r>
              <a:rPr lang="zh-CN" altLang="en-US" sz="1600" dirty="0">
                <a:solidFill>
                  <a:schemeClr val="tx1"/>
                </a:solidFill>
              </a:rPr>
              <a:t>的数据积压随时间变化的情况，可以估算出本次测试的系统</a:t>
            </a:r>
            <a:r>
              <a:rPr lang="en-US" altLang="zh-CN" sz="1600" dirty="0">
                <a:solidFill>
                  <a:schemeClr val="tx1"/>
                </a:solidFill>
              </a:rPr>
              <a:t>QPS</a:t>
            </a:r>
            <a:r>
              <a:rPr lang="zh-CN" altLang="en-US" sz="1600" dirty="0">
                <a:solidFill>
                  <a:schemeClr val="tx1"/>
                </a:solidFill>
              </a:rPr>
              <a:t>约为</a:t>
            </a:r>
            <a:r>
              <a:rPr lang="en-US" altLang="zh-CN" sz="1600" dirty="0">
                <a:solidFill>
                  <a:schemeClr val="tx1"/>
                </a:solidFill>
              </a:rPr>
              <a:t>15800</a:t>
            </a:r>
            <a:r>
              <a:rPr lang="zh-CN" altLang="en-US" sz="1600" dirty="0">
                <a:solidFill>
                  <a:schemeClr val="tx1"/>
                </a:solidFill>
              </a:rPr>
              <a:t>。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性能测试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3460377" y="4225657"/>
            <a:ext cx="527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5-3</a:t>
            </a:r>
            <a:r>
              <a:rPr lang="zh-CN" altLang="en-US" dirty="0"/>
              <a:t>：时间</a:t>
            </a:r>
            <a:r>
              <a:rPr lang="en-US" altLang="zh-CN" dirty="0"/>
              <a:t>-</a:t>
            </a:r>
            <a:r>
              <a:rPr lang="zh-CN" altLang="en-US" dirty="0"/>
              <a:t>数据库 </a:t>
            </a:r>
            <a:r>
              <a:rPr lang="en-US" altLang="zh-CN" dirty="0" err="1"/>
              <a:t>cpu.load</a:t>
            </a:r>
            <a:r>
              <a:rPr lang="zh-CN" altLang="en-US" dirty="0"/>
              <a:t>、</a:t>
            </a:r>
            <a:r>
              <a:rPr lang="en-US" altLang="zh-CN" dirty="0" err="1"/>
              <a:t>cpu.idle</a:t>
            </a:r>
            <a:r>
              <a:rPr lang="en-US" altLang="zh-CN" dirty="0"/>
              <a:t> </a:t>
            </a:r>
            <a:r>
              <a:rPr lang="zh-CN" altLang="en-US" dirty="0"/>
              <a:t>关系图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390" y="1828801"/>
            <a:ext cx="10834208" cy="20490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性能测试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3496235" y="5303751"/>
            <a:ext cx="5439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5-4</a:t>
            </a:r>
            <a:r>
              <a:rPr lang="zh-CN" altLang="en-US" dirty="0"/>
              <a:t>：时间</a:t>
            </a:r>
            <a:r>
              <a:rPr lang="en-US" altLang="zh-CN" dirty="0"/>
              <a:t>-</a:t>
            </a:r>
            <a:r>
              <a:rPr lang="zh-CN" altLang="en-US" dirty="0"/>
              <a:t>存储、计算模块机器 </a:t>
            </a:r>
            <a:r>
              <a:rPr lang="en-US" altLang="zh-CN" dirty="0" err="1"/>
              <a:t>cpu.load</a:t>
            </a:r>
            <a:r>
              <a:rPr lang="en-US" altLang="zh-CN" dirty="0"/>
              <a:t> </a:t>
            </a:r>
            <a:r>
              <a:rPr lang="zh-CN" altLang="en-US" dirty="0"/>
              <a:t>关系图  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866" y="1171982"/>
            <a:ext cx="9944720" cy="37654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性能测试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3106271" y="5545302"/>
            <a:ext cx="6031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5-5</a:t>
            </a:r>
            <a:r>
              <a:rPr lang="zh-CN" altLang="en-US" dirty="0"/>
              <a:t>：时间</a:t>
            </a:r>
            <a:r>
              <a:rPr lang="en-US" altLang="zh-CN" dirty="0"/>
              <a:t>-</a:t>
            </a:r>
            <a:r>
              <a:rPr lang="zh-CN" altLang="en-US" dirty="0"/>
              <a:t>存储、计算模块机器 </a:t>
            </a:r>
            <a:r>
              <a:rPr lang="en-US" altLang="zh-CN" dirty="0"/>
              <a:t>JVM </a:t>
            </a:r>
            <a:r>
              <a:rPr lang="zh-CN" altLang="en-US" dirty="0"/>
              <a:t>内存率使用关系图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69" y="1232477"/>
            <a:ext cx="10497462" cy="40397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性能测试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3287806" y="906067"/>
            <a:ext cx="6031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表</a:t>
            </a:r>
            <a:r>
              <a:rPr lang="en-US" altLang="zh-CN" dirty="0"/>
              <a:t>5-10</a:t>
            </a:r>
            <a:r>
              <a:rPr lang="zh-CN" altLang="en-US" dirty="0"/>
              <a:t>：实时计算性能表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472452" y="1492872"/>
          <a:ext cx="9554136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8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8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8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系统吞吐量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计算耗时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处理耗时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周转耗时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总 </a:t>
                      </a:r>
                      <a:r>
                        <a:rPr lang="en-US" altLang="zh-CN" dirty="0"/>
                        <a:t>QPS</a:t>
                      </a:r>
                      <a:r>
                        <a:rPr lang="zh-CN" altLang="en-US" dirty="0"/>
                        <a:t>：</a:t>
                      </a:r>
                      <a:r>
                        <a:rPr lang="en-US" altLang="zh-CN" dirty="0"/>
                        <a:t>15k </a:t>
                      </a:r>
                    </a:p>
                    <a:p>
                      <a:pPr algn="ctr"/>
                      <a:r>
                        <a:rPr lang="zh-CN" altLang="en-US" dirty="0"/>
                        <a:t>单计算节点 </a:t>
                      </a:r>
                      <a:r>
                        <a:rPr lang="en-US" altLang="zh-CN" dirty="0"/>
                        <a:t>QPS</a:t>
                      </a:r>
                      <a:r>
                        <a:rPr lang="zh-CN" altLang="en-US" dirty="0"/>
                        <a:t>：</a:t>
                      </a:r>
                      <a:r>
                        <a:rPr lang="en-US" altLang="zh-CN" dirty="0"/>
                        <a:t>650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600ms/</a:t>
                      </a:r>
                      <a:r>
                        <a:rPr lang="zh-CN" altLang="en-US" dirty="0"/>
                        <a:t>中间 </a:t>
                      </a:r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11s/</a:t>
                      </a:r>
                      <a:r>
                        <a:rPr lang="zh-CN" altLang="en-US" dirty="0"/>
                        <a:t>最终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15s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98s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311088" y="3523378"/>
          <a:ext cx="9930653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2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59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48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65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45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系统吞吐量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CPU </a:t>
                      </a:r>
                      <a:r>
                        <a:rPr lang="zh-CN" altLang="en-US" dirty="0"/>
                        <a:t>使用率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DB </a:t>
                      </a:r>
                      <a:r>
                        <a:rPr lang="zh-CN" altLang="en-US" dirty="0"/>
                        <a:t>读写频率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计算耗时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处理耗时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周转耗时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总 </a:t>
                      </a:r>
                      <a:r>
                        <a:rPr lang="en-US" altLang="zh-CN" dirty="0"/>
                        <a:t>QPS</a:t>
                      </a:r>
                      <a:r>
                        <a:rPr lang="zh-CN" altLang="en-US" dirty="0"/>
                        <a:t>（均值）：</a:t>
                      </a:r>
                      <a:r>
                        <a:rPr lang="en-US" altLang="zh-CN" dirty="0"/>
                        <a:t>15k</a:t>
                      </a:r>
                    </a:p>
                    <a:p>
                      <a:pPr algn="ctr"/>
                      <a:r>
                        <a:rPr lang="zh-CN" altLang="en-US" dirty="0"/>
                        <a:t>单节点 </a:t>
                      </a:r>
                      <a:r>
                        <a:rPr lang="en-US" altLang="zh-CN" dirty="0"/>
                        <a:t>QPS</a:t>
                      </a:r>
                      <a:r>
                        <a:rPr lang="zh-CN" altLang="en-US" dirty="0"/>
                        <a:t>（均值）：</a:t>
                      </a:r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7.36% 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读：</a:t>
                      </a:r>
                      <a:r>
                        <a:rPr lang="en-US" altLang="zh-CN" dirty="0"/>
                        <a:t>2569 </a:t>
                      </a:r>
                      <a:r>
                        <a:rPr lang="zh-CN" altLang="en-US" dirty="0"/>
                        <a:t>次</a:t>
                      </a:r>
                      <a:r>
                        <a:rPr lang="en-US" altLang="zh-CN" dirty="0"/>
                        <a:t>/s </a:t>
                      </a:r>
                    </a:p>
                    <a:p>
                      <a:pPr algn="ctr"/>
                      <a:r>
                        <a:rPr lang="zh-CN" altLang="en-US" dirty="0"/>
                        <a:t>写：</a:t>
                      </a:r>
                      <a:r>
                        <a:rPr lang="en-US" altLang="zh-CN" dirty="0"/>
                        <a:t>8928 </a:t>
                      </a:r>
                      <a:r>
                        <a:rPr lang="zh-CN" altLang="en-US" dirty="0"/>
                        <a:t>次</a:t>
                      </a:r>
                      <a:r>
                        <a:rPr lang="en-US" altLang="zh-CN" dirty="0"/>
                        <a:t>/s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420ms/</a:t>
                      </a:r>
                      <a:r>
                        <a:rPr lang="zh-CN" altLang="en-US" dirty="0"/>
                        <a:t>中间 </a:t>
                      </a:r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8s/</a:t>
                      </a:r>
                      <a:r>
                        <a:rPr lang="zh-CN" altLang="en-US" dirty="0"/>
                        <a:t>最终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45s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总 </a:t>
                      </a:r>
                      <a:r>
                        <a:rPr lang="en-US" altLang="zh-CN" dirty="0"/>
                        <a:t>QPS</a:t>
                      </a:r>
                      <a:r>
                        <a:rPr lang="zh-CN" altLang="en-US" dirty="0"/>
                        <a:t>（峰值）：</a:t>
                      </a:r>
                      <a:r>
                        <a:rPr lang="en-US" altLang="zh-CN" dirty="0"/>
                        <a:t>60k</a:t>
                      </a:r>
                    </a:p>
                    <a:p>
                      <a:pPr algn="ctr"/>
                      <a:r>
                        <a:rPr lang="zh-CN" altLang="en-US" dirty="0"/>
                        <a:t>单节点 </a:t>
                      </a:r>
                      <a:r>
                        <a:rPr lang="en-US" altLang="zh-CN" dirty="0"/>
                        <a:t>QPS</a:t>
                      </a:r>
                      <a:r>
                        <a:rPr lang="zh-CN" altLang="en-US" dirty="0"/>
                        <a:t>（峰值）：</a:t>
                      </a:r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15.39%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读：</a:t>
                      </a:r>
                      <a:r>
                        <a:rPr lang="en-US" altLang="zh-CN" dirty="0"/>
                        <a:t>7760 </a:t>
                      </a:r>
                      <a:r>
                        <a:rPr lang="zh-CN" altLang="en-US" dirty="0"/>
                        <a:t>次</a:t>
                      </a:r>
                      <a:r>
                        <a:rPr lang="en-US" altLang="zh-CN" dirty="0"/>
                        <a:t>/s </a:t>
                      </a:r>
                    </a:p>
                    <a:p>
                      <a:pPr algn="ctr"/>
                      <a:r>
                        <a:rPr lang="zh-CN" altLang="en-US" dirty="0"/>
                        <a:t>写：</a:t>
                      </a:r>
                      <a:r>
                        <a:rPr lang="en-US" altLang="zh-CN" dirty="0"/>
                        <a:t>27200 </a:t>
                      </a:r>
                      <a:r>
                        <a:rPr lang="zh-CN" altLang="en-US" dirty="0"/>
                        <a:t>次</a:t>
                      </a:r>
                      <a:r>
                        <a:rPr lang="en-US" altLang="zh-CN" dirty="0"/>
                        <a:t>/s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560ms/</a:t>
                      </a:r>
                      <a:r>
                        <a:rPr lang="zh-CN" altLang="en-US" dirty="0"/>
                        <a:t>中间 </a:t>
                      </a:r>
                      <a:r>
                        <a:rPr lang="en-US" altLang="zh-CN" dirty="0"/>
                        <a:t>11s/</a:t>
                      </a:r>
                      <a:r>
                        <a:rPr lang="zh-CN" altLang="en-US" dirty="0"/>
                        <a:t>最终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14s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80s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3287806" y="2985200"/>
            <a:ext cx="6031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表</a:t>
            </a:r>
            <a:r>
              <a:rPr lang="en-US" altLang="zh-CN" dirty="0"/>
              <a:t>5-11</a:t>
            </a:r>
            <a:r>
              <a:rPr lang="zh-CN" altLang="en-US" dirty="0"/>
              <a:t>：生产环境性能表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fld id="{51D91E7F-84B6-4064-9D4E-CC7D244BCA04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29338"/>
            <a:ext cx="10834208" cy="52197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总结</a:t>
            </a:r>
            <a:endParaRPr kumimoji="1" lang="zh-CN" altLang="en-US" dirty="0"/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1701053" y="1781735"/>
            <a:ext cx="8996081" cy="3664324"/>
          </a:xfrm>
          <a:prstGeom prst="rect">
            <a:avLst/>
          </a:prstGeom>
          <a:solidFill>
            <a:srgbClr val="ECECEC"/>
          </a:solidFill>
          <a:ln>
            <a:solidFill>
              <a:srgbClr val="6A0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tx1"/>
                </a:solidFill>
              </a:rPr>
              <a:t>应用效果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实时计算平台能够承载美团餐饮 </a:t>
            </a:r>
            <a:r>
              <a:rPr lang="en-US" altLang="zh-CN" sz="1600" dirty="0">
                <a:solidFill>
                  <a:schemeClr val="tx1"/>
                </a:solidFill>
              </a:rPr>
              <a:t>SaaS </a:t>
            </a:r>
            <a:r>
              <a:rPr lang="zh-CN" altLang="en-US" sz="1600" dirty="0">
                <a:solidFill>
                  <a:schemeClr val="tx1"/>
                </a:solidFill>
              </a:rPr>
              <a:t>部研发的美团餐饮系统全部版本、全部业务的数据实时生产，支撑下游报表系统多种报表的生成。同时满足了餐饮商户对于实时数据报表的准确性、时效性的需求，简化了使用该系统进行数据开发的数据开发人员的工作。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tx1"/>
                </a:solidFill>
              </a:rPr>
              <a:t>展望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1.</a:t>
            </a:r>
            <a:r>
              <a:rPr lang="zh-CN" altLang="en-US" sz="1600" dirty="0">
                <a:solidFill>
                  <a:schemeClr val="tx1"/>
                </a:solidFill>
              </a:rPr>
              <a:t>探索服务无状态化方案。提高实时计算平台的可扩展性。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2.</a:t>
            </a:r>
            <a:r>
              <a:rPr lang="zh-CN" altLang="en-US" sz="1600" dirty="0">
                <a:solidFill>
                  <a:schemeClr val="tx1"/>
                </a:solidFill>
              </a:rPr>
              <a:t>探索更细粒度的流量隔离方案。提高实时计算的性能以及系统的稳定性，避免流量倾斜。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031"/>
  <p:tag name="MH_LIBRARY" val="GRAPHIC"/>
  <p:tag name="MH_ORDER" val="文本框 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031"/>
  <p:tag name="MH_LIBRARY" val="GRAPHIC"/>
  <p:tag name="MH_ORDER" val="文本框 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031"/>
  <p:tag name="MH_LIBRARY" val="GRAPHIC"/>
  <p:tag name="MH_ORDER" val="Straight Connector 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031"/>
  <p:tag name="MH_LIBRARY" val="GRAPHIC"/>
  <p:tag name="MH_ORDER" val="文本框 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031"/>
  <p:tag name="MH_LIBRARY" val="GRAPHIC"/>
  <p:tag name="MH_ORDER" val="文本框 1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031"/>
  <p:tag name="MH_LIBRARY" val="GRAPHIC"/>
  <p:tag name="MH_ORDER" val="Straight Connector 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031"/>
  <p:tag name="MH_LIBRARY" val="GRAPHIC"/>
  <p:tag name="MH_ORDER" val="文本框 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031"/>
  <p:tag name="MH_LIBRARY" val="GRAPHIC"/>
  <p:tag name="MH_ORDER" val="文本框 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031"/>
  <p:tag name="MH_LIBRARY" val="GRAPHIC"/>
  <p:tag name="MH_ORDER" val="Straight Connector 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031"/>
  <p:tag name="MH_LIBRARY" val="GRAPHIC"/>
  <p:tag name="MH_ORDER" val="文本框 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031"/>
  <p:tag name="MH_LIBRARY" val="GRAPHIC"/>
  <p:tag name="MH_ORDER" val="文本框 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031"/>
  <p:tag name="MH_LIBRARY" val="GRAPHIC"/>
  <p:tag name="MH_ORDER" val="Straight Connector 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031"/>
  <p:tag name="MH_LIBRARY" val="GRAPHIC"/>
  <p:tag name="MH_ORDER" val="文本框 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031"/>
  <p:tag name="MH_LIBRARY" val="GRAPHIC"/>
  <p:tag name="MH_ORDER" val="文本框 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031"/>
  <p:tag name="MH_LIBRARY" val="GRAPHIC"/>
  <p:tag name="MH_ORDER" val="Straight Connector 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1403</Words>
  <Application>Microsoft Office PowerPoint</Application>
  <PresentationFormat>宽屏</PresentationFormat>
  <Paragraphs>236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3" baseType="lpstr">
      <vt:lpstr>等线</vt:lpstr>
      <vt:lpstr>黑体</vt:lpstr>
      <vt:lpstr>宋体</vt:lpstr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Fang</dc:creator>
  <cp:lastModifiedBy>Jihua Zhang</cp:lastModifiedBy>
  <cp:revision>39</cp:revision>
  <dcterms:created xsi:type="dcterms:W3CDTF">2024-03-31T07:17:00Z</dcterms:created>
  <dcterms:modified xsi:type="dcterms:W3CDTF">2026-04-04T09:24:16Z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B2588779497C7BA0160E09660AF6FDF4_43</vt:lpwstr>
  </property>
</Properties>
</file>