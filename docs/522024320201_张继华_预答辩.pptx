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handoutMasterIdLst>
    <p:handoutMasterId r:id="rId34"/>
  </p:handoutMasterIdLst>
  <p:sldIdLst>
    <p:sldId id="257" r:id="rId2"/>
    <p:sldId id="284" r:id="rId3"/>
    <p:sldId id="299" r:id="rId4"/>
    <p:sldId id="308" r:id="rId5"/>
    <p:sldId id="337" r:id="rId6"/>
    <p:sldId id="318" r:id="rId7"/>
    <p:sldId id="324" r:id="rId8"/>
    <p:sldId id="319" r:id="rId9"/>
    <p:sldId id="326" r:id="rId10"/>
    <p:sldId id="264" r:id="rId11"/>
    <p:sldId id="327" r:id="rId12"/>
    <p:sldId id="338" r:id="rId13"/>
    <p:sldId id="330" r:id="rId14"/>
    <p:sldId id="328" r:id="rId15"/>
    <p:sldId id="329" r:id="rId16"/>
    <p:sldId id="331" r:id="rId17"/>
    <p:sldId id="332" r:id="rId18"/>
    <p:sldId id="310" r:id="rId19"/>
    <p:sldId id="339" r:id="rId20"/>
    <p:sldId id="325" r:id="rId21"/>
    <p:sldId id="334" r:id="rId22"/>
    <p:sldId id="333" r:id="rId23"/>
    <p:sldId id="335" r:id="rId24"/>
    <p:sldId id="336" r:id="rId25"/>
    <p:sldId id="340" r:id="rId26"/>
    <p:sldId id="341" r:id="rId27"/>
    <p:sldId id="312" r:id="rId28"/>
    <p:sldId id="314" r:id="rId29"/>
    <p:sldId id="315" r:id="rId30"/>
    <p:sldId id="317" r:id="rId31"/>
    <p:sldId id="259" r:id="rId32"/>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7" userDrawn="1">
          <p15:clr>
            <a:srgbClr val="A4A3A4"/>
          </p15:clr>
        </p15:guide>
        <p15:guide id="2" pos="380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70078"/>
    <a:srgbClr val="FFFFFF"/>
    <a:srgbClr val="B2B2B2"/>
    <a:srgbClr val="202020"/>
    <a:srgbClr val="323232"/>
    <a:srgbClr val="CC3300"/>
    <a:srgbClr val="CC0000"/>
    <a:srgbClr val="FF3300"/>
    <a:srgbClr val="990000"/>
    <a:srgbClr val="FF8D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75" autoAdjust="0"/>
    <p:restoredTop sz="86374"/>
  </p:normalViewPr>
  <p:slideViewPr>
    <p:cSldViewPr snapToGrid="0" showGuides="1">
      <p:cViewPr varScale="1">
        <p:scale>
          <a:sx n="107" d="100"/>
          <a:sy n="107" d="100"/>
        </p:scale>
        <p:origin x="1003" y="62"/>
      </p:cViewPr>
      <p:guideLst>
        <p:guide orient="horz" pos="2187"/>
        <p:guide pos="3806"/>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2026/4/4</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2026/4/4</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9D0D742A-9E91-468C-B0BA-D6E0DC13568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设计与实现部分</a:t>
            </a:r>
          </a:p>
        </p:txBody>
      </p:sp>
      <p:sp>
        <p:nvSpPr>
          <p:cNvPr id="4" name="灯片编号占位符 3"/>
          <p:cNvSpPr>
            <a:spLocks noGrp="1"/>
          </p:cNvSpPr>
          <p:nvPr>
            <p:ph type="sldNum" sz="quarter" idx="5"/>
          </p:nvPr>
        </p:nvSpPr>
        <p:spPr/>
        <p:txBody>
          <a:bodyPr/>
          <a:lstStyle/>
          <a:p>
            <a:fld id="{7A7EAD02-4DC5-414D-B5AD-36725E286971}" type="slidenum">
              <a:rPr lang="zh-CN" altLang="en-US" smtClean="0"/>
              <a:t>3</a:t>
            </a:fld>
            <a:endParaRPr lang="zh-CN" altLang="en-US"/>
          </a:p>
        </p:txBody>
      </p:sp>
    </p:spTree>
    <p:extLst>
      <p:ext uri="{BB962C8B-B14F-4D97-AF65-F5344CB8AC3E}">
        <p14:creationId xmlns:p14="http://schemas.microsoft.com/office/powerpoint/2010/main" val="4112789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0" dirty="0">
              <a:solidFill>
                <a:schemeClr val="tx1"/>
              </a:solidFill>
            </a:endParaRPr>
          </a:p>
        </p:txBody>
      </p:sp>
      <p:sp>
        <p:nvSpPr>
          <p:cNvPr id="4" name="灯片编号占位符 3"/>
          <p:cNvSpPr>
            <a:spLocks noGrp="1"/>
          </p:cNvSpPr>
          <p:nvPr>
            <p:ph type="sldNum" sz="quarter" idx="5"/>
          </p:nvPr>
        </p:nvSpPr>
        <p:spPr/>
        <p:txBody>
          <a:bodyPr/>
          <a:lstStyle/>
          <a:p>
            <a:fld id="{85D0DACE-38E0-42D2-9336-2B707D34BC6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BB36E-0E18-CB79-D6CF-F0F5927CF8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F6ECF3-F2C9-9435-6B41-A52C550D22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3436E4-7157-4CB5-98B1-E2568772D7E1}"/>
              </a:ext>
            </a:extLst>
          </p:cNvPr>
          <p:cNvSpPr>
            <a:spLocks noGrp="1"/>
          </p:cNvSpPr>
          <p:nvPr>
            <p:ph type="body" idx="1"/>
          </p:nvPr>
        </p:nvSpPr>
        <p:spPr/>
        <p:txBody>
          <a:bodyPr/>
          <a:lstStyle/>
          <a:p>
            <a:r>
              <a:rPr kumimoji="1" lang="zh-CN" altLang="en-US" dirty="0"/>
              <a:t>设计与实现部分</a:t>
            </a:r>
          </a:p>
        </p:txBody>
      </p:sp>
      <p:sp>
        <p:nvSpPr>
          <p:cNvPr id="4" name="灯片编号占位符 3">
            <a:extLst>
              <a:ext uri="{FF2B5EF4-FFF2-40B4-BE49-F238E27FC236}">
                <a16:creationId xmlns:a16="http://schemas.microsoft.com/office/drawing/2014/main" id="{7FD7B911-CE86-CA19-BE28-425235B4CC41}"/>
              </a:ext>
            </a:extLst>
          </p:cNvPr>
          <p:cNvSpPr>
            <a:spLocks noGrp="1"/>
          </p:cNvSpPr>
          <p:nvPr>
            <p:ph type="sldNum" sz="quarter" idx="5"/>
          </p:nvPr>
        </p:nvSpPr>
        <p:spPr/>
        <p:txBody>
          <a:bodyPr/>
          <a:lstStyle/>
          <a:p>
            <a:fld id="{7A7EAD02-4DC5-414D-B5AD-36725E286971}" type="slidenum">
              <a:rPr lang="zh-CN" altLang="en-US" smtClean="0"/>
              <a:t>5</a:t>
            </a:fld>
            <a:endParaRPr lang="zh-CN" altLang="en-US"/>
          </a:p>
        </p:txBody>
      </p:sp>
    </p:spTree>
    <p:extLst>
      <p:ext uri="{BB962C8B-B14F-4D97-AF65-F5344CB8AC3E}">
        <p14:creationId xmlns:p14="http://schemas.microsoft.com/office/powerpoint/2010/main" val="907932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7</a:t>
            </a:fld>
            <a:endParaRPr lang="zh-CN" altLang="en-US"/>
          </a:p>
        </p:txBody>
      </p:sp>
    </p:spTree>
    <p:extLst>
      <p:ext uri="{BB962C8B-B14F-4D97-AF65-F5344CB8AC3E}">
        <p14:creationId xmlns:p14="http://schemas.microsoft.com/office/powerpoint/2010/main" val="2123843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9</a:t>
            </a:fld>
            <a:endParaRPr lang="zh-CN" altLang="en-US"/>
          </a:p>
        </p:txBody>
      </p:sp>
    </p:spTree>
    <p:extLst>
      <p:ext uri="{BB962C8B-B14F-4D97-AF65-F5344CB8AC3E}">
        <p14:creationId xmlns:p14="http://schemas.microsoft.com/office/powerpoint/2010/main" val="1021563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1F49C-8ECD-D089-A5E3-E2B533F29A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C793B6-D3DA-4C3E-FEC9-820009A2B6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D06214-46BB-04D9-78BA-C354526A3C68}"/>
              </a:ext>
            </a:extLst>
          </p:cNvPr>
          <p:cNvSpPr>
            <a:spLocks noGrp="1"/>
          </p:cNvSpPr>
          <p:nvPr>
            <p:ph type="body" idx="1"/>
          </p:nvPr>
        </p:nvSpPr>
        <p:spPr/>
        <p:txBody>
          <a:bodyPr/>
          <a:lstStyle/>
          <a:p>
            <a:r>
              <a:rPr kumimoji="1" lang="zh-CN" altLang="en-US" dirty="0"/>
              <a:t>设计与实现部分</a:t>
            </a:r>
          </a:p>
        </p:txBody>
      </p:sp>
      <p:sp>
        <p:nvSpPr>
          <p:cNvPr id="4" name="灯片编号占位符 3">
            <a:extLst>
              <a:ext uri="{FF2B5EF4-FFF2-40B4-BE49-F238E27FC236}">
                <a16:creationId xmlns:a16="http://schemas.microsoft.com/office/drawing/2014/main" id="{374169B5-4A55-C050-5D38-E73EBE864191}"/>
              </a:ext>
            </a:extLst>
          </p:cNvPr>
          <p:cNvSpPr>
            <a:spLocks noGrp="1"/>
          </p:cNvSpPr>
          <p:nvPr>
            <p:ph type="sldNum" sz="quarter" idx="5"/>
          </p:nvPr>
        </p:nvSpPr>
        <p:spPr/>
        <p:txBody>
          <a:bodyPr/>
          <a:lstStyle/>
          <a:p>
            <a:fld id="{7A7EAD02-4DC5-414D-B5AD-36725E286971}" type="slidenum">
              <a:rPr lang="zh-CN" altLang="en-US" smtClean="0"/>
              <a:t>12</a:t>
            </a:fld>
            <a:endParaRPr lang="zh-CN" altLang="en-US"/>
          </a:p>
        </p:txBody>
      </p:sp>
    </p:spTree>
    <p:extLst>
      <p:ext uri="{BB962C8B-B14F-4D97-AF65-F5344CB8AC3E}">
        <p14:creationId xmlns:p14="http://schemas.microsoft.com/office/powerpoint/2010/main" val="1274485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18</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FDB9F-DDDB-085C-FA46-ADC8056122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F13A5E-E9E9-8248-3B79-0D5278028A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3082A0-2408-A9A2-0186-9D6D5102998C}"/>
              </a:ext>
            </a:extLst>
          </p:cNvPr>
          <p:cNvSpPr>
            <a:spLocks noGrp="1"/>
          </p:cNvSpPr>
          <p:nvPr>
            <p:ph type="body" idx="1"/>
          </p:nvPr>
        </p:nvSpPr>
        <p:spPr/>
        <p:txBody>
          <a:bodyPr/>
          <a:lstStyle/>
          <a:p>
            <a:r>
              <a:rPr kumimoji="1" lang="zh-CN" altLang="en-US" dirty="0"/>
              <a:t>设计与实现部分</a:t>
            </a:r>
          </a:p>
        </p:txBody>
      </p:sp>
      <p:sp>
        <p:nvSpPr>
          <p:cNvPr id="4" name="灯片编号占位符 3">
            <a:extLst>
              <a:ext uri="{FF2B5EF4-FFF2-40B4-BE49-F238E27FC236}">
                <a16:creationId xmlns:a16="http://schemas.microsoft.com/office/drawing/2014/main" id="{56C1B2FB-ECFE-6068-F6B6-15467E837EA1}"/>
              </a:ext>
            </a:extLst>
          </p:cNvPr>
          <p:cNvSpPr>
            <a:spLocks noGrp="1"/>
          </p:cNvSpPr>
          <p:nvPr>
            <p:ph type="sldNum" sz="quarter" idx="5"/>
          </p:nvPr>
        </p:nvSpPr>
        <p:spPr/>
        <p:txBody>
          <a:bodyPr/>
          <a:lstStyle/>
          <a:p>
            <a:fld id="{7A7EAD02-4DC5-414D-B5AD-36725E286971}" type="slidenum">
              <a:rPr lang="zh-CN" altLang="en-US" smtClean="0"/>
              <a:t>19</a:t>
            </a:fld>
            <a:endParaRPr lang="zh-CN" altLang="en-US"/>
          </a:p>
        </p:txBody>
      </p:sp>
    </p:spTree>
    <p:extLst>
      <p:ext uri="{BB962C8B-B14F-4D97-AF65-F5344CB8AC3E}">
        <p14:creationId xmlns:p14="http://schemas.microsoft.com/office/powerpoint/2010/main" val="1769977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11DD1-1142-FF4D-76DA-ABDA0EEE47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B8194D-0902-97E4-3B86-580EB4178B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AA406F-84A0-09D8-788D-37E139CA3F29}"/>
              </a:ext>
            </a:extLst>
          </p:cNvPr>
          <p:cNvSpPr>
            <a:spLocks noGrp="1"/>
          </p:cNvSpPr>
          <p:nvPr>
            <p:ph type="body" idx="1"/>
          </p:nvPr>
        </p:nvSpPr>
        <p:spPr/>
        <p:txBody>
          <a:bodyPr/>
          <a:lstStyle/>
          <a:p>
            <a:r>
              <a:rPr kumimoji="1" lang="zh-CN" altLang="en-US" dirty="0"/>
              <a:t>设计与实现部分</a:t>
            </a:r>
          </a:p>
        </p:txBody>
      </p:sp>
      <p:sp>
        <p:nvSpPr>
          <p:cNvPr id="4" name="灯片编号占位符 3">
            <a:extLst>
              <a:ext uri="{FF2B5EF4-FFF2-40B4-BE49-F238E27FC236}">
                <a16:creationId xmlns:a16="http://schemas.microsoft.com/office/drawing/2014/main" id="{FC6438DF-C2BD-D632-DA42-ECFDB21E5316}"/>
              </a:ext>
            </a:extLst>
          </p:cNvPr>
          <p:cNvSpPr>
            <a:spLocks noGrp="1"/>
          </p:cNvSpPr>
          <p:nvPr>
            <p:ph type="sldNum" sz="quarter" idx="5"/>
          </p:nvPr>
        </p:nvSpPr>
        <p:spPr/>
        <p:txBody>
          <a:bodyPr/>
          <a:lstStyle/>
          <a:p>
            <a:fld id="{7A7EAD02-4DC5-414D-B5AD-36725E286971}" type="slidenum">
              <a:rPr lang="zh-CN" altLang="en-US" smtClean="0"/>
              <a:t>25</a:t>
            </a:fld>
            <a:endParaRPr lang="zh-CN" altLang="en-US"/>
          </a:p>
        </p:txBody>
      </p:sp>
    </p:spTree>
    <p:extLst>
      <p:ext uri="{BB962C8B-B14F-4D97-AF65-F5344CB8AC3E}">
        <p14:creationId xmlns:p14="http://schemas.microsoft.com/office/powerpoint/2010/main" val="992893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E4807-9567-D064-9698-998220C915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EC1B32-A903-140F-792E-9410C3579ECF}"/>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7E9ED3D-9A73-D15D-BA5A-A39E0BBD2E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a:extLst>
              <a:ext uri="{FF2B5EF4-FFF2-40B4-BE49-F238E27FC236}">
                <a16:creationId xmlns:a16="http://schemas.microsoft.com/office/drawing/2014/main" id="{300FFA7A-2A0C-8D81-89EA-856C81AFB951}"/>
              </a:ext>
            </a:extLst>
          </p:cNvPr>
          <p:cNvSpPr>
            <a:spLocks noGrp="1"/>
          </p:cNvSpPr>
          <p:nvPr>
            <p:ph type="sldNum" sz="quarter" idx="5"/>
          </p:nvPr>
        </p:nvSpPr>
        <p:spPr/>
        <p:txBody>
          <a:bodyPr/>
          <a:lstStyle/>
          <a:p>
            <a:fld id="{85D0DACE-38E0-42D2-9336-2B707D34BC6D}" type="slidenum">
              <a:rPr lang="zh-CN" altLang="en-US" smtClean="0"/>
              <a:t>26</a:t>
            </a:fld>
            <a:endParaRPr lang="zh-CN" altLang="en-US"/>
          </a:p>
        </p:txBody>
      </p:sp>
    </p:spTree>
    <p:extLst>
      <p:ext uri="{BB962C8B-B14F-4D97-AF65-F5344CB8AC3E}">
        <p14:creationId xmlns:p14="http://schemas.microsoft.com/office/powerpoint/2010/main" val="1313071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27</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28</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29</a:t>
            </a:fld>
            <a:endParaRPr lang="zh-CN" altLang="en-US"/>
          </a:p>
        </p:txBody>
      </p:sp>
    </p:spTree>
    <p:extLst>
      <p:ext uri="{BB962C8B-B14F-4D97-AF65-F5344CB8AC3E}">
        <p14:creationId xmlns:p14="http://schemas.microsoft.com/office/powerpoint/2010/main" val="11115737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1D6BF384-2131-4261-8852-16AD67A1D3BA}" type="datetime1">
              <a:rPr lang="zh-CN" altLang="en-US" smtClean="0"/>
              <a:t>2026/4/5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5566D5A8-B853-4D5C-BC79-49888D31E9CB}" type="datetime1">
              <a:rPr lang="zh-CN" altLang="en-US" smtClean="0"/>
              <a:t>2026/4/5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058F99AB-7763-4874-A7C4-F52B807A58E2}" type="datetime1">
              <a:rPr lang="zh-CN" altLang="en-US" smtClean="0"/>
              <a:t>2026/4/5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DD44B907-7164-4AA4-B855-102E540E104F}" type="datetime1">
              <a:rPr lang="zh-CN" altLang="en-US" smtClean="0"/>
              <a:t>2026/4/5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1DD7BB3E-BB98-4838-8A06-573E5D1F6D67}" type="datetime1">
              <a:rPr lang="zh-CN" altLang="en-US" smtClean="0"/>
              <a:t>2026/4/5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2CAA3E53-6679-4440-90E5-54634E5CEC5D}" type="datetime1">
              <a:rPr lang="zh-CN" altLang="en-US" smtClean="0"/>
              <a:t>2026/4/5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540FE58-6264-408A-BF41-97FE7044882D}" type="datetime1">
              <a:rPr lang="zh-CN" altLang="en-US" smtClean="0"/>
              <a:t>2026/4/5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A79C0C9E-4E9E-44E1-8418-EFBDB1BC1470}" type="datetime1">
              <a:rPr lang="zh-CN" altLang="en-US" smtClean="0"/>
              <a:t>2026/4/5</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a:xfrm>
            <a:off x="11016613" y="6355015"/>
            <a:ext cx="460248" cy="451355"/>
          </a:xfrm>
          <a:prstGeom prst="rect">
            <a:avLst/>
          </a:prstGeom>
        </p:spPr>
        <p:txBody>
          <a:bodyPr/>
          <a:lstStyle/>
          <a:p>
            <a:fld id="{FABC47A4-756D-490B-A52F-7D9E2C9FC05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6549BD08-13C4-4050-A2C5-7B25B3358C18}" type="datetime1">
              <a:rPr lang="zh-CN" altLang="en-US" smtClean="0"/>
              <a:t>2026/4/5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03EC4375-C1B8-4F0A-ABA0-C72BF26C219A}" type="datetime1">
              <a:rPr lang="zh-CN" altLang="en-US" smtClean="0"/>
              <a:t>2026/4/5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a:xfrm>
            <a:off x="11016613" y="6355015"/>
            <a:ext cx="460248" cy="451355"/>
          </a:xfrm>
          <a:prstGeom prst="rect">
            <a:avLst/>
          </a:prstGeo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endParaRPr lang="zh-CN" altLang="en-US" dirty="0"/>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endParaRPr lang="zh-CN" altLang="en-US" dirty="0"/>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328713"/>
            <a:ext cx="10834208" cy="523220"/>
          </a:xfrm>
        </p:spPr>
        <p:txBody>
          <a:bodyPr wrap="square" anchor="ctr" anchorCtr="0">
            <a:spAutoFit/>
          </a:bodyPr>
          <a:lstStyle>
            <a:lvl1pPr marL="0" indent="0">
              <a:lnSpc>
                <a:spcPct val="100000"/>
              </a:lnSpc>
              <a:spcBef>
                <a:spcPts val="0"/>
              </a:spcBef>
              <a:buNone/>
              <a:defRPr b="1" i="0" baseline="0"/>
            </a:lvl1pPr>
          </a:lstStyle>
          <a:p>
            <a:pPr lvl="0"/>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0769" y="6406643"/>
            <a:ext cx="1147156" cy="36576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3528631" y="2828835"/>
            <a:ext cx="5134739" cy="1569660"/>
          </a:xfrm>
          <a:prstGeom prst="rect">
            <a:avLst/>
          </a:prstGeom>
          <a:noFill/>
        </p:spPr>
        <p:txBody>
          <a:bodyPr wrap="none" rtlCol="0">
            <a:spAutoFit/>
          </a:bodyPr>
          <a:lstStyle/>
          <a:p>
            <a:pPr algn="ctr"/>
            <a:r>
              <a:rPr lang="zh-CN" altLang="en-US" sz="4800" b="1" dirty="0">
                <a:solidFill>
                  <a:srgbClr val="6A005F"/>
                </a:solidFill>
              </a:rPr>
              <a:t>感谢各位老师垂听</a:t>
            </a:r>
            <a:br>
              <a:rPr lang="en-US" altLang="zh-CN" sz="4800" b="1" dirty="0">
                <a:solidFill>
                  <a:srgbClr val="6A005F"/>
                </a:solidFill>
              </a:rPr>
            </a:br>
            <a:r>
              <a:rPr lang="zh-CN" altLang="en-US" sz="4800" b="1" dirty="0">
                <a:solidFill>
                  <a:srgbClr val="6A005F"/>
                </a:solidFill>
              </a:rPr>
              <a:t>请老师批评指正</a:t>
            </a:r>
          </a:p>
        </p:txBody>
      </p:sp>
      <p:grpSp>
        <p:nvGrpSpPr>
          <p:cNvPr id="2" name="组合 1">
            <a:extLst>
              <a:ext uri="{FF2B5EF4-FFF2-40B4-BE49-F238E27FC236}">
                <a16:creationId xmlns:a16="http://schemas.microsoft.com/office/drawing/2014/main" id="{54B9423F-C167-1774-CB1B-3A1A8B9CDFA8}"/>
              </a:ext>
            </a:extLst>
          </p:cNvPr>
          <p:cNvGrpSpPr/>
          <p:nvPr userDrawn="1"/>
        </p:nvGrpSpPr>
        <p:grpSpPr>
          <a:xfrm>
            <a:off x="3823283" y="5937087"/>
            <a:ext cx="4545427" cy="724001"/>
            <a:chOff x="3961027" y="5943183"/>
            <a:chExt cx="4545427" cy="724001"/>
          </a:xfrm>
        </p:grpSpPr>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877187" y="5943183"/>
              <a:ext cx="2629267" cy="724001"/>
            </a:xfrm>
            <a:prstGeom prst="rect">
              <a:avLst/>
            </a:prstGeom>
          </p:spPr>
        </p:pic>
      </p:grpSp>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endParaRPr lang="zh-CN" altLang="en-US" dirty="0"/>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B5156480-3C65-45B2-92B6-461BE7863C6E}" type="datetime1">
              <a:rPr lang="zh-CN" altLang="en-US" smtClean="0"/>
              <a:t>2026/4/5</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p14:dur="10"/>
    </mc:Choice>
    <mc:Fallback xmlns="">
      <p:transition/>
    </mc:Fallback>
  </mc:AlternateConten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1.png"/><Relationship Id="rId7" Type="http://schemas.openxmlformats.org/officeDocument/2006/relationships/image" Target="../media/image25.svg"/><Relationship Id="rId12" Type="http://schemas.openxmlformats.org/officeDocument/2006/relationships/image" Target="../media/image30.svg"/><Relationship Id="rId17" Type="http://schemas.openxmlformats.org/officeDocument/2006/relationships/image" Target="../media/image35.png"/><Relationship Id="rId2" Type="http://schemas.openxmlformats.org/officeDocument/2006/relationships/notesSlide" Target="../notesSlides/notesSlide7.xml"/><Relationship Id="rId16" Type="http://schemas.openxmlformats.org/officeDocument/2006/relationships/image" Target="../media/image34.svg"/><Relationship Id="rId1" Type="http://schemas.openxmlformats.org/officeDocument/2006/relationships/slideLayout" Target="../slideLayouts/slideLayout1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svg"/><Relationship Id="rId19" Type="http://schemas.openxmlformats.org/officeDocument/2006/relationships/image" Target="../media/image37.png"/><Relationship Id="rId4" Type="http://schemas.openxmlformats.org/officeDocument/2006/relationships/image" Target="../media/image22.svg"/><Relationship Id="rId9" Type="http://schemas.openxmlformats.org/officeDocument/2006/relationships/image" Target="../media/image27.png"/><Relationship Id="rId14" Type="http://schemas.openxmlformats.org/officeDocument/2006/relationships/image" Target="../media/image32.sv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svg"/><Relationship Id="rId2" Type="http://schemas.openxmlformats.org/officeDocument/2006/relationships/image" Target="../media/image39.png"/><Relationship Id="rId1" Type="http://schemas.openxmlformats.org/officeDocument/2006/relationships/slideLayout" Target="../slideLayouts/slideLayout12.xml"/><Relationship Id="rId6" Type="http://schemas.openxmlformats.org/officeDocument/2006/relationships/image" Target="../media/image43.png"/><Relationship Id="rId11" Type="http://schemas.openxmlformats.org/officeDocument/2006/relationships/image" Target="../media/image48.sv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svg"/><Relationship Id="rId9" Type="http://schemas.openxmlformats.org/officeDocument/2006/relationships/image" Target="../media/image4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1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svg"/></Relationships>
</file>

<file path=ppt/slides/_rels/slide1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Layout" Target="../slideLayouts/slideLayout12.xml"/><Relationship Id="rId5" Type="http://schemas.openxmlformats.org/officeDocument/2006/relationships/image" Target="../media/image60.svg"/><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4.xml"/><Relationship Id="rId4" Type="http://schemas.openxmlformats.org/officeDocument/2006/relationships/image" Target="../media/image6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svg"/><Relationship Id="rId7" Type="http://schemas.openxmlformats.org/officeDocument/2006/relationships/image" Target="../media/image72.svg"/><Relationship Id="rId2" Type="http://schemas.openxmlformats.org/officeDocument/2006/relationships/image" Target="../media/image67.png"/><Relationship Id="rId1" Type="http://schemas.openxmlformats.org/officeDocument/2006/relationships/slideLayout" Target="../slideLayouts/slideLayout12.xml"/><Relationship Id="rId6" Type="http://schemas.openxmlformats.org/officeDocument/2006/relationships/image" Target="../media/image71.png"/><Relationship Id="rId5" Type="http://schemas.openxmlformats.org/officeDocument/2006/relationships/image" Target="../media/image70.sv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svg"/></Relationships>
</file>

<file path=ppt/slides/_rels/slide2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image" Target="../media/image88.sv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86.svg"/><Relationship Id="rId5" Type="http://schemas.openxmlformats.org/officeDocument/2006/relationships/image" Target="../media/image85.png"/><Relationship Id="rId4" Type="http://schemas.openxmlformats.org/officeDocument/2006/relationships/image" Target="../media/image84.svg"/></Relationships>
</file>

<file path=ppt/slides/_rels/slide30.xml.rels><?xml version="1.0" encoding="UTF-8" standalone="yes"?>
<Relationships xmlns="http://schemas.openxmlformats.org/package/2006/relationships"><Relationship Id="rId3" Type="http://schemas.openxmlformats.org/officeDocument/2006/relationships/image" Target="../media/image90.svg"/><Relationship Id="rId7" Type="http://schemas.openxmlformats.org/officeDocument/2006/relationships/image" Target="../media/image94.svg"/><Relationship Id="rId2" Type="http://schemas.openxmlformats.org/officeDocument/2006/relationships/image" Target="../media/image89.png"/><Relationship Id="rId1" Type="http://schemas.openxmlformats.org/officeDocument/2006/relationships/slideLayout" Target="../slideLayouts/slideLayout12.xml"/><Relationship Id="rId6" Type="http://schemas.openxmlformats.org/officeDocument/2006/relationships/image" Target="../media/image93.png"/><Relationship Id="rId5" Type="http://schemas.openxmlformats.org/officeDocument/2006/relationships/image" Target="../media/image92.svg"/><Relationship Id="rId4" Type="http://schemas.openxmlformats.org/officeDocument/2006/relationships/image" Target="../media/image9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noAutofit/>
          </a:bodyPr>
          <a:lstStyle/>
          <a:p>
            <a:r>
              <a:rPr lang="zh-CN" altLang="en-US" sz="2600" dirty="0"/>
              <a:t>支持混合隔离级别的分布式</a:t>
            </a:r>
            <a:r>
              <a:rPr lang="en-US" altLang="zh-CN" sz="2600" dirty="0"/>
              <a:t>KV</a:t>
            </a:r>
          </a:p>
          <a:p>
            <a:r>
              <a:rPr lang="zh-CN" altLang="en-US" sz="2600" dirty="0"/>
              <a:t>数据库原型的设计与实现</a:t>
            </a:r>
            <a:endParaRPr sz="2600" dirty="0"/>
          </a:p>
        </p:txBody>
      </p:sp>
      <p:sp>
        <p:nvSpPr>
          <p:cNvPr id="3" name="文本占位符 2"/>
          <p:cNvSpPr>
            <a:spLocks noGrp="1"/>
          </p:cNvSpPr>
          <p:nvPr>
            <p:ph type="body" sz="quarter" idx="11"/>
          </p:nvPr>
        </p:nvSpPr>
        <p:spPr>
          <a:xfrm>
            <a:off x="7593841" y="4594227"/>
            <a:ext cx="3793331" cy="1391920"/>
          </a:xfrm>
        </p:spPr>
        <p:txBody>
          <a:bodyPr>
            <a:noAutofit/>
          </a:bodyPr>
          <a:lstStyle/>
          <a:p>
            <a:pPr algn="l"/>
            <a:r>
              <a:rPr lang="zh-CN" altLang="en-US" sz="2000" b="1" dirty="0">
                <a:solidFill>
                  <a:schemeClr val="tx1"/>
                </a:solidFill>
              </a:rPr>
              <a:t>答辩人：张继华</a:t>
            </a:r>
          </a:p>
          <a:p>
            <a:pPr algn="l"/>
            <a:r>
              <a:rPr lang="zh-CN" altLang="en-US" sz="2000" b="1" dirty="0">
                <a:solidFill>
                  <a:schemeClr val="tx1"/>
                </a:solidFill>
              </a:rPr>
              <a:t>学号：</a:t>
            </a:r>
            <a:r>
              <a:rPr lang="en-US" altLang="zh-CN" sz="2000" b="1" dirty="0">
                <a:solidFill>
                  <a:schemeClr val="tx1"/>
                </a:solidFill>
              </a:rPr>
              <a:t>522024320201</a:t>
            </a:r>
          </a:p>
          <a:p>
            <a:pPr algn="l"/>
            <a:r>
              <a:rPr lang="zh-CN" altLang="en-US" sz="2000" b="1" dirty="0">
                <a:solidFill>
                  <a:schemeClr val="tx1"/>
                </a:solidFill>
              </a:rPr>
              <a:t>专业：电子信息（软件工程）</a:t>
            </a:r>
          </a:p>
          <a:p>
            <a:pPr algn="l"/>
            <a:r>
              <a:rPr lang="zh-CN" altLang="en-US" sz="2000" b="1" dirty="0">
                <a:solidFill>
                  <a:schemeClr val="tx1"/>
                </a:solidFill>
              </a:rPr>
              <a:t>导师：魏恒峰、葛季栋 副教授</a:t>
            </a:r>
          </a:p>
          <a:p>
            <a:pPr algn="l"/>
            <a:r>
              <a:rPr lang="en-US" altLang="zh-CN" sz="2000" b="1" dirty="0">
                <a:solidFill>
                  <a:schemeClr val="tx1"/>
                </a:solidFill>
              </a:rPr>
              <a:t>2026 </a:t>
            </a:r>
            <a:r>
              <a:rPr lang="zh-CN" altLang="en-US" sz="2000" b="1" dirty="0">
                <a:solidFill>
                  <a:schemeClr val="tx1"/>
                </a:solidFill>
              </a:rPr>
              <a:t>年 </a:t>
            </a:r>
            <a:r>
              <a:rPr lang="en-US" altLang="zh-CN" sz="2000" b="1" dirty="0">
                <a:solidFill>
                  <a:schemeClr val="tx1"/>
                </a:solidFill>
              </a:rPr>
              <a:t>5 </a:t>
            </a:r>
            <a:r>
              <a:rPr lang="zh-CN" altLang="en-US" sz="2000" b="1" dirty="0">
                <a:solidFill>
                  <a:schemeClr val="tx1"/>
                </a:solidFill>
              </a:rPr>
              <a:t>月</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6379834" y="1462084"/>
            <a:ext cx="2725425" cy="908109"/>
          </a:xfrm>
        </p:spPr>
        <p:txBody>
          <a:bodyPr>
            <a:normAutofit/>
          </a:bodyPr>
          <a:lstStyle/>
          <a:p>
            <a:pPr algn="just">
              <a:lnSpc>
                <a:spcPct val="120000"/>
              </a:lnSpc>
            </a:pPr>
            <a:r>
              <a:rPr lang="zh-CN" altLang="en-US" sz="1800" b="1" dirty="0"/>
              <a:t>研究背景</a:t>
            </a:r>
            <a:endParaRPr lang="en-US" altLang="zh-CN" sz="1800" b="1" dirty="0"/>
          </a:p>
        </p:txBody>
      </p:sp>
      <p:sp>
        <p:nvSpPr>
          <p:cNvPr id="6" name="矩形 5"/>
          <p:cNvSpPr/>
          <p:nvPr/>
        </p:nvSpPr>
        <p:spPr>
          <a:xfrm>
            <a:off x="0" y="10260"/>
            <a:ext cx="12192000" cy="908109"/>
          </a:xfrm>
          <a:prstGeom prst="rect">
            <a:avLst/>
          </a:prstGeom>
          <a:solidFill>
            <a:srgbClr val="6B006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487551" y="3063754"/>
            <a:ext cx="1516020" cy="1474318"/>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p:cNvSpPr txBox="1"/>
          <p:nvPr/>
        </p:nvSpPr>
        <p:spPr>
          <a:xfrm>
            <a:off x="2525813" y="3370029"/>
            <a:ext cx="1439500" cy="461665"/>
          </a:xfrm>
          <a:prstGeom prst="rect">
            <a:avLst/>
          </a:prstGeom>
          <a:noFill/>
        </p:spPr>
        <p:txBody>
          <a:bodyPr wrap="square" rtlCol="0">
            <a:spAutoFit/>
          </a:bodyPr>
          <a:lstStyle/>
          <a:p>
            <a:pPr algn="ctr"/>
            <a:r>
              <a:rPr lang="zh-CN" altLang="en-US" sz="2400" b="1">
                <a:solidFill>
                  <a:schemeClr val="bg1"/>
                </a:solidFill>
                <a:latin typeface="黑体" panose="02010609060101010101" pitchFamily="49" charset="-122"/>
                <a:ea typeface="黑体" panose="02010609060101010101" pitchFamily="49" charset="-122"/>
              </a:rPr>
              <a:t>汇报目录</a:t>
            </a:r>
            <a:endParaRPr lang="zh-CN" altLang="en-US" sz="2400" b="1" dirty="0">
              <a:solidFill>
                <a:schemeClr val="bg1"/>
              </a:solidFill>
              <a:latin typeface="黑体" panose="02010609060101010101" pitchFamily="49" charset="-122"/>
              <a:ea typeface="黑体" panose="02010609060101010101" pitchFamily="49" charset="-122"/>
            </a:endParaRPr>
          </a:p>
        </p:txBody>
      </p:sp>
      <p:sp>
        <p:nvSpPr>
          <p:cNvPr id="12" name="文本框 11"/>
          <p:cNvSpPr txBox="1"/>
          <p:nvPr/>
        </p:nvSpPr>
        <p:spPr>
          <a:xfrm>
            <a:off x="2041668" y="3877106"/>
            <a:ext cx="2407787" cy="338554"/>
          </a:xfrm>
          <a:prstGeom prst="rect">
            <a:avLst/>
          </a:prstGeom>
          <a:noFill/>
        </p:spPr>
        <p:txBody>
          <a:bodyPr wrap="square" rtlCol="0">
            <a:spAutoFit/>
          </a:bodyPr>
          <a:lstStyle/>
          <a:p>
            <a:pPr algn="ctr"/>
            <a:r>
              <a:rPr lang="en-US" altLang="zh-CN" sz="1600">
                <a:solidFill>
                  <a:schemeClr val="bg1"/>
                </a:solidFill>
              </a:rPr>
              <a:t>CONTENTS</a:t>
            </a:r>
            <a:endParaRPr lang="zh-CN" altLang="en-US" sz="1600" dirty="0">
              <a:solidFill>
                <a:schemeClr val="bg1"/>
              </a:solidFill>
            </a:endParaRPr>
          </a:p>
        </p:txBody>
      </p:sp>
      <p:sp>
        <p:nvSpPr>
          <p:cNvPr id="13" name="椭圆 12"/>
          <p:cNvSpPr/>
          <p:nvPr/>
        </p:nvSpPr>
        <p:spPr>
          <a:xfrm>
            <a:off x="5798409" y="1619364"/>
            <a:ext cx="421626" cy="429719"/>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p:cNvSpPr txBox="1"/>
          <p:nvPr/>
        </p:nvSpPr>
        <p:spPr>
          <a:xfrm>
            <a:off x="5798409" y="1619364"/>
            <a:ext cx="421626" cy="368300"/>
          </a:xfrm>
          <a:prstGeom prst="rect">
            <a:avLst/>
          </a:prstGeom>
          <a:noFill/>
          <a:effectLst/>
        </p:spPr>
        <p:txBody>
          <a:bodyPr wrap="square" rtlCol="0">
            <a:spAutoFit/>
          </a:bodyPr>
          <a:lstStyle/>
          <a:p>
            <a:pPr algn="ctr"/>
            <a:r>
              <a:rPr lang="en-US" altLang="zh-CN" b="1" dirty="0">
                <a:solidFill>
                  <a:schemeClr val="bg1"/>
                </a:solidFill>
                <a:latin typeface="黑体" panose="02010609060101010101" pitchFamily="49" charset="-122"/>
                <a:ea typeface="黑体" panose="02010609060101010101" pitchFamily="49" charset="-122"/>
              </a:rPr>
              <a:t>1</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15" name="文本框 14"/>
          <p:cNvSpPr txBox="1"/>
          <p:nvPr/>
        </p:nvSpPr>
        <p:spPr>
          <a:xfrm>
            <a:off x="6379834" y="1942475"/>
            <a:ext cx="2182217" cy="276999"/>
          </a:xfrm>
          <a:prstGeom prst="rect">
            <a:avLst/>
          </a:prstGeom>
          <a:noFill/>
        </p:spPr>
        <p:txBody>
          <a:bodyPr wrap="square" rtlCol="0">
            <a:spAutoFit/>
          </a:bodyPr>
          <a:lstStyle/>
          <a:p>
            <a:r>
              <a:rPr lang="en-US" altLang="zh-CN" sz="1200" b="1" dirty="0">
                <a:solidFill>
                  <a:schemeClr val="bg1">
                    <a:lumMod val="75000"/>
                  </a:schemeClr>
                </a:solidFill>
              </a:rPr>
              <a:t>Background</a:t>
            </a:r>
            <a:endParaRPr lang="zh-CN" altLang="en-US" sz="1200" b="1" dirty="0">
              <a:solidFill>
                <a:schemeClr val="bg1">
                  <a:lumMod val="75000"/>
                </a:schemeClr>
              </a:solidFill>
            </a:endParaRPr>
          </a:p>
        </p:txBody>
      </p:sp>
      <p:sp>
        <p:nvSpPr>
          <p:cNvPr id="20" name="副标题 2"/>
          <p:cNvSpPr txBox="1"/>
          <p:nvPr/>
        </p:nvSpPr>
        <p:spPr>
          <a:xfrm>
            <a:off x="6379834" y="2529807"/>
            <a:ext cx="3324615" cy="9081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zh-CN" altLang="en-US" sz="1800" b="1" dirty="0"/>
              <a:t>背景知识</a:t>
            </a:r>
            <a:endParaRPr lang="en-US" altLang="zh-CN" sz="1800" b="1" dirty="0"/>
          </a:p>
        </p:txBody>
      </p:sp>
      <p:sp>
        <p:nvSpPr>
          <p:cNvPr id="21" name="椭圆 20"/>
          <p:cNvSpPr/>
          <p:nvPr/>
        </p:nvSpPr>
        <p:spPr>
          <a:xfrm>
            <a:off x="5798409" y="2687087"/>
            <a:ext cx="421626" cy="429719"/>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p:cNvSpPr txBox="1"/>
          <p:nvPr/>
        </p:nvSpPr>
        <p:spPr>
          <a:xfrm>
            <a:off x="5798409" y="2687087"/>
            <a:ext cx="421626" cy="368300"/>
          </a:xfrm>
          <a:prstGeom prst="rect">
            <a:avLst/>
          </a:prstGeom>
          <a:noFill/>
          <a:effectLst/>
        </p:spPr>
        <p:txBody>
          <a:bodyPr wrap="square" rtlCol="0">
            <a:spAutoFit/>
          </a:bodyPr>
          <a:lstStyle/>
          <a:p>
            <a:pPr algn="ctr"/>
            <a:r>
              <a:rPr lang="en-US" altLang="zh-CN" b="1" dirty="0">
                <a:solidFill>
                  <a:schemeClr val="bg1"/>
                </a:solidFill>
                <a:latin typeface="黑体" panose="02010609060101010101" pitchFamily="49" charset="-122"/>
                <a:ea typeface="黑体" panose="02010609060101010101" pitchFamily="49" charset="-122"/>
              </a:rPr>
              <a:t>2</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23" name="文本框 22"/>
          <p:cNvSpPr txBox="1"/>
          <p:nvPr/>
        </p:nvSpPr>
        <p:spPr>
          <a:xfrm>
            <a:off x="6379834" y="3058341"/>
            <a:ext cx="2014791" cy="276999"/>
          </a:xfrm>
          <a:prstGeom prst="rect">
            <a:avLst/>
          </a:prstGeom>
          <a:noFill/>
        </p:spPr>
        <p:txBody>
          <a:bodyPr wrap="square" rtlCol="0">
            <a:spAutoFit/>
          </a:bodyPr>
          <a:lstStyle/>
          <a:p>
            <a:r>
              <a:rPr lang="en-US" altLang="zh-CN" sz="1200" b="1" dirty="0">
                <a:solidFill>
                  <a:schemeClr val="bg1">
                    <a:lumMod val="75000"/>
                  </a:schemeClr>
                </a:solidFill>
              </a:rPr>
              <a:t>Knowledge</a:t>
            </a:r>
          </a:p>
        </p:txBody>
      </p:sp>
      <p:sp>
        <p:nvSpPr>
          <p:cNvPr id="24" name="副标题 2"/>
          <p:cNvSpPr txBox="1"/>
          <p:nvPr/>
        </p:nvSpPr>
        <p:spPr>
          <a:xfrm>
            <a:off x="6379834" y="3521890"/>
            <a:ext cx="2424239" cy="9081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zh-CN" altLang="en-US" sz="1800" b="1" dirty="0"/>
              <a:t>操作语义与 </a:t>
            </a:r>
            <a:r>
              <a:rPr lang="en-US" altLang="zh-CN" sz="1800" b="1" dirty="0"/>
              <a:t>TLA</a:t>
            </a:r>
            <a:r>
              <a:rPr lang="en-US" altLang="zh-CN" sz="1800" b="1" baseline="30000" dirty="0"/>
              <a:t>+</a:t>
            </a:r>
            <a:r>
              <a:rPr lang="en-US" altLang="zh-CN" sz="1800" b="1" dirty="0"/>
              <a:t> </a:t>
            </a:r>
            <a:r>
              <a:rPr lang="zh-CN" altLang="en-US" sz="1800" b="1" dirty="0"/>
              <a:t>验证</a:t>
            </a:r>
            <a:endParaRPr lang="en-US" altLang="zh-CN" sz="1800" b="1" dirty="0"/>
          </a:p>
        </p:txBody>
      </p:sp>
      <p:sp>
        <p:nvSpPr>
          <p:cNvPr id="25" name="椭圆 24"/>
          <p:cNvSpPr/>
          <p:nvPr/>
        </p:nvSpPr>
        <p:spPr>
          <a:xfrm>
            <a:off x="5798409" y="3679170"/>
            <a:ext cx="421626" cy="429719"/>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p:cNvSpPr txBox="1"/>
          <p:nvPr/>
        </p:nvSpPr>
        <p:spPr>
          <a:xfrm>
            <a:off x="5798409" y="3679170"/>
            <a:ext cx="421626" cy="368300"/>
          </a:xfrm>
          <a:prstGeom prst="rect">
            <a:avLst/>
          </a:prstGeom>
          <a:noFill/>
          <a:effectLst/>
        </p:spPr>
        <p:txBody>
          <a:bodyPr wrap="square" rtlCol="0">
            <a:spAutoFit/>
          </a:bodyPr>
          <a:lstStyle/>
          <a:p>
            <a:pPr algn="ctr"/>
            <a:r>
              <a:rPr lang="en-US" altLang="zh-CN" b="1" dirty="0">
                <a:solidFill>
                  <a:schemeClr val="bg1"/>
                </a:solidFill>
                <a:latin typeface="黑体" panose="02010609060101010101" pitchFamily="49" charset="-122"/>
                <a:ea typeface="黑体" panose="02010609060101010101" pitchFamily="49" charset="-122"/>
              </a:rPr>
              <a:t>3</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27" name="文本框 26"/>
          <p:cNvSpPr txBox="1"/>
          <p:nvPr/>
        </p:nvSpPr>
        <p:spPr>
          <a:xfrm>
            <a:off x="6379834" y="4002281"/>
            <a:ext cx="2601666" cy="276999"/>
          </a:xfrm>
          <a:prstGeom prst="rect">
            <a:avLst/>
          </a:prstGeom>
          <a:noFill/>
        </p:spPr>
        <p:txBody>
          <a:bodyPr wrap="square" rtlCol="0">
            <a:spAutoFit/>
          </a:bodyPr>
          <a:lstStyle/>
          <a:p>
            <a:r>
              <a:rPr lang="en-US" altLang="zh-CN" sz="1200" b="1" dirty="0" err="1">
                <a:solidFill>
                  <a:schemeClr val="bg1">
                    <a:lumMod val="75000"/>
                  </a:schemeClr>
                </a:solidFill>
              </a:rPr>
              <a:t>Semetics&amp;TLA</a:t>
            </a:r>
            <a:r>
              <a:rPr lang="en-US" altLang="zh-CN" sz="1200" b="1" baseline="30000" dirty="0">
                <a:solidFill>
                  <a:schemeClr val="bg1">
                    <a:lumMod val="75000"/>
                  </a:schemeClr>
                </a:solidFill>
              </a:rPr>
              <a:t>+</a:t>
            </a:r>
          </a:p>
        </p:txBody>
      </p:sp>
      <p:sp>
        <p:nvSpPr>
          <p:cNvPr id="28" name="副标题 2"/>
          <p:cNvSpPr txBox="1"/>
          <p:nvPr/>
        </p:nvSpPr>
        <p:spPr>
          <a:xfrm>
            <a:off x="6379834" y="4512760"/>
            <a:ext cx="2424239" cy="9081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zh-CN" altLang="en-US" sz="1800" b="1" dirty="0"/>
              <a:t>原型系统设计与实现</a:t>
            </a:r>
            <a:endParaRPr lang="en-US" altLang="zh-CN" sz="1800" b="1" dirty="0"/>
          </a:p>
        </p:txBody>
      </p:sp>
      <p:sp>
        <p:nvSpPr>
          <p:cNvPr id="29" name="椭圆 28"/>
          <p:cNvSpPr/>
          <p:nvPr/>
        </p:nvSpPr>
        <p:spPr>
          <a:xfrm>
            <a:off x="5798409" y="4670040"/>
            <a:ext cx="421626" cy="429719"/>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文本框 29"/>
          <p:cNvSpPr txBox="1"/>
          <p:nvPr/>
        </p:nvSpPr>
        <p:spPr>
          <a:xfrm>
            <a:off x="5798409" y="4670040"/>
            <a:ext cx="421626" cy="368300"/>
          </a:xfrm>
          <a:prstGeom prst="rect">
            <a:avLst/>
          </a:prstGeom>
          <a:noFill/>
          <a:effectLst/>
        </p:spPr>
        <p:txBody>
          <a:bodyPr wrap="square" rtlCol="0">
            <a:spAutoFit/>
          </a:bodyPr>
          <a:lstStyle/>
          <a:p>
            <a:pPr algn="ctr"/>
            <a:r>
              <a:rPr lang="en-US" altLang="zh-CN" b="1" dirty="0">
                <a:solidFill>
                  <a:schemeClr val="bg1"/>
                </a:solidFill>
                <a:latin typeface="黑体" panose="02010609060101010101" pitchFamily="49" charset="-122"/>
                <a:ea typeface="黑体" panose="02010609060101010101" pitchFamily="49" charset="-122"/>
              </a:rPr>
              <a:t>4</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31" name="文本框 30"/>
          <p:cNvSpPr txBox="1"/>
          <p:nvPr/>
        </p:nvSpPr>
        <p:spPr>
          <a:xfrm>
            <a:off x="6414692" y="5077327"/>
            <a:ext cx="2205121" cy="276999"/>
          </a:xfrm>
          <a:prstGeom prst="rect">
            <a:avLst/>
          </a:prstGeom>
          <a:noFill/>
        </p:spPr>
        <p:txBody>
          <a:bodyPr wrap="square" rtlCol="0">
            <a:spAutoFit/>
          </a:bodyPr>
          <a:lstStyle/>
          <a:p>
            <a:r>
              <a:rPr lang="en-US" altLang="zh-CN" sz="1200" b="1">
                <a:solidFill>
                  <a:schemeClr val="bg1">
                    <a:lumMod val="75000"/>
                  </a:schemeClr>
                </a:solidFill>
              </a:rPr>
              <a:t>Prototype</a:t>
            </a:r>
            <a:endParaRPr lang="en-US" altLang="zh-CN" sz="1200" b="1" dirty="0">
              <a:solidFill>
                <a:schemeClr val="bg1">
                  <a:lumMod val="75000"/>
                </a:schemeClr>
              </a:solidFill>
            </a:endParaRPr>
          </a:p>
        </p:txBody>
      </p:sp>
      <p:pic>
        <p:nvPicPr>
          <p:cNvPr id="37" name="图片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708" y="53759"/>
            <a:ext cx="2866867" cy="864610"/>
          </a:xfrm>
          <a:prstGeom prst="rect">
            <a:avLst/>
          </a:prstGeom>
        </p:spPr>
      </p:pic>
      <p:sp>
        <p:nvSpPr>
          <p:cNvPr id="2" name="副标题 2"/>
          <p:cNvSpPr txBox="1"/>
          <p:nvPr/>
        </p:nvSpPr>
        <p:spPr>
          <a:xfrm>
            <a:off x="6379834" y="5578111"/>
            <a:ext cx="3201196" cy="9081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zh-CN" altLang="en-US" sz="1800" b="1" dirty="0"/>
              <a:t>实验结果与总结展望</a:t>
            </a:r>
            <a:endParaRPr lang="en-US" altLang="zh-CN" sz="1800" b="1" dirty="0"/>
          </a:p>
        </p:txBody>
      </p:sp>
      <p:sp>
        <p:nvSpPr>
          <p:cNvPr id="4" name="椭圆 3"/>
          <p:cNvSpPr/>
          <p:nvPr/>
        </p:nvSpPr>
        <p:spPr>
          <a:xfrm>
            <a:off x="5798410" y="5735391"/>
            <a:ext cx="421626" cy="429719"/>
          </a:xfrm>
          <a:prstGeom prst="ellipse">
            <a:avLst/>
          </a:prstGeom>
          <a:solidFill>
            <a:srgbClr val="6B0060"/>
          </a:solidFill>
          <a:ln>
            <a:solidFill>
              <a:srgbClr val="6B0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5798410" y="5735391"/>
            <a:ext cx="421626" cy="368300"/>
          </a:xfrm>
          <a:prstGeom prst="rect">
            <a:avLst/>
          </a:prstGeom>
          <a:noFill/>
          <a:effectLst/>
        </p:spPr>
        <p:txBody>
          <a:bodyPr wrap="square" rtlCol="0">
            <a:spAutoFit/>
          </a:bodyPr>
          <a:lstStyle/>
          <a:p>
            <a:pPr algn="ctr"/>
            <a:r>
              <a:rPr lang="en-US" altLang="zh-CN" b="1" dirty="0">
                <a:solidFill>
                  <a:schemeClr val="bg1"/>
                </a:solidFill>
                <a:latin typeface="黑体" panose="02010609060101010101" pitchFamily="49" charset="-122"/>
                <a:ea typeface="黑体" panose="02010609060101010101" pitchFamily="49" charset="-122"/>
              </a:rPr>
              <a:t>5</a:t>
            </a:r>
            <a:endParaRPr lang="zh-CN" altLang="en-US" b="1" dirty="0">
              <a:solidFill>
                <a:schemeClr val="bg1"/>
              </a:solidFill>
              <a:latin typeface="黑体" panose="02010609060101010101" pitchFamily="49" charset="-122"/>
              <a:ea typeface="黑体" panose="02010609060101010101" pitchFamily="49" charset="-122"/>
            </a:endParaRPr>
          </a:p>
        </p:txBody>
      </p:sp>
      <p:sp>
        <p:nvSpPr>
          <p:cNvPr id="7" name="文本框 6"/>
          <p:cNvSpPr txBox="1"/>
          <p:nvPr/>
        </p:nvSpPr>
        <p:spPr>
          <a:xfrm>
            <a:off x="6414693" y="6142678"/>
            <a:ext cx="3018420" cy="276999"/>
          </a:xfrm>
          <a:prstGeom prst="rect">
            <a:avLst/>
          </a:prstGeom>
          <a:noFill/>
        </p:spPr>
        <p:txBody>
          <a:bodyPr wrap="square" rtlCol="0">
            <a:spAutoFit/>
          </a:bodyPr>
          <a:lstStyle/>
          <a:p>
            <a:r>
              <a:rPr lang="en-US" altLang="zh-CN" sz="1200" b="1">
                <a:solidFill>
                  <a:schemeClr val="bg1">
                    <a:lumMod val="75000"/>
                  </a:schemeClr>
                </a:solidFill>
              </a:rPr>
              <a:t>Results</a:t>
            </a:r>
            <a:endParaRPr lang="en-US" altLang="zh-CN" sz="1200" b="1" dirty="0">
              <a:solidFill>
                <a:schemeClr val="bg1">
                  <a:lumMod val="75000"/>
                </a:schemeClr>
              </a:solidFill>
            </a:endParaRPr>
          </a:p>
        </p:txBody>
      </p:sp>
      <p:sp>
        <p:nvSpPr>
          <p:cNvPr id="8" name="页脚占位符 7">
            <a:extLst>
              <a:ext uri="{FF2B5EF4-FFF2-40B4-BE49-F238E27FC236}">
                <a16:creationId xmlns:a16="http://schemas.microsoft.com/office/drawing/2014/main" id="{E8D38CC5-A8C1-F9E0-AB5D-7992A756B133}"/>
              </a:ext>
            </a:extLst>
          </p:cNvPr>
          <p:cNvSpPr>
            <a:spLocks noGrp="1"/>
          </p:cNvSpPr>
          <p:nvPr>
            <p:ph type="ftr" sz="quarter" idx="1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 y="2050256"/>
            <a:ext cx="12192000" cy="2736057"/>
          </a:xfrm>
          <a:prstGeom prst="rect">
            <a:avLst/>
          </a:prstGeom>
          <a:solidFill>
            <a:srgbClr val="700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 descr="https://ese.nju.edu.cn/_upload/tpl/04/32/1074/template1074/htmlRes/log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0458" y="163693"/>
            <a:ext cx="1913640" cy="59026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E20CA145-CE84-033C-6A9B-9852957F919E}"/>
              </a:ext>
            </a:extLst>
          </p:cNvPr>
          <p:cNvSpPr txBox="1"/>
          <p:nvPr/>
        </p:nvSpPr>
        <p:spPr>
          <a:xfrm>
            <a:off x="5166071" y="3013500"/>
            <a:ext cx="4957747" cy="830997"/>
          </a:xfrm>
          <a:prstGeom prst="rect">
            <a:avLst/>
          </a:prstGeom>
          <a:noFill/>
        </p:spPr>
        <p:txBody>
          <a:bodyPr wrap="square" rtlCol="0">
            <a:spAutoFit/>
          </a:bodyPr>
          <a:lstStyle/>
          <a:p>
            <a:pPr algn="ctr"/>
            <a:r>
              <a:rPr lang="zh-CN" altLang="en-US" sz="4800" b="1" dirty="0">
                <a:solidFill>
                  <a:schemeClr val="bg1"/>
                </a:solidFill>
                <a:latin typeface="+mn-ea"/>
              </a:rPr>
              <a:t>研究背景</a:t>
            </a:r>
          </a:p>
        </p:txBody>
      </p:sp>
      <p:sp>
        <p:nvSpPr>
          <p:cNvPr id="2" name="Freeform 8">
            <a:extLst>
              <a:ext uri="{FF2B5EF4-FFF2-40B4-BE49-F238E27FC236}">
                <a16:creationId xmlns:a16="http://schemas.microsoft.com/office/drawing/2014/main" id="{11A613CE-0A70-D341-82EA-2712C37B12F9}"/>
              </a:ext>
            </a:extLst>
          </p:cNvPr>
          <p:cNvSpPr/>
          <p:nvPr/>
        </p:nvSpPr>
        <p:spPr bwMode="auto">
          <a:xfrm>
            <a:off x="1455384" y="1704802"/>
            <a:ext cx="3381639" cy="3378639"/>
          </a:xfrm>
          <a:custGeom>
            <a:avLst/>
            <a:gdLst>
              <a:gd name="T0" fmla="*/ 929 w 1857"/>
              <a:gd name="T1" fmla="*/ 0 h 1855"/>
              <a:gd name="T2" fmla="*/ 1857 w 1857"/>
              <a:gd name="T3" fmla="*/ 928 h 1855"/>
              <a:gd name="T4" fmla="*/ 929 w 1857"/>
              <a:gd name="T5" fmla="*/ 1855 h 1855"/>
              <a:gd name="T6" fmla="*/ 0 w 1857"/>
              <a:gd name="T7" fmla="*/ 928 h 1855"/>
              <a:gd name="T8" fmla="*/ 929 w 1857"/>
              <a:gd name="T9" fmla="*/ 0 h 1855"/>
            </a:gdLst>
            <a:ahLst/>
            <a:cxnLst>
              <a:cxn ang="0">
                <a:pos x="T0" y="T1"/>
              </a:cxn>
              <a:cxn ang="0">
                <a:pos x="T2" y="T3"/>
              </a:cxn>
              <a:cxn ang="0">
                <a:pos x="T4" y="T5"/>
              </a:cxn>
              <a:cxn ang="0">
                <a:pos x="T6" y="T7"/>
              </a:cxn>
              <a:cxn ang="0">
                <a:pos x="T8" y="T9"/>
              </a:cxn>
            </a:cxnLst>
            <a:rect l="0" t="0" r="r" b="b"/>
            <a:pathLst>
              <a:path w="1857" h="1855">
                <a:moveTo>
                  <a:pt x="929" y="0"/>
                </a:moveTo>
                <a:lnTo>
                  <a:pt x="1857" y="928"/>
                </a:lnTo>
                <a:lnTo>
                  <a:pt x="929" y="1855"/>
                </a:lnTo>
                <a:lnTo>
                  <a:pt x="0" y="928"/>
                </a:lnTo>
                <a:lnTo>
                  <a:pt x="929" y="0"/>
                </a:lnTo>
                <a:close/>
              </a:path>
            </a:pathLst>
          </a:custGeom>
          <a:solidFill>
            <a:srgbClr val="6E0F6D"/>
          </a:solidFill>
          <a:ln w="0">
            <a:noFill/>
            <a:prstDash val="solid"/>
            <a:round/>
          </a:ln>
        </p:spPr>
        <p:txBody>
          <a:bodyPr vert="horz" wrap="square" lIns="121890" tIns="60945" rIns="121890" bIns="60945" numCol="1" anchor="t" anchorCtr="0" compatLnSpc="1"/>
          <a:lstStyle/>
          <a:p>
            <a:endParaRPr lang="zh-CN" altLang="en-US"/>
          </a:p>
        </p:txBody>
      </p:sp>
      <p:sp>
        <p:nvSpPr>
          <p:cNvPr id="5" name="文本框 4">
            <a:extLst>
              <a:ext uri="{FF2B5EF4-FFF2-40B4-BE49-F238E27FC236}">
                <a16:creationId xmlns:a16="http://schemas.microsoft.com/office/drawing/2014/main" id="{09D1F300-97C8-8696-A417-D3D2FFDB879B}"/>
              </a:ext>
            </a:extLst>
          </p:cNvPr>
          <p:cNvSpPr txBox="1">
            <a:spLocks noChangeArrowheads="1"/>
          </p:cNvSpPr>
          <p:nvPr>
            <p:custDataLst>
              <p:tags r:id="rId1"/>
            </p:custDataLst>
          </p:nvPr>
        </p:nvSpPr>
        <p:spPr bwMode="auto">
          <a:xfrm>
            <a:off x="2342201" y="2645454"/>
            <a:ext cx="1608005" cy="14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01</a:t>
            </a:r>
            <a:endParaRPr lang="zh-CN" altLang="en-US"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7" name="页脚占位符 6">
            <a:extLst>
              <a:ext uri="{FF2B5EF4-FFF2-40B4-BE49-F238E27FC236}">
                <a16:creationId xmlns:a16="http://schemas.microsoft.com/office/drawing/2014/main" id="{02AB6826-C7FB-E02D-8B36-EE79164328DB}"/>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819429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1032184" y="359490"/>
            <a:ext cx="10834208" cy="461665"/>
          </a:xfrm>
        </p:spPr>
        <p:txBody>
          <a:bodyPr/>
          <a:lstStyle/>
          <a:p>
            <a:r>
              <a:rPr kumimoji="1" lang="zh-CN" altLang="en-US" sz="2400"/>
              <a:t>研究背景</a:t>
            </a:r>
            <a:endParaRPr kumimoji="1" lang="zh-CN" altLang="en-US" sz="2400" dirty="0"/>
          </a:p>
        </p:txBody>
      </p:sp>
      <p:sp>
        <p:nvSpPr>
          <p:cNvPr id="4" name="椭圆 29"/>
          <p:cNvSpPr/>
          <p:nvPr/>
        </p:nvSpPr>
        <p:spPr bwMode="auto">
          <a:xfrm>
            <a:off x="4391760" y="3021607"/>
            <a:ext cx="3085729" cy="3085728"/>
          </a:xfrm>
          <a:prstGeom prst="ellipse">
            <a:avLst/>
          </a:prstGeom>
          <a:noFill/>
          <a:ln w="44450" cap="flat">
            <a:solidFill>
              <a:srgbClr val="6B006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dirty="0" err="1">
              <a:solidFill>
                <a:schemeClr val="accent1"/>
              </a:solidFill>
              <a:latin typeface="等线" panose="02010600030101010101" pitchFamily="2" charset="-122"/>
              <a:sym typeface="等线" panose="02010600030101010101" pitchFamily="2" charset="-122"/>
            </a:endParaRPr>
          </a:p>
        </p:txBody>
      </p:sp>
      <p:sp>
        <p:nvSpPr>
          <p:cNvPr id="6" name="文本框 28"/>
          <p:cNvSpPr txBox="1"/>
          <p:nvPr/>
        </p:nvSpPr>
        <p:spPr>
          <a:xfrm>
            <a:off x="5216479" y="4290410"/>
            <a:ext cx="1436291" cy="430887"/>
          </a:xfrm>
          <a:prstGeom prst="rect">
            <a:avLst/>
          </a:prstGeom>
          <a:noFill/>
          <a:ln>
            <a:noFill/>
          </a:ln>
        </p:spPr>
        <p:txBody>
          <a:bodyPr wrap="square" lIns="0" tIns="0" rIns="0" bIns="0" rtlCol="0">
            <a:spAutoFit/>
          </a:bodyPr>
          <a:lstStyle/>
          <a:p>
            <a:pPr algn="ctr"/>
            <a:r>
              <a:rPr lang="zh-CN" altLang="en-US" sz="2800" dirty="0">
                <a:solidFill>
                  <a:srgbClr val="6B0060"/>
                </a:solidFill>
                <a:latin typeface="+mn-ea"/>
                <a:sym typeface="等线" panose="02010600030101010101" pitchFamily="2" charset="-122"/>
              </a:rPr>
              <a:t>项目背景</a:t>
            </a:r>
            <a:endParaRPr lang="en-US" sz="2800" dirty="0">
              <a:solidFill>
                <a:srgbClr val="6B0060"/>
              </a:solidFill>
              <a:latin typeface="+mn-ea"/>
              <a:sym typeface="等线" panose="02010600030101010101" pitchFamily="2" charset="-122"/>
            </a:endParaRPr>
          </a:p>
        </p:txBody>
      </p:sp>
      <p:grpSp>
        <p:nvGrpSpPr>
          <p:cNvPr id="8" name="组合 209"/>
          <p:cNvGrpSpPr>
            <a:grpSpLocks noChangeAspect="1"/>
          </p:cNvGrpSpPr>
          <p:nvPr/>
        </p:nvGrpSpPr>
        <p:grpSpPr>
          <a:xfrm>
            <a:off x="5331120" y="2470249"/>
            <a:ext cx="1207008" cy="1207008"/>
            <a:chOff x="5466464" y="1399081"/>
            <a:chExt cx="1207008" cy="1207008"/>
          </a:xfrm>
          <a:effectLst>
            <a:outerShdw blurRad="63500" sx="102000" sy="102000" algn="ctr" rotWithShape="0">
              <a:schemeClr val="accent1">
                <a:alpha val="40000"/>
              </a:schemeClr>
            </a:outerShdw>
          </a:effectLst>
        </p:grpSpPr>
        <p:sp useBgFill="1">
          <p:nvSpPr>
            <p:cNvPr id="9" name="椭圆 210"/>
            <p:cNvSpPr/>
            <p:nvPr/>
          </p:nvSpPr>
          <p:spPr bwMode="auto">
            <a:xfrm>
              <a:off x="5466464" y="1399081"/>
              <a:ext cx="1207008" cy="1207008"/>
            </a:xfrm>
            <a:prstGeom prst="ellips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2805" rIns="0" bIns="42805" numCol="1" rtlCol="0" anchor="ctr" anchorCtr="0" compatLnSpc="1"/>
            <a:lstStyle/>
            <a:p>
              <a:pPr algn="ctr" defTabSz="855345" fontAlgn="base">
                <a:spcBef>
                  <a:spcPct val="0"/>
                </a:spcBef>
                <a:spcAft>
                  <a:spcPct val="0"/>
                </a:spcAft>
              </a:pPr>
              <a:endParaRPr lang="en-US" sz="1470" dirty="0">
                <a:gradFill>
                  <a:gsLst>
                    <a:gs pos="40075">
                      <a:srgbClr val="FFFFFF"/>
                    </a:gs>
                    <a:gs pos="30000">
                      <a:srgbClr val="FFFFFF"/>
                    </a:gs>
                  </a:gsLst>
                  <a:lin ang="5400000" scaled="0"/>
                </a:gradFill>
                <a:latin typeface="等线" panose="02010600030101010101" pitchFamily="2" charset="-122"/>
                <a:sym typeface="等线" panose="02010600030101010101" pitchFamily="2" charset="-122"/>
              </a:endParaRPr>
            </a:p>
          </p:txBody>
        </p:sp>
        <p:sp useBgFill="1">
          <p:nvSpPr>
            <p:cNvPr id="10" name="椭圆 211"/>
            <p:cNvSpPr/>
            <p:nvPr/>
          </p:nvSpPr>
          <p:spPr bwMode="auto">
            <a:xfrm>
              <a:off x="5512476" y="1445094"/>
              <a:ext cx="1114984" cy="1114982"/>
            </a:xfrm>
            <a:prstGeom prst="ellipse">
              <a:avLst/>
            </a:prstGeom>
            <a:solidFill>
              <a:schemeClr val="bg2"/>
            </a:solidFill>
            <a:ln>
              <a:noFill/>
            </a:ln>
            <a:effectLst>
              <a:outerShdw blurRad="241300" dist="114300" dir="2700000" sx="101000" sy="101000" algn="tl" rotWithShape="0">
                <a:schemeClr val="accent1">
                  <a:alpha val="26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en-US" sz="2000" dirty="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sp>
          <p:nvSpPr>
            <p:cNvPr id="11" name="椭圆 102"/>
            <p:cNvSpPr>
              <a:spLocks noChangeArrowheads="1"/>
            </p:cNvSpPr>
            <p:nvPr/>
          </p:nvSpPr>
          <p:spPr bwMode="auto">
            <a:xfrm>
              <a:off x="5512478" y="1445094"/>
              <a:ext cx="1114980" cy="1114982"/>
            </a:xfrm>
            <a:prstGeom prst="ellipse">
              <a:avLst/>
            </a:prstGeom>
            <a:solidFill>
              <a:srgbClr val="6B0060">
                <a:alpha val="88000"/>
              </a:srgbClr>
            </a:solid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dirty="0">
                <a:noFill/>
                <a:latin typeface="等线" panose="02010600030101010101" pitchFamily="2" charset="-122"/>
                <a:cs typeface="Segoe UI" panose="020B0502040204020203" pitchFamily="34" charset="0"/>
                <a:sym typeface="等线" panose="02010600030101010101" pitchFamily="2" charset="-122"/>
              </a:endParaRPr>
            </a:p>
          </p:txBody>
        </p:sp>
        <p:sp>
          <p:nvSpPr>
            <p:cNvPr id="13" name="椭圆 102"/>
            <p:cNvSpPr>
              <a:spLocks noChangeArrowheads="1"/>
            </p:cNvSpPr>
            <p:nvPr/>
          </p:nvSpPr>
          <p:spPr bwMode="auto">
            <a:xfrm>
              <a:off x="5512478" y="1445094"/>
              <a:ext cx="1114980" cy="1114982"/>
            </a:xfrm>
            <a:prstGeom prst="ellipse">
              <a:avLst/>
            </a:prstGeom>
            <a:no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grpSp>
      <p:grpSp>
        <p:nvGrpSpPr>
          <p:cNvPr id="14" name="组合 4"/>
          <p:cNvGrpSpPr>
            <a:grpSpLocks noChangeAspect="1"/>
          </p:cNvGrpSpPr>
          <p:nvPr/>
        </p:nvGrpSpPr>
        <p:grpSpPr bwMode="auto">
          <a:xfrm>
            <a:off x="5670267" y="2798708"/>
            <a:ext cx="549275" cy="547687"/>
            <a:chOff x="3483" y="1309"/>
            <a:chExt cx="346" cy="345"/>
          </a:xfrm>
          <a:solidFill>
            <a:schemeClr val="bg1"/>
          </a:solidFill>
        </p:grpSpPr>
        <p:sp>
          <p:nvSpPr>
            <p:cNvPr id="15" name="Freeform 5"/>
            <p:cNvSpPr/>
            <p:nvPr/>
          </p:nvSpPr>
          <p:spPr bwMode="auto">
            <a:xfrm>
              <a:off x="3606" y="1432"/>
              <a:ext cx="99" cy="99"/>
            </a:xfrm>
            <a:custGeom>
              <a:avLst/>
              <a:gdLst>
                <a:gd name="T0" fmla="*/ 74 w 107"/>
                <a:gd name="T1" fmla="*/ 4 h 107"/>
                <a:gd name="T2" fmla="*/ 74 w 107"/>
                <a:gd name="T3" fmla="*/ 4 h 107"/>
                <a:gd name="T4" fmla="*/ 54 w 107"/>
                <a:gd name="T5" fmla="*/ 0 h 107"/>
                <a:gd name="T6" fmla="*/ 33 w 107"/>
                <a:gd name="T7" fmla="*/ 4 h 107"/>
                <a:gd name="T8" fmla="*/ 16 w 107"/>
                <a:gd name="T9" fmla="*/ 16 h 107"/>
                <a:gd name="T10" fmla="*/ 5 w 107"/>
                <a:gd name="T11" fmla="*/ 33 h 107"/>
                <a:gd name="T12" fmla="*/ 0 w 107"/>
                <a:gd name="T13" fmla="*/ 53 h 107"/>
                <a:gd name="T14" fmla="*/ 5 w 107"/>
                <a:gd name="T15" fmla="*/ 74 h 107"/>
                <a:gd name="T16" fmla="*/ 16 w 107"/>
                <a:gd name="T17" fmla="*/ 91 h 107"/>
                <a:gd name="T18" fmla="*/ 33 w 107"/>
                <a:gd name="T19" fmla="*/ 102 h 107"/>
                <a:gd name="T20" fmla="*/ 54 w 107"/>
                <a:gd name="T21" fmla="*/ 107 h 107"/>
                <a:gd name="T22" fmla="*/ 74 w 107"/>
                <a:gd name="T23" fmla="*/ 102 h 107"/>
                <a:gd name="T24" fmla="*/ 91 w 107"/>
                <a:gd name="T25" fmla="*/ 91 h 107"/>
                <a:gd name="T26" fmla="*/ 103 w 107"/>
                <a:gd name="T27" fmla="*/ 74 h 107"/>
                <a:gd name="T28" fmla="*/ 107 w 107"/>
                <a:gd name="T29" fmla="*/ 53 h 107"/>
                <a:gd name="T30" fmla="*/ 103 w 107"/>
                <a:gd name="T31" fmla="*/ 33 h 107"/>
                <a:gd name="T32" fmla="*/ 91 w 107"/>
                <a:gd name="T33" fmla="*/ 16 h 107"/>
                <a:gd name="T34" fmla="*/ 74 w 107"/>
                <a:gd name="T35" fmla="*/ 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7" h="107">
                  <a:moveTo>
                    <a:pt x="74" y="4"/>
                  </a:moveTo>
                  <a:lnTo>
                    <a:pt x="74" y="4"/>
                  </a:lnTo>
                  <a:cubicBezTo>
                    <a:pt x="68" y="1"/>
                    <a:pt x="61" y="0"/>
                    <a:pt x="54" y="0"/>
                  </a:cubicBezTo>
                  <a:cubicBezTo>
                    <a:pt x="46" y="0"/>
                    <a:pt x="40" y="1"/>
                    <a:pt x="33" y="4"/>
                  </a:cubicBezTo>
                  <a:cubicBezTo>
                    <a:pt x="27" y="7"/>
                    <a:pt x="21" y="11"/>
                    <a:pt x="16" y="16"/>
                  </a:cubicBezTo>
                  <a:cubicBezTo>
                    <a:pt x="11" y="20"/>
                    <a:pt x="8" y="26"/>
                    <a:pt x="5" y="33"/>
                  </a:cubicBezTo>
                  <a:cubicBezTo>
                    <a:pt x="2" y="39"/>
                    <a:pt x="0" y="46"/>
                    <a:pt x="0" y="53"/>
                  </a:cubicBezTo>
                  <a:cubicBezTo>
                    <a:pt x="0" y="61"/>
                    <a:pt x="2" y="67"/>
                    <a:pt x="5" y="74"/>
                  </a:cubicBezTo>
                  <a:cubicBezTo>
                    <a:pt x="8" y="80"/>
                    <a:pt x="11" y="86"/>
                    <a:pt x="16" y="91"/>
                  </a:cubicBezTo>
                  <a:cubicBezTo>
                    <a:pt x="21" y="96"/>
                    <a:pt x="27" y="99"/>
                    <a:pt x="33" y="102"/>
                  </a:cubicBezTo>
                  <a:cubicBezTo>
                    <a:pt x="40" y="105"/>
                    <a:pt x="46" y="107"/>
                    <a:pt x="54" y="107"/>
                  </a:cubicBezTo>
                  <a:cubicBezTo>
                    <a:pt x="61" y="107"/>
                    <a:pt x="68" y="105"/>
                    <a:pt x="74" y="102"/>
                  </a:cubicBezTo>
                  <a:cubicBezTo>
                    <a:pt x="81" y="99"/>
                    <a:pt x="87" y="96"/>
                    <a:pt x="91" y="91"/>
                  </a:cubicBezTo>
                  <a:cubicBezTo>
                    <a:pt x="96" y="86"/>
                    <a:pt x="100" y="80"/>
                    <a:pt x="103" y="74"/>
                  </a:cubicBezTo>
                  <a:cubicBezTo>
                    <a:pt x="106" y="67"/>
                    <a:pt x="107" y="61"/>
                    <a:pt x="107" y="53"/>
                  </a:cubicBezTo>
                  <a:cubicBezTo>
                    <a:pt x="107" y="46"/>
                    <a:pt x="106" y="39"/>
                    <a:pt x="103" y="33"/>
                  </a:cubicBezTo>
                  <a:cubicBezTo>
                    <a:pt x="100" y="26"/>
                    <a:pt x="96" y="20"/>
                    <a:pt x="91" y="16"/>
                  </a:cubicBezTo>
                  <a:cubicBezTo>
                    <a:pt x="87" y="11"/>
                    <a:pt x="81" y="7"/>
                    <a:pt x="74" y="4"/>
                  </a:cubicBez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16" name="Freeform 6"/>
            <p:cNvSpPr/>
            <p:nvPr/>
          </p:nvSpPr>
          <p:spPr bwMode="auto">
            <a:xfrm>
              <a:off x="3719" y="1432"/>
              <a:ext cx="110" cy="152"/>
            </a:xfrm>
            <a:custGeom>
              <a:avLst/>
              <a:gdLst>
                <a:gd name="T0" fmla="*/ 111 w 119"/>
                <a:gd name="T1" fmla="*/ 0 h 164"/>
                <a:gd name="T2" fmla="*/ 111 w 119"/>
                <a:gd name="T3" fmla="*/ 0 h 164"/>
                <a:gd name="T4" fmla="*/ 0 w 119"/>
                <a:gd name="T5" fmla="*/ 0 h 164"/>
                <a:gd name="T6" fmla="*/ 82 w 119"/>
                <a:gd name="T7" fmla="*/ 164 h 164"/>
                <a:gd name="T8" fmla="*/ 109 w 119"/>
                <a:gd name="T9" fmla="*/ 111 h 164"/>
                <a:gd name="T10" fmla="*/ 119 w 119"/>
                <a:gd name="T11" fmla="*/ 53 h 164"/>
                <a:gd name="T12" fmla="*/ 111 w 119"/>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19" h="164">
                  <a:moveTo>
                    <a:pt x="111" y="0"/>
                  </a:moveTo>
                  <a:lnTo>
                    <a:pt x="111" y="0"/>
                  </a:lnTo>
                  <a:lnTo>
                    <a:pt x="0" y="0"/>
                  </a:lnTo>
                  <a:lnTo>
                    <a:pt x="82" y="164"/>
                  </a:lnTo>
                  <a:cubicBezTo>
                    <a:pt x="94" y="148"/>
                    <a:pt x="103" y="130"/>
                    <a:pt x="109" y="111"/>
                  </a:cubicBezTo>
                  <a:cubicBezTo>
                    <a:pt x="115" y="92"/>
                    <a:pt x="119" y="73"/>
                    <a:pt x="119" y="53"/>
                  </a:cubicBezTo>
                  <a:cubicBezTo>
                    <a:pt x="119" y="35"/>
                    <a:pt x="116" y="17"/>
                    <a:pt x="111" y="0"/>
                  </a:cubicBez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17" name="Freeform 7"/>
            <p:cNvSpPr/>
            <p:nvPr/>
          </p:nvSpPr>
          <p:spPr bwMode="auto">
            <a:xfrm>
              <a:off x="3483" y="1380"/>
              <a:ext cx="110" cy="150"/>
            </a:xfrm>
            <a:custGeom>
              <a:avLst/>
              <a:gdLst>
                <a:gd name="T0" fmla="*/ 37 w 119"/>
                <a:gd name="T1" fmla="*/ 0 h 163"/>
                <a:gd name="T2" fmla="*/ 37 w 119"/>
                <a:gd name="T3" fmla="*/ 0 h 163"/>
                <a:gd name="T4" fmla="*/ 10 w 119"/>
                <a:gd name="T5" fmla="*/ 52 h 163"/>
                <a:gd name="T6" fmla="*/ 0 w 119"/>
                <a:gd name="T7" fmla="*/ 110 h 163"/>
                <a:gd name="T8" fmla="*/ 8 w 119"/>
                <a:gd name="T9" fmla="*/ 163 h 163"/>
                <a:gd name="T10" fmla="*/ 119 w 119"/>
                <a:gd name="T11" fmla="*/ 163 h 163"/>
                <a:gd name="T12" fmla="*/ 37 w 119"/>
                <a:gd name="T13" fmla="*/ 0 h 163"/>
              </a:gdLst>
              <a:ahLst/>
              <a:cxnLst>
                <a:cxn ang="0">
                  <a:pos x="T0" y="T1"/>
                </a:cxn>
                <a:cxn ang="0">
                  <a:pos x="T2" y="T3"/>
                </a:cxn>
                <a:cxn ang="0">
                  <a:pos x="T4" y="T5"/>
                </a:cxn>
                <a:cxn ang="0">
                  <a:pos x="T6" y="T7"/>
                </a:cxn>
                <a:cxn ang="0">
                  <a:pos x="T8" y="T9"/>
                </a:cxn>
                <a:cxn ang="0">
                  <a:pos x="T10" y="T11"/>
                </a:cxn>
                <a:cxn ang="0">
                  <a:pos x="T12" y="T13"/>
                </a:cxn>
              </a:cxnLst>
              <a:rect l="0" t="0" r="r" b="b"/>
              <a:pathLst>
                <a:path w="119" h="163">
                  <a:moveTo>
                    <a:pt x="37" y="0"/>
                  </a:moveTo>
                  <a:lnTo>
                    <a:pt x="37" y="0"/>
                  </a:lnTo>
                  <a:cubicBezTo>
                    <a:pt x="25" y="16"/>
                    <a:pt x="16" y="33"/>
                    <a:pt x="10" y="52"/>
                  </a:cubicBezTo>
                  <a:cubicBezTo>
                    <a:pt x="3" y="71"/>
                    <a:pt x="0" y="90"/>
                    <a:pt x="0" y="110"/>
                  </a:cubicBezTo>
                  <a:cubicBezTo>
                    <a:pt x="0" y="128"/>
                    <a:pt x="3" y="146"/>
                    <a:pt x="8" y="163"/>
                  </a:cubicBezTo>
                  <a:lnTo>
                    <a:pt x="119" y="163"/>
                  </a:lnTo>
                  <a:lnTo>
                    <a:pt x="37" y="0"/>
                  </a:ln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18" name="Freeform 8"/>
            <p:cNvSpPr/>
            <p:nvPr/>
          </p:nvSpPr>
          <p:spPr bwMode="auto">
            <a:xfrm>
              <a:off x="3630" y="1311"/>
              <a:ext cx="181" cy="101"/>
            </a:xfrm>
            <a:custGeom>
              <a:avLst/>
              <a:gdLst>
                <a:gd name="T0" fmla="*/ 14 w 196"/>
                <a:gd name="T1" fmla="*/ 106 h 109"/>
                <a:gd name="T2" fmla="*/ 14 w 196"/>
                <a:gd name="T3" fmla="*/ 106 h 109"/>
                <a:gd name="T4" fmla="*/ 28 w 196"/>
                <a:gd name="T5" fmla="*/ 104 h 109"/>
                <a:gd name="T6" fmla="*/ 196 w 196"/>
                <a:gd name="T7" fmla="*/ 104 h 109"/>
                <a:gd name="T8" fmla="*/ 171 w 196"/>
                <a:gd name="T9" fmla="*/ 66 h 109"/>
                <a:gd name="T10" fmla="*/ 139 w 196"/>
                <a:gd name="T11" fmla="*/ 34 h 109"/>
                <a:gd name="T12" fmla="*/ 99 w 196"/>
                <a:gd name="T13" fmla="*/ 12 h 109"/>
                <a:gd name="T14" fmla="*/ 55 w 196"/>
                <a:gd name="T15" fmla="*/ 0 h 109"/>
                <a:gd name="T16" fmla="*/ 0 w 196"/>
                <a:gd name="T17" fmla="*/ 109 h 109"/>
                <a:gd name="T18" fmla="*/ 14 w 196"/>
                <a:gd name="T19" fmla="*/ 10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6" h="109">
                  <a:moveTo>
                    <a:pt x="14" y="106"/>
                  </a:moveTo>
                  <a:lnTo>
                    <a:pt x="14" y="106"/>
                  </a:lnTo>
                  <a:cubicBezTo>
                    <a:pt x="18" y="105"/>
                    <a:pt x="23" y="104"/>
                    <a:pt x="28" y="104"/>
                  </a:cubicBezTo>
                  <a:lnTo>
                    <a:pt x="196" y="104"/>
                  </a:lnTo>
                  <a:cubicBezTo>
                    <a:pt x="190" y="90"/>
                    <a:pt x="181" y="77"/>
                    <a:pt x="171" y="66"/>
                  </a:cubicBezTo>
                  <a:cubicBezTo>
                    <a:pt x="162" y="54"/>
                    <a:pt x="151" y="43"/>
                    <a:pt x="139" y="34"/>
                  </a:cubicBezTo>
                  <a:cubicBezTo>
                    <a:pt x="126" y="25"/>
                    <a:pt x="113" y="18"/>
                    <a:pt x="99" y="12"/>
                  </a:cubicBezTo>
                  <a:cubicBezTo>
                    <a:pt x="85" y="6"/>
                    <a:pt x="70" y="2"/>
                    <a:pt x="55" y="0"/>
                  </a:cubicBezTo>
                  <a:lnTo>
                    <a:pt x="0" y="109"/>
                  </a:lnTo>
                  <a:cubicBezTo>
                    <a:pt x="5" y="108"/>
                    <a:pt x="9" y="106"/>
                    <a:pt x="14" y="106"/>
                  </a:cubicBez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19" name="Freeform 9"/>
            <p:cNvSpPr/>
            <p:nvPr/>
          </p:nvSpPr>
          <p:spPr bwMode="auto">
            <a:xfrm>
              <a:off x="3535" y="1309"/>
              <a:ext cx="119" cy="144"/>
            </a:xfrm>
            <a:custGeom>
              <a:avLst/>
              <a:gdLst>
                <a:gd name="T0" fmla="*/ 129 w 129"/>
                <a:gd name="T1" fmla="*/ 0 h 156"/>
                <a:gd name="T2" fmla="*/ 129 w 129"/>
                <a:gd name="T3" fmla="*/ 0 h 156"/>
                <a:gd name="T4" fmla="*/ 59 w 129"/>
                <a:gd name="T5" fmla="*/ 14 h 156"/>
                <a:gd name="T6" fmla="*/ 0 w 129"/>
                <a:gd name="T7" fmla="*/ 54 h 156"/>
                <a:gd name="T8" fmla="*/ 51 w 129"/>
                <a:gd name="T9" fmla="*/ 156 h 156"/>
                <a:gd name="T10" fmla="*/ 129 w 129"/>
                <a:gd name="T11" fmla="*/ 0 h 156"/>
              </a:gdLst>
              <a:ahLst/>
              <a:cxnLst>
                <a:cxn ang="0">
                  <a:pos x="T0" y="T1"/>
                </a:cxn>
                <a:cxn ang="0">
                  <a:pos x="T2" y="T3"/>
                </a:cxn>
                <a:cxn ang="0">
                  <a:pos x="T4" y="T5"/>
                </a:cxn>
                <a:cxn ang="0">
                  <a:pos x="T6" y="T7"/>
                </a:cxn>
                <a:cxn ang="0">
                  <a:pos x="T8" y="T9"/>
                </a:cxn>
                <a:cxn ang="0">
                  <a:pos x="T10" y="T11"/>
                </a:cxn>
              </a:cxnLst>
              <a:rect l="0" t="0" r="r" b="b"/>
              <a:pathLst>
                <a:path w="129" h="156">
                  <a:moveTo>
                    <a:pt x="129" y="0"/>
                  </a:moveTo>
                  <a:lnTo>
                    <a:pt x="129" y="0"/>
                  </a:lnTo>
                  <a:cubicBezTo>
                    <a:pt x="105" y="0"/>
                    <a:pt x="82" y="5"/>
                    <a:pt x="59" y="14"/>
                  </a:cubicBezTo>
                  <a:cubicBezTo>
                    <a:pt x="37" y="23"/>
                    <a:pt x="17" y="36"/>
                    <a:pt x="0" y="54"/>
                  </a:cubicBezTo>
                  <a:lnTo>
                    <a:pt x="51" y="156"/>
                  </a:lnTo>
                  <a:lnTo>
                    <a:pt x="129" y="0"/>
                  </a:ln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20" name="Freeform 10"/>
            <p:cNvSpPr/>
            <p:nvPr/>
          </p:nvSpPr>
          <p:spPr bwMode="auto">
            <a:xfrm>
              <a:off x="3500" y="1550"/>
              <a:ext cx="182" cy="102"/>
            </a:xfrm>
            <a:custGeom>
              <a:avLst/>
              <a:gdLst>
                <a:gd name="T0" fmla="*/ 183 w 197"/>
                <a:gd name="T1" fmla="*/ 4 h 110"/>
                <a:gd name="T2" fmla="*/ 183 w 197"/>
                <a:gd name="T3" fmla="*/ 4 h 110"/>
                <a:gd name="T4" fmla="*/ 169 w 197"/>
                <a:gd name="T5" fmla="*/ 5 h 110"/>
                <a:gd name="T6" fmla="*/ 0 w 197"/>
                <a:gd name="T7" fmla="*/ 5 h 110"/>
                <a:gd name="T8" fmla="*/ 25 w 197"/>
                <a:gd name="T9" fmla="*/ 44 h 110"/>
                <a:gd name="T10" fmla="*/ 58 w 197"/>
                <a:gd name="T11" fmla="*/ 75 h 110"/>
                <a:gd name="T12" fmla="*/ 98 w 197"/>
                <a:gd name="T13" fmla="*/ 97 h 110"/>
                <a:gd name="T14" fmla="*/ 142 w 197"/>
                <a:gd name="T15" fmla="*/ 110 h 110"/>
                <a:gd name="T16" fmla="*/ 197 w 197"/>
                <a:gd name="T17" fmla="*/ 0 h 110"/>
                <a:gd name="T18" fmla="*/ 183 w 197"/>
                <a:gd name="T19" fmla="*/ 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7" h="110">
                  <a:moveTo>
                    <a:pt x="183" y="4"/>
                  </a:moveTo>
                  <a:lnTo>
                    <a:pt x="183" y="4"/>
                  </a:lnTo>
                  <a:cubicBezTo>
                    <a:pt x="178" y="5"/>
                    <a:pt x="174" y="5"/>
                    <a:pt x="169" y="5"/>
                  </a:cubicBezTo>
                  <a:lnTo>
                    <a:pt x="0" y="5"/>
                  </a:lnTo>
                  <a:cubicBezTo>
                    <a:pt x="7" y="19"/>
                    <a:pt x="15" y="32"/>
                    <a:pt x="25" y="44"/>
                  </a:cubicBezTo>
                  <a:cubicBezTo>
                    <a:pt x="35" y="56"/>
                    <a:pt x="46" y="66"/>
                    <a:pt x="58" y="75"/>
                  </a:cubicBezTo>
                  <a:cubicBezTo>
                    <a:pt x="70" y="84"/>
                    <a:pt x="83" y="91"/>
                    <a:pt x="98" y="97"/>
                  </a:cubicBezTo>
                  <a:cubicBezTo>
                    <a:pt x="112" y="103"/>
                    <a:pt x="126" y="107"/>
                    <a:pt x="142" y="110"/>
                  </a:cubicBezTo>
                  <a:lnTo>
                    <a:pt x="197" y="0"/>
                  </a:lnTo>
                  <a:cubicBezTo>
                    <a:pt x="192" y="2"/>
                    <a:pt x="188" y="3"/>
                    <a:pt x="183" y="4"/>
                  </a:cubicBez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21" name="Freeform 11"/>
            <p:cNvSpPr/>
            <p:nvPr/>
          </p:nvSpPr>
          <p:spPr bwMode="auto">
            <a:xfrm>
              <a:off x="3657" y="1509"/>
              <a:ext cx="120" cy="145"/>
            </a:xfrm>
            <a:custGeom>
              <a:avLst/>
              <a:gdLst>
                <a:gd name="T0" fmla="*/ 0 w 130"/>
                <a:gd name="T1" fmla="*/ 157 h 157"/>
                <a:gd name="T2" fmla="*/ 0 w 130"/>
                <a:gd name="T3" fmla="*/ 157 h 157"/>
                <a:gd name="T4" fmla="*/ 70 w 130"/>
                <a:gd name="T5" fmla="*/ 142 h 157"/>
                <a:gd name="T6" fmla="*/ 130 w 130"/>
                <a:gd name="T7" fmla="*/ 103 h 157"/>
                <a:gd name="T8" fmla="*/ 79 w 130"/>
                <a:gd name="T9" fmla="*/ 0 h 157"/>
                <a:gd name="T10" fmla="*/ 0 w 130"/>
                <a:gd name="T11" fmla="*/ 157 h 157"/>
              </a:gdLst>
              <a:ahLst/>
              <a:cxnLst>
                <a:cxn ang="0">
                  <a:pos x="T0" y="T1"/>
                </a:cxn>
                <a:cxn ang="0">
                  <a:pos x="T2" y="T3"/>
                </a:cxn>
                <a:cxn ang="0">
                  <a:pos x="T4" y="T5"/>
                </a:cxn>
                <a:cxn ang="0">
                  <a:pos x="T6" y="T7"/>
                </a:cxn>
                <a:cxn ang="0">
                  <a:pos x="T8" y="T9"/>
                </a:cxn>
                <a:cxn ang="0">
                  <a:pos x="T10" y="T11"/>
                </a:cxn>
              </a:cxnLst>
              <a:rect l="0" t="0" r="r" b="b"/>
              <a:pathLst>
                <a:path w="130" h="157">
                  <a:moveTo>
                    <a:pt x="0" y="157"/>
                  </a:moveTo>
                  <a:lnTo>
                    <a:pt x="0" y="157"/>
                  </a:lnTo>
                  <a:cubicBezTo>
                    <a:pt x="25" y="157"/>
                    <a:pt x="48" y="152"/>
                    <a:pt x="70" y="142"/>
                  </a:cubicBezTo>
                  <a:cubicBezTo>
                    <a:pt x="93" y="133"/>
                    <a:pt x="113" y="120"/>
                    <a:pt x="130" y="103"/>
                  </a:cubicBezTo>
                  <a:lnTo>
                    <a:pt x="79" y="0"/>
                  </a:lnTo>
                  <a:lnTo>
                    <a:pt x="0" y="157"/>
                  </a:lnTo>
                  <a:close/>
                </a:path>
              </a:pathLst>
            </a:custGeom>
            <a:grpFill/>
            <a:ln w="0">
              <a:no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grpSp>
      <p:sp>
        <p:nvSpPr>
          <p:cNvPr id="22" name="文本框 78"/>
          <p:cNvSpPr txBox="1"/>
          <p:nvPr/>
        </p:nvSpPr>
        <p:spPr>
          <a:xfrm>
            <a:off x="5489359" y="2138757"/>
            <a:ext cx="929743" cy="276999"/>
          </a:xfrm>
          <a:prstGeom prst="rect">
            <a:avLst/>
          </a:prstGeom>
          <a:noFill/>
        </p:spPr>
        <p:txBody>
          <a:bodyPr wrap="none" lIns="0" tIns="0" rIns="0" bIns="0" rtlCol="0">
            <a:spAutoFit/>
          </a:bodyPr>
          <a:lstStyle/>
          <a:p>
            <a:pPr algn="ctr"/>
            <a:r>
              <a:rPr lang="zh-CN" altLang="en-US" b="1">
                <a:solidFill>
                  <a:srgbClr val="6B0060"/>
                </a:solidFill>
                <a:latin typeface="+mn-ea"/>
                <a:sym typeface="等线" panose="02010600030101010101" pitchFamily="2" charset="-122"/>
              </a:rPr>
              <a:t>应用背景</a:t>
            </a:r>
            <a:endParaRPr lang="zh-CN" altLang="en-US" b="1" dirty="0">
              <a:solidFill>
                <a:srgbClr val="6B0060"/>
              </a:solidFill>
              <a:latin typeface="+mn-ea"/>
              <a:sym typeface="等线" panose="02010600030101010101" pitchFamily="2" charset="-122"/>
            </a:endParaRPr>
          </a:p>
        </p:txBody>
      </p:sp>
      <p:grpSp>
        <p:nvGrpSpPr>
          <p:cNvPr id="23" name="组合 209"/>
          <p:cNvGrpSpPr>
            <a:grpSpLocks noChangeAspect="1"/>
          </p:cNvGrpSpPr>
          <p:nvPr/>
        </p:nvGrpSpPr>
        <p:grpSpPr>
          <a:xfrm>
            <a:off x="4009473" y="4633681"/>
            <a:ext cx="1207008" cy="1207008"/>
            <a:chOff x="5466464" y="1399081"/>
            <a:chExt cx="1207008" cy="1207008"/>
          </a:xfrm>
          <a:effectLst>
            <a:outerShdw blurRad="63500" sx="102000" sy="102000" algn="ctr" rotWithShape="0">
              <a:schemeClr val="accent1">
                <a:alpha val="40000"/>
              </a:schemeClr>
            </a:outerShdw>
          </a:effectLst>
        </p:grpSpPr>
        <p:sp useBgFill="1">
          <p:nvSpPr>
            <p:cNvPr id="24" name="椭圆 210"/>
            <p:cNvSpPr/>
            <p:nvPr/>
          </p:nvSpPr>
          <p:spPr bwMode="auto">
            <a:xfrm>
              <a:off x="5466464" y="1399081"/>
              <a:ext cx="1207008" cy="1207008"/>
            </a:xfrm>
            <a:prstGeom prst="ellips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2805" rIns="0" bIns="42805" numCol="1" rtlCol="0" anchor="ctr" anchorCtr="0" compatLnSpc="1"/>
            <a:lstStyle/>
            <a:p>
              <a:pPr algn="ctr" defTabSz="855345" fontAlgn="base">
                <a:spcBef>
                  <a:spcPct val="0"/>
                </a:spcBef>
                <a:spcAft>
                  <a:spcPct val="0"/>
                </a:spcAft>
              </a:pPr>
              <a:endParaRPr lang="en-US" sz="1470" dirty="0">
                <a:gradFill>
                  <a:gsLst>
                    <a:gs pos="40075">
                      <a:srgbClr val="FFFFFF"/>
                    </a:gs>
                    <a:gs pos="30000">
                      <a:srgbClr val="FFFFFF"/>
                    </a:gs>
                  </a:gsLst>
                  <a:lin ang="5400000" scaled="0"/>
                </a:gradFill>
                <a:latin typeface="等线" panose="02010600030101010101" pitchFamily="2" charset="-122"/>
                <a:sym typeface="等线" panose="02010600030101010101" pitchFamily="2" charset="-122"/>
              </a:endParaRPr>
            </a:p>
          </p:txBody>
        </p:sp>
        <p:sp useBgFill="1">
          <p:nvSpPr>
            <p:cNvPr id="25" name="椭圆 211"/>
            <p:cNvSpPr/>
            <p:nvPr/>
          </p:nvSpPr>
          <p:spPr bwMode="auto">
            <a:xfrm>
              <a:off x="5512476" y="1445094"/>
              <a:ext cx="1114984" cy="1114982"/>
            </a:xfrm>
            <a:prstGeom prst="ellipse">
              <a:avLst/>
            </a:prstGeom>
            <a:solidFill>
              <a:schemeClr val="bg2"/>
            </a:solidFill>
            <a:ln>
              <a:noFill/>
            </a:ln>
            <a:effectLst>
              <a:outerShdw blurRad="241300" dist="114300" dir="2700000" sx="101000" sy="101000" algn="tl" rotWithShape="0">
                <a:schemeClr val="accent1">
                  <a:alpha val="26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en-US" sz="2000" dirty="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sp>
          <p:nvSpPr>
            <p:cNvPr id="26" name="椭圆 102"/>
            <p:cNvSpPr>
              <a:spLocks noChangeArrowheads="1"/>
            </p:cNvSpPr>
            <p:nvPr/>
          </p:nvSpPr>
          <p:spPr bwMode="auto">
            <a:xfrm>
              <a:off x="5512478" y="1445094"/>
              <a:ext cx="1114980" cy="1114982"/>
            </a:xfrm>
            <a:prstGeom prst="ellipse">
              <a:avLst/>
            </a:prstGeom>
            <a:solidFill>
              <a:srgbClr val="6B0060">
                <a:alpha val="88000"/>
              </a:srgbClr>
            </a:solid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a:noFill/>
                <a:latin typeface="等线" panose="02010600030101010101" pitchFamily="2" charset="-122"/>
                <a:cs typeface="Segoe UI" panose="020B0502040204020203" pitchFamily="34" charset="0"/>
                <a:sym typeface="等线" panose="02010600030101010101" pitchFamily="2" charset="-122"/>
              </a:endParaRPr>
            </a:p>
          </p:txBody>
        </p:sp>
        <p:sp>
          <p:nvSpPr>
            <p:cNvPr id="27" name="椭圆 102"/>
            <p:cNvSpPr>
              <a:spLocks noChangeArrowheads="1"/>
            </p:cNvSpPr>
            <p:nvPr/>
          </p:nvSpPr>
          <p:spPr bwMode="auto">
            <a:xfrm>
              <a:off x="5512478" y="1445094"/>
              <a:ext cx="1114980" cy="1114982"/>
            </a:xfrm>
            <a:prstGeom prst="ellipse">
              <a:avLst/>
            </a:prstGeom>
            <a:no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grpSp>
      <p:grpSp>
        <p:nvGrpSpPr>
          <p:cNvPr id="28" name="组合 209"/>
          <p:cNvGrpSpPr>
            <a:grpSpLocks noChangeAspect="1"/>
          </p:cNvGrpSpPr>
          <p:nvPr/>
        </p:nvGrpSpPr>
        <p:grpSpPr>
          <a:xfrm>
            <a:off x="6698784" y="4633681"/>
            <a:ext cx="1207008" cy="1207008"/>
            <a:chOff x="5466464" y="1399081"/>
            <a:chExt cx="1207008" cy="1207008"/>
          </a:xfrm>
          <a:effectLst>
            <a:outerShdw blurRad="63500" sx="102000" sy="102000" algn="ctr" rotWithShape="0">
              <a:schemeClr val="accent1">
                <a:alpha val="40000"/>
              </a:schemeClr>
            </a:outerShdw>
          </a:effectLst>
        </p:grpSpPr>
        <p:sp useBgFill="1">
          <p:nvSpPr>
            <p:cNvPr id="29" name="椭圆 210"/>
            <p:cNvSpPr/>
            <p:nvPr/>
          </p:nvSpPr>
          <p:spPr bwMode="auto">
            <a:xfrm>
              <a:off x="5466464" y="1399081"/>
              <a:ext cx="1207008" cy="1207008"/>
            </a:xfrm>
            <a:prstGeom prst="ellipse">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2805" rIns="0" bIns="42805" numCol="1" rtlCol="0" anchor="ctr" anchorCtr="0" compatLnSpc="1"/>
            <a:lstStyle/>
            <a:p>
              <a:pPr algn="ctr" defTabSz="855345" fontAlgn="base">
                <a:spcBef>
                  <a:spcPct val="0"/>
                </a:spcBef>
                <a:spcAft>
                  <a:spcPct val="0"/>
                </a:spcAft>
              </a:pPr>
              <a:endParaRPr lang="en-US" sz="1470" dirty="0">
                <a:gradFill>
                  <a:gsLst>
                    <a:gs pos="40075">
                      <a:srgbClr val="FFFFFF"/>
                    </a:gs>
                    <a:gs pos="30000">
                      <a:srgbClr val="FFFFFF"/>
                    </a:gs>
                  </a:gsLst>
                  <a:lin ang="5400000" scaled="0"/>
                </a:gradFill>
                <a:latin typeface="等线" panose="02010600030101010101" pitchFamily="2" charset="-122"/>
                <a:sym typeface="等线" panose="02010600030101010101" pitchFamily="2" charset="-122"/>
              </a:endParaRPr>
            </a:p>
          </p:txBody>
        </p:sp>
        <p:sp useBgFill="1">
          <p:nvSpPr>
            <p:cNvPr id="30" name="椭圆 211"/>
            <p:cNvSpPr/>
            <p:nvPr/>
          </p:nvSpPr>
          <p:spPr bwMode="auto">
            <a:xfrm>
              <a:off x="5512476" y="1445094"/>
              <a:ext cx="1114984" cy="1114982"/>
            </a:xfrm>
            <a:prstGeom prst="ellipse">
              <a:avLst/>
            </a:prstGeom>
            <a:solidFill>
              <a:schemeClr val="bg2"/>
            </a:solidFill>
            <a:ln>
              <a:noFill/>
            </a:ln>
            <a:effectLst>
              <a:outerShdw blurRad="241300" dist="114300" dir="2700000" sx="101000" sy="101000" algn="tl" rotWithShape="0">
                <a:schemeClr val="accent1">
                  <a:alpha val="26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en-US" sz="2000" dirty="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sp>
          <p:nvSpPr>
            <p:cNvPr id="31" name="椭圆 102"/>
            <p:cNvSpPr>
              <a:spLocks noChangeArrowheads="1"/>
            </p:cNvSpPr>
            <p:nvPr/>
          </p:nvSpPr>
          <p:spPr bwMode="auto">
            <a:xfrm>
              <a:off x="5512478" y="1445094"/>
              <a:ext cx="1114980" cy="1114982"/>
            </a:xfrm>
            <a:prstGeom prst="ellipse">
              <a:avLst/>
            </a:prstGeom>
            <a:solidFill>
              <a:srgbClr val="6B0060">
                <a:alpha val="88000"/>
              </a:srgbClr>
            </a:solid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a:noFill/>
                <a:latin typeface="等线" panose="02010600030101010101" pitchFamily="2" charset="-122"/>
                <a:cs typeface="Segoe UI" panose="020B0502040204020203" pitchFamily="34" charset="0"/>
                <a:sym typeface="等线" panose="02010600030101010101" pitchFamily="2" charset="-122"/>
              </a:endParaRPr>
            </a:p>
          </p:txBody>
        </p:sp>
        <p:sp>
          <p:nvSpPr>
            <p:cNvPr id="32" name="椭圆 102"/>
            <p:cNvSpPr>
              <a:spLocks noChangeArrowheads="1"/>
            </p:cNvSpPr>
            <p:nvPr/>
          </p:nvSpPr>
          <p:spPr bwMode="auto">
            <a:xfrm>
              <a:off x="5512478" y="1445094"/>
              <a:ext cx="1114980" cy="1114982"/>
            </a:xfrm>
            <a:prstGeom prst="ellipse">
              <a:avLst/>
            </a:prstGeom>
            <a:noFill/>
            <a:ln w="12700">
              <a:no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noAutofit/>
            </a:bodyPr>
            <a:lstStyle/>
            <a:p>
              <a:pPr defTabSz="932180" fontAlgn="base">
                <a:spcBef>
                  <a:spcPct val="0"/>
                </a:spcBef>
                <a:spcAft>
                  <a:spcPct val="0"/>
                </a:spcAft>
              </a:pPr>
              <a:endParaRPr lang="de-DE" sz="2000">
                <a:gradFill>
                  <a:gsLst>
                    <a:gs pos="0">
                      <a:srgbClr val="FFFFFF"/>
                    </a:gs>
                    <a:gs pos="100000">
                      <a:srgbClr val="FFFFFF"/>
                    </a:gs>
                  </a:gsLst>
                  <a:lin ang="5400000" scaled="0"/>
                </a:gradFill>
                <a:latin typeface="等线" panose="02010600030101010101" pitchFamily="2" charset="-122"/>
                <a:cs typeface="Segoe UI" panose="020B0502040204020203" pitchFamily="34" charset="0"/>
                <a:sym typeface="等线" panose="02010600030101010101" pitchFamily="2" charset="-122"/>
              </a:endParaRPr>
            </a:p>
          </p:txBody>
        </p:sp>
      </p:grpSp>
      <p:grpSp>
        <p:nvGrpSpPr>
          <p:cNvPr id="33" name="组合 14"/>
          <p:cNvGrpSpPr>
            <a:grpSpLocks noChangeAspect="1"/>
          </p:cNvGrpSpPr>
          <p:nvPr/>
        </p:nvGrpSpPr>
        <p:grpSpPr bwMode="auto">
          <a:xfrm>
            <a:off x="4415333" y="4987539"/>
            <a:ext cx="395287" cy="496887"/>
            <a:chOff x="5064" y="1460"/>
            <a:chExt cx="249" cy="313"/>
          </a:xfrm>
          <a:solidFill>
            <a:srgbClr val="FFFFFF"/>
          </a:solidFill>
        </p:grpSpPr>
        <p:sp>
          <p:nvSpPr>
            <p:cNvPr id="34" name="Freeform 15"/>
            <p:cNvSpPr/>
            <p:nvPr/>
          </p:nvSpPr>
          <p:spPr bwMode="auto">
            <a:xfrm>
              <a:off x="5064" y="1460"/>
              <a:ext cx="202" cy="246"/>
            </a:xfrm>
            <a:custGeom>
              <a:avLst/>
              <a:gdLst>
                <a:gd name="T0" fmla="*/ 140 w 240"/>
                <a:gd name="T1" fmla="*/ 220 h 293"/>
                <a:gd name="T2" fmla="*/ 140 w 240"/>
                <a:gd name="T3" fmla="*/ 220 h 293"/>
                <a:gd name="T4" fmla="*/ 33 w 240"/>
                <a:gd name="T5" fmla="*/ 113 h 293"/>
                <a:gd name="T6" fmla="*/ 89 w 240"/>
                <a:gd name="T7" fmla="*/ 57 h 293"/>
                <a:gd name="T8" fmla="*/ 140 w 240"/>
                <a:gd name="T9" fmla="*/ 107 h 293"/>
                <a:gd name="T10" fmla="*/ 208 w 240"/>
                <a:gd name="T11" fmla="*/ 39 h 293"/>
                <a:gd name="T12" fmla="*/ 205 w 240"/>
                <a:gd name="T13" fmla="*/ 35 h 293"/>
                <a:gd name="T14" fmla="*/ 167 w 240"/>
                <a:gd name="T15" fmla="*/ 9 h 293"/>
                <a:gd name="T16" fmla="*/ 120 w 240"/>
                <a:gd name="T17" fmla="*/ 0 h 293"/>
                <a:gd name="T18" fmla="*/ 73 w 240"/>
                <a:gd name="T19" fmla="*/ 9 h 293"/>
                <a:gd name="T20" fmla="*/ 35 w 240"/>
                <a:gd name="T21" fmla="*/ 35 h 293"/>
                <a:gd name="T22" fmla="*/ 9 w 240"/>
                <a:gd name="T23" fmla="*/ 73 h 293"/>
                <a:gd name="T24" fmla="*/ 0 w 240"/>
                <a:gd name="T25" fmla="*/ 120 h 293"/>
                <a:gd name="T26" fmla="*/ 9 w 240"/>
                <a:gd name="T27" fmla="*/ 165 h 293"/>
                <a:gd name="T28" fmla="*/ 36 w 240"/>
                <a:gd name="T29" fmla="*/ 203 h 293"/>
                <a:gd name="T30" fmla="*/ 66 w 240"/>
                <a:gd name="T31" fmla="*/ 244 h 293"/>
                <a:gd name="T32" fmla="*/ 79 w 240"/>
                <a:gd name="T33" fmla="*/ 293 h 293"/>
                <a:gd name="T34" fmla="*/ 161 w 240"/>
                <a:gd name="T35" fmla="*/ 293 h 293"/>
                <a:gd name="T36" fmla="*/ 174 w 240"/>
                <a:gd name="T37" fmla="*/ 244 h 293"/>
                <a:gd name="T38" fmla="*/ 204 w 240"/>
                <a:gd name="T39" fmla="*/ 203 h 293"/>
                <a:gd name="T40" fmla="*/ 231 w 240"/>
                <a:gd name="T41" fmla="*/ 165 h 293"/>
                <a:gd name="T42" fmla="*/ 240 w 240"/>
                <a:gd name="T43" fmla="*/ 120 h 293"/>
                <a:gd name="T44" fmla="*/ 140 w 240"/>
                <a:gd name="T45" fmla="*/ 22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40" h="293">
                  <a:moveTo>
                    <a:pt x="140" y="220"/>
                  </a:moveTo>
                  <a:lnTo>
                    <a:pt x="140" y="220"/>
                  </a:lnTo>
                  <a:lnTo>
                    <a:pt x="33" y="113"/>
                  </a:lnTo>
                  <a:lnTo>
                    <a:pt x="89" y="57"/>
                  </a:lnTo>
                  <a:lnTo>
                    <a:pt x="140" y="107"/>
                  </a:lnTo>
                  <a:lnTo>
                    <a:pt x="208" y="39"/>
                  </a:lnTo>
                  <a:cubicBezTo>
                    <a:pt x="207" y="37"/>
                    <a:pt x="206" y="36"/>
                    <a:pt x="205" y="35"/>
                  </a:cubicBezTo>
                  <a:cubicBezTo>
                    <a:pt x="194" y="24"/>
                    <a:pt x="181" y="15"/>
                    <a:pt x="167" y="9"/>
                  </a:cubicBezTo>
                  <a:cubicBezTo>
                    <a:pt x="152" y="3"/>
                    <a:pt x="137"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2"/>
                    <a:pt x="36" y="203"/>
                  </a:cubicBezTo>
                  <a:cubicBezTo>
                    <a:pt x="48" y="216"/>
                    <a:pt x="58" y="230"/>
                    <a:pt x="66" y="244"/>
                  </a:cubicBezTo>
                  <a:cubicBezTo>
                    <a:pt x="73" y="259"/>
                    <a:pt x="78" y="275"/>
                    <a:pt x="79" y="293"/>
                  </a:cubicBezTo>
                  <a:lnTo>
                    <a:pt x="161" y="293"/>
                  </a:lnTo>
                  <a:cubicBezTo>
                    <a:pt x="162" y="275"/>
                    <a:pt x="167" y="259"/>
                    <a:pt x="174" y="244"/>
                  </a:cubicBezTo>
                  <a:cubicBezTo>
                    <a:pt x="182" y="230"/>
                    <a:pt x="192" y="216"/>
                    <a:pt x="204" y="203"/>
                  </a:cubicBezTo>
                  <a:cubicBezTo>
                    <a:pt x="216" y="192"/>
                    <a:pt x="225" y="179"/>
                    <a:pt x="231" y="165"/>
                  </a:cubicBezTo>
                  <a:cubicBezTo>
                    <a:pt x="237" y="151"/>
                    <a:pt x="240" y="136"/>
                    <a:pt x="240" y="120"/>
                  </a:cubicBezTo>
                  <a:lnTo>
                    <a:pt x="140" y="220"/>
                  </a:ln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35" name="Freeform 16"/>
            <p:cNvSpPr/>
            <p:nvPr/>
          </p:nvSpPr>
          <p:spPr bwMode="auto">
            <a:xfrm>
              <a:off x="5131" y="1729"/>
              <a:ext cx="67" cy="44"/>
            </a:xfrm>
            <a:custGeom>
              <a:avLst/>
              <a:gdLst>
                <a:gd name="T0" fmla="*/ 0 w 80"/>
                <a:gd name="T1" fmla="*/ 40 h 53"/>
                <a:gd name="T2" fmla="*/ 0 w 80"/>
                <a:gd name="T3" fmla="*/ 40 h 53"/>
                <a:gd name="T4" fmla="*/ 4 w 80"/>
                <a:gd name="T5" fmla="*/ 49 h 53"/>
                <a:gd name="T6" fmla="*/ 13 w 80"/>
                <a:gd name="T7" fmla="*/ 53 h 53"/>
                <a:gd name="T8" fmla="*/ 67 w 80"/>
                <a:gd name="T9" fmla="*/ 53 h 53"/>
                <a:gd name="T10" fmla="*/ 76 w 80"/>
                <a:gd name="T11" fmla="*/ 49 h 53"/>
                <a:gd name="T12" fmla="*/ 80 w 80"/>
                <a:gd name="T13" fmla="*/ 40 h 53"/>
                <a:gd name="T14" fmla="*/ 80 w 80"/>
                <a:gd name="T15" fmla="*/ 0 h 53"/>
                <a:gd name="T16" fmla="*/ 0 w 80"/>
                <a:gd name="T17" fmla="*/ 0 h 53"/>
                <a:gd name="T18" fmla="*/ 0 w 80"/>
                <a:gd name="T19" fmla="*/ 4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3">
                  <a:moveTo>
                    <a:pt x="0" y="40"/>
                  </a:moveTo>
                  <a:lnTo>
                    <a:pt x="0" y="40"/>
                  </a:lnTo>
                  <a:cubicBezTo>
                    <a:pt x="0" y="43"/>
                    <a:pt x="1" y="46"/>
                    <a:pt x="4" y="49"/>
                  </a:cubicBezTo>
                  <a:cubicBezTo>
                    <a:pt x="7" y="52"/>
                    <a:pt x="10" y="53"/>
                    <a:pt x="13" y="53"/>
                  </a:cubicBezTo>
                  <a:lnTo>
                    <a:pt x="67" y="53"/>
                  </a:lnTo>
                  <a:cubicBezTo>
                    <a:pt x="70" y="53"/>
                    <a:pt x="73" y="52"/>
                    <a:pt x="76" y="49"/>
                  </a:cubicBezTo>
                  <a:cubicBezTo>
                    <a:pt x="79" y="46"/>
                    <a:pt x="80" y="43"/>
                    <a:pt x="80" y="40"/>
                  </a:cubicBezTo>
                  <a:lnTo>
                    <a:pt x="80" y="0"/>
                  </a:lnTo>
                  <a:lnTo>
                    <a:pt x="0" y="0"/>
                  </a:lnTo>
                  <a:lnTo>
                    <a:pt x="0" y="40"/>
                  </a:ln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36" name="Freeform 17"/>
            <p:cNvSpPr/>
            <p:nvPr/>
          </p:nvSpPr>
          <p:spPr bwMode="auto">
            <a:xfrm>
              <a:off x="5123" y="1466"/>
              <a:ext cx="190" cy="147"/>
            </a:xfrm>
            <a:custGeom>
              <a:avLst/>
              <a:gdLst>
                <a:gd name="T0" fmla="*/ 207 w 226"/>
                <a:gd name="T1" fmla="*/ 0 h 174"/>
                <a:gd name="T2" fmla="*/ 207 w 226"/>
                <a:gd name="T3" fmla="*/ 0 h 174"/>
                <a:gd name="T4" fmla="*/ 154 w 226"/>
                <a:gd name="T5" fmla="*/ 52 h 174"/>
                <a:gd name="T6" fmla="*/ 70 w 226"/>
                <a:gd name="T7" fmla="*/ 137 h 174"/>
                <a:gd name="T8" fmla="*/ 19 w 226"/>
                <a:gd name="T9" fmla="*/ 86 h 174"/>
                <a:gd name="T10" fmla="*/ 0 w 226"/>
                <a:gd name="T11" fmla="*/ 105 h 174"/>
                <a:gd name="T12" fmla="*/ 70 w 226"/>
                <a:gd name="T13" fmla="*/ 174 h 174"/>
                <a:gd name="T14" fmla="*/ 165 w 226"/>
                <a:gd name="T15" fmla="*/ 79 h 174"/>
                <a:gd name="T16" fmla="*/ 226 w 226"/>
                <a:gd name="T17" fmla="*/ 18 h 174"/>
                <a:gd name="T18" fmla="*/ 207 w 226"/>
                <a:gd name="T19"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174">
                  <a:moveTo>
                    <a:pt x="207" y="0"/>
                  </a:moveTo>
                  <a:lnTo>
                    <a:pt x="207" y="0"/>
                  </a:lnTo>
                  <a:lnTo>
                    <a:pt x="154" y="52"/>
                  </a:lnTo>
                  <a:lnTo>
                    <a:pt x="70" y="137"/>
                  </a:lnTo>
                  <a:lnTo>
                    <a:pt x="19" y="86"/>
                  </a:lnTo>
                  <a:lnTo>
                    <a:pt x="0" y="105"/>
                  </a:lnTo>
                  <a:lnTo>
                    <a:pt x="70" y="174"/>
                  </a:lnTo>
                  <a:lnTo>
                    <a:pt x="165" y="79"/>
                  </a:lnTo>
                  <a:lnTo>
                    <a:pt x="226" y="18"/>
                  </a:lnTo>
                  <a:lnTo>
                    <a:pt x="207" y="0"/>
                  </a:ln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grpSp>
      <p:grpSp>
        <p:nvGrpSpPr>
          <p:cNvPr id="37" name="组合 20"/>
          <p:cNvGrpSpPr>
            <a:grpSpLocks noChangeAspect="1"/>
          </p:cNvGrpSpPr>
          <p:nvPr/>
        </p:nvGrpSpPr>
        <p:grpSpPr bwMode="auto">
          <a:xfrm>
            <a:off x="7096707" y="4947851"/>
            <a:ext cx="411162" cy="536575"/>
            <a:chOff x="5245" y="2879"/>
            <a:chExt cx="259" cy="338"/>
          </a:xfrm>
          <a:solidFill>
            <a:schemeClr val="bg1"/>
          </a:solidFill>
        </p:grpSpPr>
        <p:sp>
          <p:nvSpPr>
            <p:cNvPr id="38" name="Freeform 21"/>
            <p:cNvSpPr/>
            <p:nvPr/>
          </p:nvSpPr>
          <p:spPr bwMode="auto">
            <a:xfrm>
              <a:off x="5284" y="2879"/>
              <a:ext cx="179" cy="88"/>
            </a:xfrm>
            <a:custGeom>
              <a:avLst/>
              <a:gdLst>
                <a:gd name="T0" fmla="*/ 33 w 213"/>
                <a:gd name="T1" fmla="*/ 77 h 105"/>
                <a:gd name="T2" fmla="*/ 33 w 213"/>
                <a:gd name="T3" fmla="*/ 77 h 105"/>
                <a:gd name="T4" fmla="*/ 50 w 213"/>
                <a:gd name="T5" fmla="*/ 51 h 105"/>
                <a:gd name="T6" fmla="*/ 75 w 213"/>
                <a:gd name="T7" fmla="*/ 33 h 105"/>
                <a:gd name="T8" fmla="*/ 107 w 213"/>
                <a:gd name="T9" fmla="*/ 27 h 105"/>
                <a:gd name="T10" fmla="*/ 139 w 213"/>
                <a:gd name="T11" fmla="*/ 33 h 105"/>
                <a:gd name="T12" fmla="*/ 164 w 213"/>
                <a:gd name="T13" fmla="*/ 51 h 105"/>
                <a:gd name="T14" fmla="*/ 181 w 213"/>
                <a:gd name="T15" fmla="*/ 77 h 105"/>
                <a:gd name="T16" fmla="*/ 187 w 213"/>
                <a:gd name="T17" fmla="*/ 105 h 105"/>
                <a:gd name="T18" fmla="*/ 213 w 213"/>
                <a:gd name="T19" fmla="*/ 105 h 105"/>
                <a:gd name="T20" fmla="*/ 205 w 213"/>
                <a:gd name="T21" fmla="*/ 66 h 105"/>
                <a:gd name="T22" fmla="*/ 183 w 213"/>
                <a:gd name="T23" fmla="*/ 32 h 105"/>
                <a:gd name="T24" fmla="*/ 149 w 213"/>
                <a:gd name="T25" fmla="*/ 8 h 105"/>
                <a:gd name="T26" fmla="*/ 107 w 213"/>
                <a:gd name="T27" fmla="*/ 0 h 105"/>
                <a:gd name="T28" fmla="*/ 65 w 213"/>
                <a:gd name="T29" fmla="*/ 8 h 105"/>
                <a:gd name="T30" fmla="*/ 31 w 213"/>
                <a:gd name="T31" fmla="*/ 32 h 105"/>
                <a:gd name="T32" fmla="*/ 8 w 213"/>
                <a:gd name="T33" fmla="*/ 66 h 105"/>
                <a:gd name="T34" fmla="*/ 0 w 213"/>
                <a:gd name="T35" fmla="*/ 105 h 105"/>
                <a:gd name="T36" fmla="*/ 27 w 213"/>
                <a:gd name="T37" fmla="*/ 105 h 105"/>
                <a:gd name="T38" fmla="*/ 33 w 213"/>
                <a:gd name="T39" fmla="*/ 77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3" h="105">
                  <a:moveTo>
                    <a:pt x="33" y="77"/>
                  </a:moveTo>
                  <a:lnTo>
                    <a:pt x="33" y="77"/>
                  </a:lnTo>
                  <a:cubicBezTo>
                    <a:pt x="37" y="67"/>
                    <a:pt x="43" y="58"/>
                    <a:pt x="50" y="51"/>
                  </a:cubicBezTo>
                  <a:cubicBezTo>
                    <a:pt x="57" y="43"/>
                    <a:pt x="65" y="37"/>
                    <a:pt x="75" y="33"/>
                  </a:cubicBezTo>
                  <a:cubicBezTo>
                    <a:pt x="85" y="29"/>
                    <a:pt x="95" y="27"/>
                    <a:pt x="107" y="27"/>
                  </a:cubicBezTo>
                  <a:cubicBezTo>
                    <a:pt x="118" y="27"/>
                    <a:pt x="129" y="29"/>
                    <a:pt x="139" y="33"/>
                  </a:cubicBezTo>
                  <a:cubicBezTo>
                    <a:pt x="148" y="37"/>
                    <a:pt x="157" y="43"/>
                    <a:pt x="164" y="51"/>
                  </a:cubicBezTo>
                  <a:cubicBezTo>
                    <a:pt x="171" y="58"/>
                    <a:pt x="177" y="67"/>
                    <a:pt x="181" y="77"/>
                  </a:cubicBezTo>
                  <a:cubicBezTo>
                    <a:pt x="184" y="86"/>
                    <a:pt x="186" y="95"/>
                    <a:pt x="187" y="105"/>
                  </a:cubicBezTo>
                  <a:lnTo>
                    <a:pt x="213" y="105"/>
                  </a:lnTo>
                  <a:cubicBezTo>
                    <a:pt x="213" y="91"/>
                    <a:pt x="210" y="78"/>
                    <a:pt x="205" y="66"/>
                  </a:cubicBezTo>
                  <a:cubicBezTo>
                    <a:pt x="200" y="53"/>
                    <a:pt x="192" y="42"/>
                    <a:pt x="183" y="32"/>
                  </a:cubicBezTo>
                  <a:cubicBezTo>
                    <a:pt x="173" y="22"/>
                    <a:pt x="162" y="14"/>
                    <a:pt x="149" y="8"/>
                  </a:cubicBezTo>
                  <a:cubicBezTo>
                    <a:pt x="136" y="3"/>
                    <a:pt x="122" y="0"/>
                    <a:pt x="107" y="0"/>
                  </a:cubicBezTo>
                  <a:cubicBezTo>
                    <a:pt x="92" y="0"/>
                    <a:pt x="78" y="3"/>
                    <a:pt x="65" y="8"/>
                  </a:cubicBezTo>
                  <a:cubicBezTo>
                    <a:pt x="52" y="14"/>
                    <a:pt x="40" y="22"/>
                    <a:pt x="31" y="32"/>
                  </a:cubicBezTo>
                  <a:cubicBezTo>
                    <a:pt x="21" y="42"/>
                    <a:pt x="14" y="53"/>
                    <a:pt x="8" y="66"/>
                  </a:cubicBezTo>
                  <a:cubicBezTo>
                    <a:pt x="3" y="78"/>
                    <a:pt x="1" y="91"/>
                    <a:pt x="0" y="105"/>
                  </a:cubicBezTo>
                  <a:lnTo>
                    <a:pt x="27" y="105"/>
                  </a:lnTo>
                  <a:cubicBezTo>
                    <a:pt x="28" y="95"/>
                    <a:pt x="29" y="86"/>
                    <a:pt x="33" y="77"/>
                  </a:cubicBez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39" name="Freeform 22"/>
            <p:cNvSpPr>
              <a:spLocks noEditPoints="1"/>
            </p:cNvSpPr>
            <p:nvPr/>
          </p:nvSpPr>
          <p:spPr bwMode="auto">
            <a:xfrm>
              <a:off x="5245" y="2967"/>
              <a:ext cx="259" cy="227"/>
            </a:xfrm>
            <a:custGeom>
              <a:avLst/>
              <a:gdLst>
                <a:gd name="T0" fmla="*/ 70 w 308"/>
                <a:gd name="T1" fmla="*/ 51 h 270"/>
                <a:gd name="T2" fmla="*/ 70 w 308"/>
                <a:gd name="T3" fmla="*/ 51 h 270"/>
                <a:gd name="T4" fmla="*/ 61 w 308"/>
                <a:gd name="T5" fmla="*/ 55 h 270"/>
                <a:gd name="T6" fmla="*/ 51 w 308"/>
                <a:gd name="T7" fmla="*/ 51 h 270"/>
                <a:gd name="T8" fmla="*/ 47 w 308"/>
                <a:gd name="T9" fmla="*/ 42 h 270"/>
                <a:gd name="T10" fmla="*/ 51 w 308"/>
                <a:gd name="T11" fmla="*/ 32 h 270"/>
                <a:gd name="T12" fmla="*/ 61 w 308"/>
                <a:gd name="T13" fmla="*/ 28 h 270"/>
                <a:gd name="T14" fmla="*/ 70 w 308"/>
                <a:gd name="T15" fmla="*/ 32 h 270"/>
                <a:gd name="T16" fmla="*/ 74 w 308"/>
                <a:gd name="T17" fmla="*/ 42 h 270"/>
                <a:gd name="T18" fmla="*/ 70 w 308"/>
                <a:gd name="T19" fmla="*/ 51 h 270"/>
                <a:gd name="T20" fmla="*/ 238 w 308"/>
                <a:gd name="T21" fmla="*/ 32 h 270"/>
                <a:gd name="T22" fmla="*/ 238 w 308"/>
                <a:gd name="T23" fmla="*/ 32 h 270"/>
                <a:gd name="T24" fmla="*/ 247 w 308"/>
                <a:gd name="T25" fmla="*/ 28 h 270"/>
                <a:gd name="T26" fmla="*/ 257 w 308"/>
                <a:gd name="T27" fmla="*/ 32 h 270"/>
                <a:gd name="T28" fmla="*/ 261 w 308"/>
                <a:gd name="T29" fmla="*/ 42 h 270"/>
                <a:gd name="T30" fmla="*/ 257 w 308"/>
                <a:gd name="T31" fmla="*/ 51 h 270"/>
                <a:gd name="T32" fmla="*/ 247 w 308"/>
                <a:gd name="T33" fmla="*/ 55 h 270"/>
                <a:gd name="T34" fmla="*/ 238 w 308"/>
                <a:gd name="T35" fmla="*/ 51 h 270"/>
                <a:gd name="T36" fmla="*/ 234 w 308"/>
                <a:gd name="T37" fmla="*/ 42 h 270"/>
                <a:gd name="T38" fmla="*/ 238 w 308"/>
                <a:gd name="T39" fmla="*/ 32 h 270"/>
                <a:gd name="T40" fmla="*/ 154 w 308"/>
                <a:gd name="T41" fmla="*/ 197 h 270"/>
                <a:gd name="T42" fmla="*/ 154 w 308"/>
                <a:gd name="T43" fmla="*/ 197 h 270"/>
                <a:gd name="T44" fmla="*/ 165 w 308"/>
                <a:gd name="T45" fmla="*/ 202 h 270"/>
                <a:gd name="T46" fmla="*/ 308 w 308"/>
                <a:gd name="T47" fmla="*/ 270 h 270"/>
                <a:gd name="T48" fmla="*/ 308 w 308"/>
                <a:gd name="T49" fmla="*/ 82 h 270"/>
                <a:gd name="T50" fmla="*/ 308 w 308"/>
                <a:gd name="T51" fmla="*/ 0 h 270"/>
                <a:gd name="T52" fmla="*/ 260 w 308"/>
                <a:gd name="T53" fmla="*/ 0 h 270"/>
                <a:gd name="T54" fmla="*/ 234 w 308"/>
                <a:gd name="T55" fmla="*/ 0 h 270"/>
                <a:gd name="T56" fmla="*/ 74 w 308"/>
                <a:gd name="T57" fmla="*/ 0 h 270"/>
                <a:gd name="T58" fmla="*/ 47 w 308"/>
                <a:gd name="T59" fmla="*/ 0 h 270"/>
                <a:gd name="T60" fmla="*/ 0 w 308"/>
                <a:gd name="T61" fmla="*/ 0 h 270"/>
                <a:gd name="T62" fmla="*/ 0 w 308"/>
                <a:gd name="T63" fmla="*/ 82 h 270"/>
                <a:gd name="T64" fmla="*/ 0 w 308"/>
                <a:gd name="T65" fmla="*/ 270 h 270"/>
                <a:gd name="T66" fmla="*/ 143 w 308"/>
                <a:gd name="T67" fmla="*/ 202 h 270"/>
                <a:gd name="T68" fmla="*/ 154 w 308"/>
                <a:gd name="T69" fmla="*/ 197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8" h="270">
                  <a:moveTo>
                    <a:pt x="70" y="51"/>
                  </a:moveTo>
                  <a:lnTo>
                    <a:pt x="70" y="51"/>
                  </a:lnTo>
                  <a:cubicBezTo>
                    <a:pt x="67" y="54"/>
                    <a:pt x="64" y="55"/>
                    <a:pt x="61" y="55"/>
                  </a:cubicBezTo>
                  <a:cubicBezTo>
                    <a:pt x="57" y="55"/>
                    <a:pt x="54" y="54"/>
                    <a:pt x="51" y="51"/>
                  </a:cubicBezTo>
                  <a:cubicBezTo>
                    <a:pt x="48" y="48"/>
                    <a:pt x="47" y="45"/>
                    <a:pt x="47" y="42"/>
                  </a:cubicBezTo>
                  <a:cubicBezTo>
                    <a:pt x="47" y="38"/>
                    <a:pt x="48" y="35"/>
                    <a:pt x="51" y="32"/>
                  </a:cubicBezTo>
                  <a:cubicBezTo>
                    <a:pt x="54" y="30"/>
                    <a:pt x="57" y="28"/>
                    <a:pt x="61" y="28"/>
                  </a:cubicBezTo>
                  <a:cubicBezTo>
                    <a:pt x="64" y="28"/>
                    <a:pt x="67" y="30"/>
                    <a:pt x="70" y="32"/>
                  </a:cubicBezTo>
                  <a:cubicBezTo>
                    <a:pt x="73" y="35"/>
                    <a:pt x="74" y="38"/>
                    <a:pt x="74" y="42"/>
                  </a:cubicBezTo>
                  <a:cubicBezTo>
                    <a:pt x="74" y="45"/>
                    <a:pt x="73" y="48"/>
                    <a:pt x="70" y="51"/>
                  </a:cubicBezTo>
                  <a:close/>
                  <a:moveTo>
                    <a:pt x="238" y="32"/>
                  </a:moveTo>
                  <a:lnTo>
                    <a:pt x="238" y="32"/>
                  </a:lnTo>
                  <a:cubicBezTo>
                    <a:pt x="240" y="30"/>
                    <a:pt x="244" y="28"/>
                    <a:pt x="247" y="28"/>
                  </a:cubicBezTo>
                  <a:cubicBezTo>
                    <a:pt x="251" y="28"/>
                    <a:pt x="254" y="30"/>
                    <a:pt x="257" y="32"/>
                  </a:cubicBezTo>
                  <a:cubicBezTo>
                    <a:pt x="259" y="35"/>
                    <a:pt x="261" y="38"/>
                    <a:pt x="261" y="42"/>
                  </a:cubicBezTo>
                  <a:cubicBezTo>
                    <a:pt x="261" y="45"/>
                    <a:pt x="259" y="48"/>
                    <a:pt x="257" y="51"/>
                  </a:cubicBezTo>
                  <a:cubicBezTo>
                    <a:pt x="254" y="54"/>
                    <a:pt x="251" y="55"/>
                    <a:pt x="247" y="55"/>
                  </a:cubicBezTo>
                  <a:cubicBezTo>
                    <a:pt x="244" y="55"/>
                    <a:pt x="240" y="54"/>
                    <a:pt x="238" y="51"/>
                  </a:cubicBezTo>
                  <a:cubicBezTo>
                    <a:pt x="235" y="48"/>
                    <a:pt x="234" y="45"/>
                    <a:pt x="234" y="42"/>
                  </a:cubicBezTo>
                  <a:cubicBezTo>
                    <a:pt x="234" y="38"/>
                    <a:pt x="235" y="35"/>
                    <a:pt x="238" y="32"/>
                  </a:cubicBezTo>
                  <a:close/>
                  <a:moveTo>
                    <a:pt x="154" y="197"/>
                  </a:moveTo>
                  <a:lnTo>
                    <a:pt x="154" y="197"/>
                  </a:lnTo>
                  <a:lnTo>
                    <a:pt x="165" y="202"/>
                  </a:lnTo>
                  <a:lnTo>
                    <a:pt x="308" y="270"/>
                  </a:lnTo>
                  <a:lnTo>
                    <a:pt x="308" y="82"/>
                  </a:lnTo>
                  <a:lnTo>
                    <a:pt x="308" y="0"/>
                  </a:lnTo>
                  <a:lnTo>
                    <a:pt x="260" y="0"/>
                  </a:lnTo>
                  <a:lnTo>
                    <a:pt x="234" y="0"/>
                  </a:lnTo>
                  <a:lnTo>
                    <a:pt x="74" y="0"/>
                  </a:lnTo>
                  <a:lnTo>
                    <a:pt x="47" y="0"/>
                  </a:lnTo>
                  <a:lnTo>
                    <a:pt x="0" y="0"/>
                  </a:lnTo>
                  <a:lnTo>
                    <a:pt x="0" y="82"/>
                  </a:lnTo>
                  <a:lnTo>
                    <a:pt x="0" y="270"/>
                  </a:lnTo>
                  <a:lnTo>
                    <a:pt x="143" y="202"/>
                  </a:lnTo>
                  <a:lnTo>
                    <a:pt x="154" y="197"/>
                  </a:ln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40" name="Freeform 23"/>
            <p:cNvSpPr/>
            <p:nvPr/>
          </p:nvSpPr>
          <p:spPr bwMode="auto">
            <a:xfrm>
              <a:off x="5284" y="2991"/>
              <a:ext cx="23" cy="23"/>
            </a:xfrm>
            <a:custGeom>
              <a:avLst/>
              <a:gdLst>
                <a:gd name="T0" fmla="*/ 13 w 27"/>
                <a:gd name="T1" fmla="*/ 0 h 27"/>
                <a:gd name="T2" fmla="*/ 13 w 27"/>
                <a:gd name="T3" fmla="*/ 0 h 27"/>
                <a:gd name="T4" fmla="*/ 4 w 27"/>
                <a:gd name="T5" fmla="*/ 4 h 27"/>
                <a:gd name="T6" fmla="*/ 0 w 27"/>
                <a:gd name="T7" fmla="*/ 14 h 27"/>
                <a:gd name="T8" fmla="*/ 4 w 27"/>
                <a:gd name="T9" fmla="*/ 23 h 27"/>
                <a:gd name="T10" fmla="*/ 13 w 27"/>
                <a:gd name="T11" fmla="*/ 27 h 27"/>
                <a:gd name="T12" fmla="*/ 23 w 27"/>
                <a:gd name="T13" fmla="*/ 23 h 27"/>
                <a:gd name="T14" fmla="*/ 27 w 27"/>
                <a:gd name="T15" fmla="*/ 14 h 27"/>
                <a:gd name="T16" fmla="*/ 23 w 27"/>
                <a:gd name="T17" fmla="*/ 4 h 27"/>
                <a:gd name="T18" fmla="*/ 13 w 27"/>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 h="27">
                  <a:moveTo>
                    <a:pt x="13" y="0"/>
                  </a:moveTo>
                  <a:lnTo>
                    <a:pt x="13" y="0"/>
                  </a:lnTo>
                  <a:cubicBezTo>
                    <a:pt x="10" y="0"/>
                    <a:pt x="7" y="2"/>
                    <a:pt x="4" y="4"/>
                  </a:cubicBezTo>
                  <a:cubicBezTo>
                    <a:pt x="1" y="7"/>
                    <a:pt x="0" y="10"/>
                    <a:pt x="0" y="14"/>
                  </a:cubicBezTo>
                  <a:cubicBezTo>
                    <a:pt x="0" y="17"/>
                    <a:pt x="1" y="20"/>
                    <a:pt x="4" y="23"/>
                  </a:cubicBezTo>
                  <a:cubicBezTo>
                    <a:pt x="7" y="26"/>
                    <a:pt x="10" y="27"/>
                    <a:pt x="13" y="27"/>
                  </a:cubicBezTo>
                  <a:cubicBezTo>
                    <a:pt x="17" y="27"/>
                    <a:pt x="20" y="26"/>
                    <a:pt x="23" y="23"/>
                  </a:cubicBezTo>
                  <a:cubicBezTo>
                    <a:pt x="25" y="20"/>
                    <a:pt x="27" y="17"/>
                    <a:pt x="27" y="14"/>
                  </a:cubicBezTo>
                  <a:cubicBezTo>
                    <a:pt x="27" y="10"/>
                    <a:pt x="25" y="7"/>
                    <a:pt x="23" y="4"/>
                  </a:cubicBezTo>
                  <a:cubicBezTo>
                    <a:pt x="20" y="2"/>
                    <a:pt x="17" y="0"/>
                    <a:pt x="13" y="0"/>
                  </a:cubicBez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41" name="Freeform 24"/>
            <p:cNvSpPr/>
            <p:nvPr/>
          </p:nvSpPr>
          <p:spPr bwMode="auto">
            <a:xfrm>
              <a:off x="5442" y="2991"/>
              <a:ext cx="21" cy="23"/>
            </a:xfrm>
            <a:custGeom>
              <a:avLst/>
              <a:gdLst>
                <a:gd name="T0" fmla="*/ 13 w 26"/>
                <a:gd name="T1" fmla="*/ 27 h 27"/>
                <a:gd name="T2" fmla="*/ 13 w 26"/>
                <a:gd name="T3" fmla="*/ 27 h 27"/>
                <a:gd name="T4" fmla="*/ 23 w 26"/>
                <a:gd name="T5" fmla="*/ 23 h 27"/>
                <a:gd name="T6" fmla="*/ 26 w 26"/>
                <a:gd name="T7" fmla="*/ 14 h 27"/>
                <a:gd name="T8" fmla="*/ 23 w 26"/>
                <a:gd name="T9" fmla="*/ 4 h 27"/>
                <a:gd name="T10" fmla="*/ 13 w 26"/>
                <a:gd name="T11" fmla="*/ 0 h 27"/>
                <a:gd name="T12" fmla="*/ 4 w 26"/>
                <a:gd name="T13" fmla="*/ 4 h 27"/>
                <a:gd name="T14" fmla="*/ 0 w 26"/>
                <a:gd name="T15" fmla="*/ 14 h 27"/>
                <a:gd name="T16" fmla="*/ 4 w 26"/>
                <a:gd name="T17" fmla="*/ 23 h 27"/>
                <a:gd name="T18" fmla="*/ 13 w 26"/>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7">
                  <a:moveTo>
                    <a:pt x="13" y="27"/>
                  </a:moveTo>
                  <a:lnTo>
                    <a:pt x="13" y="27"/>
                  </a:lnTo>
                  <a:cubicBezTo>
                    <a:pt x="17" y="27"/>
                    <a:pt x="20" y="26"/>
                    <a:pt x="23" y="23"/>
                  </a:cubicBezTo>
                  <a:cubicBezTo>
                    <a:pt x="25" y="20"/>
                    <a:pt x="26" y="17"/>
                    <a:pt x="26" y="14"/>
                  </a:cubicBezTo>
                  <a:cubicBezTo>
                    <a:pt x="26" y="10"/>
                    <a:pt x="25" y="7"/>
                    <a:pt x="23" y="4"/>
                  </a:cubicBezTo>
                  <a:cubicBezTo>
                    <a:pt x="20" y="2"/>
                    <a:pt x="17" y="0"/>
                    <a:pt x="13" y="0"/>
                  </a:cubicBezTo>
                  <a:cubicBezTo>
                    <a:pt x="10" y="0"/>
                    <a:pt x="6" y="2"/>
                    <a:pt x="4" y="4"/>
                  </a:cubicBezTo>
                  <a:cubicBezTo>
                    <a:pt x="1" y="7"/>
                    <a:pt x="0" y="10"/>
                    <a:pt x="0" y="14"/>
                  </a:cubicBezTo>
                  <a:cubicBezTo>
                    <a:pt x="0" y="17"/>
                    <a:pt x="1" y="20"/>
                    <a:pt x="4" y="23"/>
                  </a:cubicBezTo>
                  <a:cubicBezTo>
                    <a:pt x="6" y="26"/>
                    <a:pt x="10" y="27"/>
                    <a:pt x="13" y="27"/>
                  </a:cubicBez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sp>
          <p:nvSpPr>
            <p:cNvPr id="42" name="Freeform 25"/>
            <p:cNvSpPr/>
            <p:nvPr/>
          </p:nvSpPr>
          <p:spPr bwMode="auto">
            <a:xfrm>
              <a:off x="5246" y="3157"/>
              <a:ext cx="256" cy="60"/>
            </a:xfrm>
            <a:custGeom>
              <a:avLst/>
              <a:gdLst>
                <a:gd name="T0" fmla="*/ 153 w 305"/>
                <a:gd name="T1" fmla="*/ 0 h 72"/>
                <a:gd name="T2" fmla="*/ 153 w 305"/>
                <a:gd name="T3" fmla="*/ 0 h 72"/>
                <a:gd name="T4" fmla="*/ 0 w 305"/>
                <a:gd name="T5" fmla="*/ 72 h 72"/>
                <a:gd name="T6" fmla="*/ 153 w 305"/>
                <a:gd name="T7" fmla="*/ 72 h 72"/>
                <a:gd name="T8" fmla="*/ 305 w 305"/>
                <a:gd name="T9" fmla="*/ 72 h 72"/>
                <a:gd name="T10" fmla="*/ 153 w 305"/>
                <a:gd name="T11" fmla="*/ 0 h 72"/>
              </a:gdLst>
              <a:ahLst/>
              <a:cxnLst>
                <a:cxn ang="0">
                  <a:pos x="T0" y="T1"/>
                </a:cxn>
                <a:cxn ang="0">
                  <a:pos x="T2" y="T3"/>
                </a:cxn>
                <a:cxn ang="0">
                  <a:pos x="T4" y="T5"/>
                </a:cxn>
                <a:cxn ang="0">
                  <a:pos x="T6" y="T7"/>
                </a:cxn>
                <a:cxn ang="0">
                  <a:pos x="T8" y="T9"/>
                </a:cxn>
                <a:cxn ang="0">
                  <a:pos x="T10" y="T11"/>
                </a:cxn>
              </a:cxnLst>
              <a:rect l="0" t="0" r="r" b="b"/>
              <a:pathLst>
                <a:path w="305" h="72">
                  <a:moveTo>
                    <a:pt x="153" y="0"/>
                  </a:moveTo>
                  <a:lnTo>
                    <a:pt x="153" y="0"/>
                  </a:lnTo>
                  <a:lnTo>
                    <a:pt x="0" y="72"/>
                  </a:lnTo>
                  <a:lnTo>
                    <a:pt x="153" y="72"/>
                  </a:lnTo>
                  <a:lnTo>
                    <a:pt x="305" y="72"/>
                  </a:lnTo>
                  <a:lnTo>
                    <a:pt x="153" y="0"/>
                  </a:lnTo>
                  <a:close/>
                </a:path>
              </a:pathLst>
            </a:custGeom>
            <a:grpFill/>
            <a:ln w="0">
              <a:solidFill>
                <a:schemeClr val="bg1"/>
              </a:solidFill>
              <a:prstDash val="solid"/>
              <a:round/>
            </a:ln>
          </p:spPr>
          <p:txBody>
            <a:bodyPr vert="horz" wrap="square" lIns="91440" tIns="45720" rIns="91440" bIns="45720" numCol="1" anchor="t" anchorCtr="0" compatLnSpc="1"/>
            <a:lstStyle/>
            <a:p>
              <a:endParaRPr lang="zh-CN" altLang="en-US">
                <a:latin typeface="等线" panose="02010600030101010101" pitchFamily="2" charset="-122"/>
                <a:sym typeface="等线" panose="02010600030101010101" pitchFamily="2" charset="-122"/>
              </a:endParaRPr>
            </a:p>
          </p:txBody>
        </p:sp>
      </p:grpSp>
      <p:sp>
        <p:nvSpPr>
          <p:cNvPr id="43" name="文本框 78"/>
          <p:cNvSpPr txBox="1"/>
          <p:nvPr/>
        </p:nvSpPr>
        <p:spPr>
          <a:xfrm>
            <a:off x="3758753" y="5870348"/>
            <a:ext cx="929743" cy="276999"/>
          </a:xfrm>
          <a:prstGeom prst="rect">
            <a:avLst/>
          </a:prstGeom>
          <a:noFill/>
        </p:spPr>
        <p:txBody>
          <a:bodyPr wrap="none" lIns="0" tIns="0" rIns="0" bIns="0" rtlCol="0">
            <a:spAutoFit/>
          </a:bodyPr>
          <a:lstStyle/>
          <a:p>
            <a:pPr algn="ctr"/>
            <a:r>
              <a:rPr lang="zh-CN" altLang="en-US" b="1">
                <a:solidFill>
                  <a:srgbClr val="6B0060"/>
                </a:solidFill>
                <a:latin typeface="+mn-ea"/>
                <a:sym typeface="等线" panose="02010600030101010101" pitchFamily="2" charset="-122"/>
              </a:rPr>
              <a:t>核心矛盾</a:t>
            </a:r>
            <a:endParaRPr lang="en-US" b="1" dirty="0">
              <a:solidFill>
                <a:srgbClr val="6B0060"/>
              </a:solidFill>
              <a:latin typeface="+mn-ea"/>
              <a:sym typeface="等线" panose="02010600030101010101" pitchFamily="2" charset="-122"/>
            </a:endParaRPr>
          </a:p>
        </p:txBody>
      </p:sp>
      <p:sp>
        <p:nvSpPr>
          <p:cNvPr id="44" name="文本框 78"/>
          <p:cNvSpPr txBox="1"/>
          <p:nvPr/>
        </p:nvSpPr>
        <p:spPr>
          <a:xfrm>
            <a:off x="7470842" y="5861114"/>
            <a:ext cx="929743" cy="276999"/>
          </a:xfrm>
          <a:prstGeom prst="rect">
            <a:avLst/>
          </a:prstGeom>
          <a:noFill/>
        </p:spPr>
        <p:txBody>
          <a:bodyPr wrap="none" lIns="0" tIns="0" rIns="0" bIns="0" rtlCol="0">
            <a:spAutoFit/>
          </a:bodyPr>
          <a:lstStyle/>
          <a:p>
            <a:pPr algn="ctr"/>
            <a:r>
              <a:rPr lang="zh-CN" altLang="en-US" b="1" dirty="0">
                <a:solidFill>
                  <a:srgbClr val="6B0060"/>
                </a:solidFill>
                <a:latin typeface="+mn-ea"/>
                <a:sym typeface="等线" panose="02010600030101010101" pitchFamily="2" charset="-122"/>
              </a:rPr>
              <a:t>研究挑战</a:t>
            </a:r>
          </a:p>
        </p:txBody>
      </p:sp>
      <p:sp>
        <p:nvSpPr>
          <p:cNvPr id="45" name="对话气泡: 矩形 44"/>
          <p:cNvSpPr/>
          <p:nvPr/>
        </p:nvSpPr>
        <p:spPr>
          <a:xfrm>
            <a:off x="53789" y="3370858"/>
            <a:ext cx="3485624" cy="2875302"/>
          </a:xfrm>
          <a:prstGeom prst="wedgeRectCallout">
            <a:avLst>
              <a:gd name="adj1" fmla="val 80203"/>
              <a:gd name="adj2" fmla="val 9296"/>
            </a:avLst>
          </a:prstGeom>
          <a:solidFill>
            <a:srgbClr val="E7ABDC">
              <a:alpha val="20000"/>
            </a:srgb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30000"/>
              </a:lnSpc>
            </a:pPr>
            <a:r>
              <a:rPr lang="en-US" altLang="zh-CN" sz="1500" b="1" dirty="0">
                <a:solidFill>
                  <a:schemeClr val="tx1"/>
                </a:solidFill>
                <a:latin typeface="+mn-ea"/>
                <a:sym typeface="等线" panose="02010600030101010101" pitchFamily="2" charset="-122"/>
              </a:rPr>
              <a:t>1. </a:t>
            </a:r>
            <a:r>
              <a:rPr lang="zh-CN" altLang="en-US" sz="1500" b="1" dirty="0">
                <a:solidFill>
                  <a:schemeClr val="tx1"/>
                </a:solidFill>
                <a:latin typeface="+mn-ea"/>
                <a:sym typeface="等线" panose="02010600030101010101" pitchFamily="2" charset="-122"/>
              </a:rPr>
              <a:t>单一强隔离级别可以保证严格正确性，但在高并发下协调成本高。</a:t>
            </a:r>
          </a:p>
          <a:p>
            <a:pPr>
              <a:lnSpc>
                <a:spcPct val="130000"/>
              </a:lnSpc>
            </a:pPr>
            <a:r>
              <a:rPr lang="en-US" altLang="zh-CN" sz="1500" b="1" dirty="0">
                <a:solidFill>
                  <a:schemeClr val="tx1"/>
                </a:solidFill>
                <a:latin typeface="+mn-ea"/>
                <a:sym typeface="等线" panose="02010600030101010101" pitchFamily="2" charset="-122"/>
              </a:rPr>
              <a:t>2. </a:t>
            </a:r>
            <a:r>
              <a:rPr lang="zh-CN" altLang="en-US" sz="1500" b="1" dirty="0">
                <a:solidFill>
                  <a:schemeClr val="tx1"/>
                </a:solidFill>
                <a:latin typeface="+mn-ea"/>
                <a:sym typeface="等线" panose="02010600030101010101" pitchFamily="2" charset="-122"/>
              </a:rPr>
              <a:t>单一弱隔离级别虽然更高效，却难以满足核心事务的一致性要求。</a:t>
            </a:r>
          </a:p>
          <a:p>
            <a:pPr>
              <a:lnSpc>
                <a:spcPct val="130000"/>
              </a:lnSpc>
            </a:pPr>
            <a:r>
              <a:rPr lang="en-US" altLang="zh-CN" sz="1500" b="1" dirty="0">
                <a:solidFill>
                  <a:schemeClr val="tx1"/>
                </a:solidFill>
                <a:latin typeface="+mn-ea"/>
                <a:sym typeface="等线" panose="02010600030101010101" pitchFamily="2" charset="-122"/>
              </a:rPr>
              <a:t>3. </a:t>
            </a:r>
            <a:r>
              <a:rPr lang="zh-CN" altLang="en-US" sz="1500" b="1" dirty="0">
                <a:solidFill>
                  <a:schemeClr val="tx1"/>
                </a:solidFill>
                <a:latin typeface="+mn-ea"/>
                <a:sym typeface="等线" panose="02010600030101010101" pitchFamily="2" charset="-122"/>
              </a:rPr>
              <a:t>一致性与效率之间长期存在系统级权衡。</a:t>
            </a:r>
            <a:endParaRPr lang="en-US" altLang="zh-CN" sz="1500" dirty="0">
              <a:solidFill>
                <a:schemeClr val="tx1"/>
              </a:solidFill>
              <a:latin typeface="+mn-ea"/>
              <a:sym typeface="等线" panose="02010600030101010101" pitchFamily="2" charset="-122"/>
            </a:endParaRPr>
          </a:p>
        </p:txBody>
      </p:sp>
      <p:sp>
        <p:nvSpPr>
          <p:cNvPr id="46" name="对话气泡: 矩形 45"/>
          <p:cNvSpPr/>
          <p:nvPr/>
        </p:nvSpPr>
        <p:spPr>
          <a:xfrm>
            <a:off x="6744796" y="502238"/>
            <a:ext cx="4779435" cy="2464275"/>
          </a:xfrm>
          <a:prstGeom prst="wedgeRectCallout">
            <a:avLst>
              <a:gd name="adj1" fmla="val 52554"/>
              <a:gd name="adj2" fmla="val 39773"/>
            </a:avLst>
          </a:prstGeom>
          <a:solidFill>
            <a:schemeClr val="bg2">
              <a:lumMod val="90000"/>
              <a:alpha val="2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30000"/>
              </a:lnSpc>
            </a:pPr>
            <a:r>
              <a:rPr lang="en-US" altLang="zh-CN" sz="1500" b="1" dirty="0">
                <a:solidFill>
                  <a:srgbClr val="6B0060"/>
                </a:solidFill>
                <a:latin typeface="+mn-ea"/>
                <a:sym typeface="等线" panose="02010600030101010101" pitchFamily="2" charset="-122"/>
              </a:rPr>
              <a:t>1. </a:t>
            </a:r>
            <a:r>
              <a:rPr lang="zh-CN" altLang="en-US" sz="1500" b="1" dirty="0">
                <a:solidFill>
                  <a:srgbClr val="6B0060"/>
                </a:solidFill>
                <a:latin typeface="+mn-ea"/>
                <a:sym typeface="等线" panose="02010600030101010101" pitchFamily="2" charset="-122"/>
              </a:rPr>
              <a:t>分布式数据库已成为高并发业务与云原生系统的核心基础设施。</a:t>
            </a:r>
          </a:p>
          <a:p>
            <a:pPr>
              <a:lnSpc>
                <a:spcPct val="130000"/>
              </a:lnSpc>
            </a:pPr>
            <a:r>
              <a:rPr lang="en-US" altLang="zh-CN" sz="1500" b="1" dirty="0">
                <a:solidFill>
                  <a:srgbClr val="6B0060"/>
                </a:solidFill>
                <a:latin typeface="+mn-ea"/>
                <a:sym typeface="等线" panose="02010600030101010101" pitchFamily="2" charset="-122"/>
              </a:rPr>
              <a:t>2. </a:t>
            </a:r>
            <a:r>
              <a:rPr lang="zh-CN" altLang="en-US" sz="1500" b="1" dirty="0">
                <a:solidFill>
                  <a:srgbClr val="6B0060"/>
                </a:solidFill>
                <a:latin typeface="+mn-ea"/>
                <a:sym typeface="等线" panose="02010600030101010101" pitchFamily="2" charset="-122"/>
              </a:rPr>
              <a:t>不同事务类型对一致性、吞吐和延迟的诉求并不相同。</a:t>
            </a:r>
          </a:p>
          <a:p>
            <a:pPr>
              <a:lnSpc>
                <a:spcPct val="130000"/>
              </a:lnSpc>
            </a:pPr>
            <a:r>
              <a:rPr lang="en-US" altLang="zh-CN" sz="1500" b="1" dirty="0">
                <a:solidFill>
                  <a:srgbClr val="6B0060"/>
                </a:solidFill>
                <a:latin typeface="+mn-ea"/>
                <a:sym typeface="等线" panose="02010600030101010101" pitchFamily="2" charset="-122"/>
              </a:rPr>
              <a:t>3. </a:t>
            </a:r>
            <a:r>
              <a:rPr lang="zh-CN" altLang="en-US" sz="1500" b="1" dirty="0">
                <a:solidFill>
                  <a:srgbClr val="6B0060"/>
                </a:solidFill>
                <a:latin typeface="+mn-ea"/>
                <a:sym typeface="等线" panose="02010600030101010101" pitchFamily="2" charset="-122"/>
              </a:rPr>
              <a:t>业务系统希望既保证关键事务正确性，又避免所有请求都走最重协调路径。</a:t>
            </a:r>
            <a:endParaRPr lang="zh-CN" altLang="en-US" sz="1500" dirty="0">
              <a:solidFill>
                <a:schemeClr val="tx1"/>
              </a:solidFill>
              <a:sym typeface="等线" panose="02010600030101010101" pitchFamily="2" charset="-122"/>
            </a:endParaRPr>
          </a:p>
        </p:txBody>
      </p:sp>
      <p:sp>
        <p:nvSpPr>
          <p:cNvPr id="47" name="对话气泡: 矩形 46"/>
          <p:cNvSpPr/>
          <p:nvPr/>
        </p:nvSpPr>
        <p:spPr>
          <a:xfrm>
            <a:off x="8515582" y="3743324"/>
            <a:ext cx="3705860" cy="2127023"/>
          </a:xfrm>
          <a:prstGeom prst="wedgeRectCallout">
            <a:avLst>
              <a:gd name="adj1" fmla="val -67236"/>
              <a:gd name="adj2" fmla="val 43890"/>
            </a:avLst>
          </a:prstGeom>
          <a:solidFill>
            <a:schemeClr val="accent2">
              <a:lumMod val="20000"/>
              <a:lumOff val="80000"/>
              <a:alpha val="2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30000"/>
              </a:lnSpc>
            </a:pPr>
            <a:r>
              <a:rPr lang="en-US" altLang="zh-CN" sz="1500" b="1" dirty="0">
                <a:solidFill>
                  <a:srgbClr val="6B0060"/>
                </a:solidFill>
                <a:latin typeface="+mn-ea"/>
                <a:sym typeface="等线" panose="02010600030101010101" pitchFamily="2" charset="-122"/>
              </a:rPr>
              <a:t>1. </a:t>
            </a:r>
            <a:r>
              <a:rPr lang="zh-CN" altLang="en-US" sz="1500" b="1" dirty="0">
                <a:solidFill>
                  <a:srgbClr val="6B0060"/>
                </a:solidFill>
                <a:latin typeface="+mn-ea"/>
                <a:sym typeface="等线" panose="02010600030101010101" pitchFamily="2" charset="-122"/>
              </a:rPr>
              <a:t>如何统一刻画多种隔离级别及其差异？</a:t>
            </a:r>
          </a:p>
          <a:p>
            <a:pPr>
              <a:lnSpc>
                <a:spcPct val="130000"/>
              </a:lnSpc>
            </a:pPr>
            <a:r>
              <a:rPr lang="en-US" altLang="zh-CN" sz="1500" b="1" dirty="0">
                <a:solidFill>
                  <a:srgbClr val="6B0060"/>
                </a:solidFill>
                <a:latin typeface="+mn-ea"/>
                <a:sym typeface="等线" panose="02010600030101010101" pitchFamily="2" charset="-122"/>
              </a:rPr>
              <a:t>2. </a:t>
            </a:r>
            <a:r>
              <a:rPr lang="zh-CN" altLang="en-US" sz="1500" b="1" dirty="0">
                <a:solidFill>
                  <a:srgbClr val="6B0060"/>
                </a:solidFill>
                <a:latin typeface="+mn-ea"/>
                <a:sym typeface="等线" panose="02010600030101010101" pitchFamily="2" charset="-122"/>
              </a:rPr>
              <a:t>如何给出可实现、可验证的混合隔离操作语义？</a:t>
            </a:r>
          </a:p>
          <a:p>
            <a:pPr>
              <a:lnSpc>
                <a:spcPct val="130000"/>
              </a:lnSpc>
            </a:pPr>
            <a:r>
              <a:rPr lang="en-US" altLang="zh-CN" sz="1500" b="1" dirty="0">
                <a:solidFill>
                  <a:srgbClr val="6B0060"/>
                </a:solidFill>
                <a:latin typeface="+mn-ea"/>
                <a:sym typeface="等线" panose="02010600030101010101" pitchFamily="2" charset="-122"/>
              </a:rPr>
              <a:t>3. </a:t>
            </a:r>
            <a:r>
              <a:rPr lang="zh-CN" altLang="en-US" sz="1500" b="1" dirty="0">
                <a:solidFill>
                  <a:srgbClr val="6B0060"/>
                </a:solidFill>
                <a:latin typeface="+mn-ea"/>
                <a:sym typeface="等线" panose="02010600030101010101" pitchFamily="2" charset="-122"/>
              </a:rPr>
              <a:t>如何通过原型与实验说明混合隔离的性能意义？</a:t>
            </a:r>
            <a:endParaRPr lang="zh-CN" altLang="en-US" sz="1500" dirty="0">
              <a:solidFill>
                <a:schemeClr val="tx1"/>
              </a:solidFill>
              <a:sym typeface="等线" panose="02010600030101010101" pitchFamily="2" charset="-122"/>
            </a:endParaRPr>
          </a:p>
        </p:txBody>
      </p:sp>
      <p:sp>
        <p:nvSpPr>
          <p:cNvPr id="5" name="矩形 4">
            <a:extLst>
              <a:ext uri="{FF2B5EF4-FFF2-40B4-BE49-F238E27FC236}">
                <a16:creationId xmlns:a16="http://schemas.microsoft.com/office/drawing/2014/main" id="{B2967801-C705-383C-A846-78824260D1F4}"/>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D34EC-B027-9DF9-B886-C3C13D6B7622}"/>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5FE5E8B7-E79F-0952-3010-0523A2F4145A}"/>
              </a:ext>
            </a:extLst>
          </p:cNvPr>
          <p:cNvSpPr/>
          <p:nvPr/>
        </p:nvSpPr>
        <p:spPr>
          <a:xfrm>
            <a:off x="1" y="2050256"/>
            <a:ext cx="12192000" cy="2736057"/>
          </a:xfrm>
          <a:prstGeom prst="rect">
            <a:avLst/>
          </a:prstGeom>
          <a:solidFill>
            <a:srgbClr val="700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 descr="https://ese.nju.edu.cn/_upload/tpl/04/32/1074/template1074/htmlRes/logo.png">
            <a:extLst>
              <a:ext uri="{FF2B5EF4-FFF2-40B4-BE49-F238E27FC236}">
                <a16:creationId xmlns:a16="http://schemas.microsoft.com/office/drawing/2014/main" id="{4765F321-06AE-3A4B-22D2-B6367652630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0458" y="163693"/>
            <a:ext cx="1913640" cy="59026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0C0DE0C5-B0CF-425C-B9AA-C95C621C057A}"/>
              </a:ext>
            </a:extLst>
          </p:cNvPr>
          <p:cNvSpPr txBox="1"/>
          <p:nvPr/>
        </p:nvSpPr>
        <p:spPr>
          <a:xfrm>
            <a:off x="5166071" y="3013500"/>
            <a:ext cx="4957747" cy="830997"/>
          </a:xfrm>
          <a:prstGeom prst="rect">
            <a:avLst/>
          </a:prstGeom>
          <a:noFill/>
        </p:spPr>
        <p:txBody>
          <a:bodyPr wrap="square" rtlCol="0">
            <a:spAutoFit/>
          </a:bodyPr>
          <a:lstStyle/>
          <a:p>
            <a:pPr algn="ctr"/>
            <a:r>
              <a:rPr lang="zh-CN" altLang="en-US" sz="4800" b="1" dirty="0">
                <a:solidFill>
                  <a:schemeClr val="bg1"/>
                </a:solidFill>
                <a:latin typeface="+mn-ea"/>
              </a:rPr>
              <a:t>背景知识</a:t>
            </a:r>
          </a:p>
        </p:txBody>
      </p:sp>
      <p:sp>
        <p:nvSpPr>
          <p:cNvPr id="2" name="Freeform 8">
            <a:extLst>
              <a:ext uri="{FF2B5EF4-FFF2-40B4-BE49-F238E27FC236}">
                <a16:creationId xmlns:a16="http://schemas.microsoft.com/office/drawing/2014/main" id="{6117643D-F559-931B-25A0-8D659FC68880}"/>
              </a:ext>
            </a:extLst>
          </p:cNvPr>
          <p:cNvSpPr/>
          <p:nvPr/>
        </p:nvSpPr>
        <p:spPr bwMode="auto">
          <a:xfrm>
            <a:off x="1455384" y="1704802"/>
            <a:ext cx="3381639" cy="3378639"/>
          </a:xfrm>
          <a:custGeom>
            <a:avLst/>
            <a:gdLst>
              <a:gd name="T0" fmla="*/ 929 w 1857"/>
              <a:gd name="T1" fmla="*/ 0 h 1855"/>
              <a:gd name="T2" fmla="*/ 1857 w 1857"/>
              <a:gd name="T3" fmla="*/ 928 h 1855"/>
              <a:gd name="T4" fmla="*/ 929 w 1857"/>
              <a:gd name="T5" fmla="*/ 1855 h 1855"/>
              <a:gd name="T6" fmla="*/ 0 w 1857"/>
              <a:gd name="T7" fmla="*/ 928 h 1855"/>
              <a:gd name="T8" fmla="*/ 929 w 1857"/>
              <a:gd name="T9" fmla="*/ 0 h 1855"/>
            </a:gdLst>
            <a:ahLst/>
            <a:cxnLst>
              <a:cxn ang="0">
                <a:pos x="T0" y="T1"/>
              </a:cxn>
              <a:cxn ang="0">
                <a:pos x="T2" y="T3"/>
              </a:cxn>
              <a:cxn ang="0">
                <a:pos x="T4" y="T5"/>
              </a:cxn>
              <a:cxn ang="0">
                <a:pos x="T6" y="T7"/>
              </a:cxn>
              <a:cxn ang="0">
                <a:pos x="T8" y="T9"/>
              </a:cxn>
            </a:cxnLst>
            <a:rect l="0" t="0" r="r" b="b"/>
            <a:pathLst>
              <a:path w="1857" h="1855">
                <a:moveTo>
                  <a:pt x="929" y="0"/>
                </a:moveTo>
                <a:lnTo>
                  <a:pt x="1857" y="928"/>
                </a:lnTo>
                <a:lnTo>
                  <a:pt x="929" y="1855"/>
                </a:lnTo>
                <a:lnTo>
                  <a:pt x="0" y="928"/>
                </a:lnTo>
                <a:lnTo>
                  <a:pt x="929" y="0"/>
                </a:lnTo>
                <a:close/>
              </a:path>
            </a:pathLst>
          </a:custGeom>
          <a:solidFill>
            <a:srgbClr val="6E0F6D"/>
          </a:solidFill>
          <a:ln w="0">
            <a:noFill/>
            <a:prstDash val="solid"/>
            <a:round/>
          </a:ln>
        </p:spPr>
        <p:txBody>
          <a:bodyPr vert="horz" wrap="square" lIns="121890" tIns="60945" rIns="121890" bIns="60945" numCol="1" anchor="t" anchorCtr="0" compatLnSpc="1"/>
          <a:lstStyle/>
          <a:p>
            <a:endParaRPr lang="zh-CN" altLang="en-US"/>
          </a:p>
        </p:txBody>
      </p:sp>
      <p:sp>
        <p:nvSpPr>
          <p:cNvPr id="5" name="文本框 4">
            <a:extLst>
              <a:ext uri="{FF2B5EF4-FFF2-40B4-BE49-F238E27FC236}">
                <a16:creationId xmlns:a16="http://schemas.microsoft.com/office/drawing/2014/main" id="{E074B0C7-74A5-224C-E0E0-285CDF581BCD}"/>
              </a:ext>
            </a:extLst>
          </p:cNvPr>
          <p:cNvSpPr txBox="1">
            <a:spLocks noChangeArrowheads="1"/>
          </p:cNvSpPr>
          <p:nvPr>
            <p:custDataLst>
              <p:tags r:id="rId1"/>
            </p:custDataLst>
          </p:nvPr>
        </p:nvSpPr>
        <p:spPr bwMode="auto">
          <a:xfrm>
            <a:off x="2342201" y="2645454"/>
            <a:ext cx="1608005" cy="14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02</a:t>
            </a:r>
            <a:endParaRPr lang="zh-CN" altLang="en-US"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6" name="页脚占位符 5">
            <a:extLst>
              <a:ext uri="{FF2B5EF4-FFF2-40B4-BE49-F238E27FC236}">
                <a16:creationId xmlns:a16="http://schemas.microsoft.com/office/drawing/2014/main" id="{D7D9E842-A9B7-D0BE-7729-B8D2CD301E08}"/>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7937476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30EE414-DCB1-2420-DEAA-3C39B1077742}"/>
              </a:ext>
            </a:extLst>
          </p:cNvPr>
          <p:cNvSpPr>
            <a:spLocks noGrp="1"/>
          </p:cNvSpPr>
          <p:nvPr>
            <p:ph type="body" sz="quarter" idx="13"/>
          </p:nvPr>
        </p:nvSpPr>
        <p:spPr/>
        <p:txBody>
          <a:bodyPr/>
          <a:lstStyle/>
          <a:p>
            <a:r>
              <a:rPr lang="zh-CN" altLang="en-US" dirty="0"/>
              <a:t>异常</a:t>
            </a:r>
          </a:p>
        </p:txBody>
      </p:sp>
      <p:pic>
        <p:nvPicPr>
          <p:cNvPr id="4" name="图片 3">
            <a:extLst>
              <a:ext uri="{FF2B5EF4-FFF2-40B4-BE49-F238E27FC236}">
                <a16:creationId xmlns:a16="http://schemas.microsoft.com/office/drawing/2014/main" id="{D7577DDE-87D7-C3DD-2327-1C2D647863D0}"/>
              </a:ext>
            </a:extLst>
          </p:cNvPr>
          <p:cNvPicPr>
            <a:picLocks noChangeAspect="1"/>
          </p:cNvPicPr>
          <p:nvPr/>
        </p:nvPicPr>
        <p:blipFill>
          <a:blip r:embed="rId2"/>
          <a:stretch>
            <a:fillRect/>
          </a:stretch>
        </p:blipFill>
        <p:spPr>
          <a:xfrm>
            <a:off x="228319" y="851933"/>
            <a:ext cx="4458047" cy="2638115"/>
          </a:xfrm>
          <a:prstGeom prst="rect">
            <a:avLst/>
          </a:prstGeom>
        </p:spPr>
      </p:pic>
      <p:pic>
        <p:nvPicPr>
          <p:cNvPr id="5" name="图片 4">
            <a:extLst>
              <a:ext uri="{FF2B5EF4-FFF2-40B4-BE49-F238E27FC236}">
                <a16:creationId xmlns:a16="http://schemas.microsoft.com/office/drawing/2014/main" id="{D607F54E-A3F5-F76C-F1FE-13B951C8E4FB}"/>
              </a:ext>
            </a:extLst>
          </p:cNvPr>
          <p:cNvPicPr>
            <a:picLocks noChangeAspect="1"/>
          </p:cNvPicPr>
          <p:nvPr/>
        </p:nvPicPr>
        <p:blipFill>
          <a:blip r:embed="rId3"/>
          <a:stretch>
            <a:fillRect/>
          </a:stretch>
        </p:blipFill>
        <p:spPr>
          <a:xfrm>
            <a:off x="4686366" y="743049"/>
            <a:ext cx="2751058" cy="2149026"/>
          </a:xfrm>
          <a:prstGeom prst="rect">
            <a:avLst/>
          </a:prstGeom>
        </p:spPr>
      </p:pic>
      <p:pic>
        <p:nvPicPr>
          <p:cNvPr id="6" name="图片 5">
            <a:extLst>
              <a:ext uri="{FF2B5EF4-FFF2-40B4-BE49-F238E27FC236}">
                <a16:creationId xmlns:a16="http://schemas.microsoft.com/office/drawing/2014/main" id="{DCBC9C1E-C8DD-BC5E-F769-41051DFB4155}"/>
              </a:ext>
            </a:extLst>
          </p:cNvPr>
          <p:cNvPicPr>
            <a:picLocks noChangeAspect="1"/>
          </p:cNvPicPr>
          <p:nvPr/>
        </p:nvPicPr>
        <p:blipFill>
          <a:blip r:embed="rId4"/>
          <a:stretch>
            <a:fillRect/>
          </a:stretch>
        </p:blipFill>
        <p:spPr>
          <a:xfrm>
            <a:off x="7908132" y="1707668"/>
            <a:ext cx="4460857" cy="2149026"/>
          </a:xfrm>
          <a:prstGeom prst="rect">
            <a:avLst/>
          </a:prstGeom>
        </p:spPr>
      </p:pic>
      <p:pic>
        <p:nvPicPr>
          <p:cNvPr id="8" name="图片 7">
            <a:extLst>
              <a:ext uri="{FF2B5EF4-FFF2-40B4-BE49-F238E27FC236}">
                <a16:creationId xmlns:a16="http://schemas.microsoft.com/office/drawing/2014/main" id="{BAEB6C20-863A-8F78-84EB-E66AA962D449}"/>
              </a:ext>
            </a:extLst>
          </p:cNvPr>
          <p:cNvPicPr>
            <a:picLocks noChangeAspect="1"/>
          </p:cNvPicPr>
          <p:nvPr/>
        </p:nvPicPr>
        <p:blipFill>
          <a:blip r:embed="rId5"/>
          <a:stretch>
            <a:fillRect/>
          </a:stretch>
        </p:blipFill>
        <p:spPr>
          <a:xfrm>
            <a:off x="228319" y="4292340"/>
            <a:ext cx="5509737" cy="1950889"/>
          </a:xfrm>
          <a:prstGeom prst="rect">
            <a:avLst/>
          </a:prstGeom>
        </p:spPr>
      </p:pic>
      <p:pic>
        <p:nvPicPr>
          <p:cNvPr id="10" name="图片 9">
            <a:extLst>
              <a:ext uri="{FF2B5EF4-FFF2-40B4-BE49-F238E27FC236}">
                <a16:creationId xmlns:a16="http://schemas.microsoft.com/office/drawing/2014/main" id="{53A9D705-1D67-03C6-5916-1D7C36DA8A4A}"/>
              </a:ext>
            </a:extLst>
          </p:cNvPr>
          <p:cNvPicPr>
            <a:picLocks noChangeAspect="1"/>
          </p:cNvPicPr>
          <p:nvPr/>
        </p:nvPicPr>
        <p:blipFill>
          <a:blip r:embed="rId6"/>
          <a:stretch>
            <a:fillRect/>
          </a:stretch>
        </p:blipFill>
        <p:spPr>
          <a:xfrm>
            <a:off x="6684793" y="4345685"/>
            <a:ext cx="4496190" cy="1897544"/>
          </a:xfrm>
          <a:prstGeom prst="rect">
            <a:avLst/>
          </a:prstGeom>
        </p:spPr>
      </p:pic>
      <p:sp>
        <p:nvSpPr>
          <p:cNvPr id="11" name="矩形 10">
            <a:extLst>
              <a:ext uri="{FF2B5EF4-FFF2-40B4-BE49-F238E27FC236}">
                <a16:creationId xmlns:a16="http://schemas.microsoft.com/office/drawing/2014/main" id="{89EBAA8B-DAB4-7B47-86CD-14BD08D110A1}"/>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spTree>
    <p:extLst>
      <p:ext uri="{BB962C8B-B14F-4D97-AF65-F5344CB8AC3E}">
        <p14:creationId xmlns:p14="http://schemas.microsoft.com/office/powerpoint/2010/main" val="3299277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13B240A-86BA-510E-296C-75F82096277E}"/>
              </a:ext>
            </a:extLst>
          </p:cNvPr>
          <p:cNvSpPr>
            <a:spLocks noGrp="1"/>
          </p:cNvSpPr>
          <p:nvPr>
            <p:ph type="body" sz="quarter" idx="13"/>
          </p:nvPr>
        </p:nvSpPr>
        <p:spPr/>
        <p:txBody>
          <a:bodyPr/>
          <a:lstStyle/>
          <a:p>
            <a:r>
              <a:rPr lang="zh-CN" altLang="en-US" dirty="0">
                <a:latin typeface="+mj-ea"/>
                <a:ea typeface="+mj-ea"/>
              </a:rPr>
              <a:t>一致性公理</a:t>
            </a:r>
          </a:p>
        </p:txBody>
      </p:sp>
      <p:sp>
        <p:nvSpPr>
          <p:cNvPr id="3" name="AutoShape 4">
            <a:extLst>
              <a:ext uri="{FF2B5EF4-FFF2-40B4-BE49-F238E27FC236}">
                <a16:creationId xmlns:a16="http://schemas.microsoft.com/office/drawing/2014/main" id="{3C048EEC-7CF5-EC76-CC27-89C3DBC08C39}"/>
              </a:ext>
            </a:extLst>
          </p:cNvPr>
          <p:cNvSpPr/>
          <p:nvPr/>
        </p:nvSpPr>
        <p:spPr>
          <a:xfrm>
            <a:off x="762000" y="1651000"/>
            <a:ext cx="3302000" cy="3556000"/>
          </a:xfrm>
          <a:prstGeom prst="roundRect">
            <a:avLst>
              <a:gd name="adj" fmla="val 384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4" name="Picture 5">
            <a:extLst>
              <a:ext uri="{FF2B5EF4-FFF2-40B4-BE49-F238E27FC236}">
                <a16:creationId xmlns:a16="http://schemas.microsoft.com/office/drawing/2014/main" id="{BA26536F-DC38-F369-E9C1-7DF3FE32AB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5500" y="1905000"/>
            <a:ext cx="635000" cy="635000"/>
          </a:xfrm>
          <a:prstGeom prst="rect">
            <a:avLst/>
          </a:prstGeom>
        </p:spPr>
      </p:pic>
      <p:sp>
        <p:nvSpPr>
          <p:cNvPr id="5" name="AutoShape 6">
            <a:extLst>
              <a:ext uri="{FF2B5EF4-FFF2-40B4-BE49-F238E27FC236}">
                <a16:creationId xmlns:a16="http://schemas.microsoft.com/office/drawing/2014/main" id="{1B7CBF85-6556-D779-DDD8-5D2298276359}"/>
              </a:ext>
            </a:extLst>
          </p:cNvPr>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333333"/>
                </a:solidFill>
                <a:latin typeface="+mj-ea"/>
                <a:ea typeface="+mj-ea"/>
                <a:cs typeface="Roboto"/>
                <a:sym typeface="Roboto"/>
              </a:rPr>
              <a:t>无冲突 (NoConflict)</a:t>
            </a:r>
            <a:endParaRPr lang="en-US" sz="1100">
              <a:latin typeface="+mj-ea"/>
              <a:ea typeface="+mj-ea"/>
            </a:endParaRPr>
          </a:p>
        </p:txBody>
      </p:sp>
      <p:sp>
        <p:nvSpPr>
          <p:cNvPr id="6" name="AutoShape 7">
            <a:extLst>
              <a:ext uri="{FF2B5EF4-FFF2-40B4-BE49-F238E27FC236}">
                <a16:creationId xmlns:a16="http://schemas.microsoft.com/office/drawing/2014/main" id="{EB061428-8FF8-5B04-17FF-8E88E15EB23F}"/>
              </a:ext>
            </a:extLst>
          </p:cNvPr>
          <p:cNvSpPr/>
          <p:nvPr/>
        </p:nvSpPr>
        <p:spPr>
          <a:xfrm>
            <a:off x="952500" y="3175000"/>
            <a:ext cx="2921000" cy="165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just">
              <a:lnSpc>
                <a:spcPct val="108333"/>
              </a:lnSpc>
              <a:defRPr/>
            </a:pPr>
            <a:r>
              <a:rPr lang="en-US" sz="1600" b="0" i="0" u="none" strike="noStrike" dirty="0">
                <a:solidFill>
                  <a:srgbClr val="585858"/>
                </a:solidFill>
                <a:latin typeface="+mj-ea"/>
                <a:ea typeface="+mj-ea"/>
                <a:cs typeface="Roboto"/>
                <a:sym typeface="Roboto"/>
              </a:rPr>
              <a:t>保证存在写冲突的事务之间不能彼此不可见，必须建立可见性先后关系。此规则确保了对于同一数据项的并发写操作，系统能够明确它们的先后顺序，避免数据丢失或不一致。</a:t>
            </a:r>
            <a:endParaRPr lang="en-US" sz="1100" dirty="0">
              <a:latin typeface="+mj-ea"/>
              <a:ea typeface="+mj-ea"/>
            </a:endParaRPr>
          </a:p>
        </p:txBody>
      </p:sp>
      <p:sp>
        <p:nvSpPr>
          <p:cNvPr id="7" name="AutoShape 8">
            <a:extLst>
              <a:ext uri="{FF2B5EF4-FFF2-40B4-BE49-F238E27FC236}">
                <a16:creationId xmlns:a16="http://schemas.microsoft.com/office/drawing/2014/main" id="{6458A9AA-8721-413A-5CEF-08428EBF7376}"/>
              </a:ext>
            </a:extLst>
          </p:cNvPr>
          <p:cNvSpPr/>
          <p:nvPr/>
        </p:nvSpPr>
        <p:spPr>
          <a:xfrm>
            <a:off x="4445000" y="1651000"/>
            <a:ext cx="3302000" cy="3556000"/>
          </a:xfrm>
          <a:prstGeom prst="roundRect">
            <a:avLst>
              <a:gd name="adj" fmla="val 384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8" name="Picture 9">
            <a:extLst>
              <a:ext uri="{FF2B5EF4-FFF2-40B4-BE49-F238E27FC236}">
                <a16:creationId xmlns:a16="http://schemas.microsoft.com/office/drawing/2014/main" id="{230A0BB7-C2F3-24C8-F438-3F4FCE0A180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78500" y="1905000"/>
            <a:ext cx="635000" cy="635000"/>
          </a:xfrm>
          <a:prstGeom prst="rect">
            <a:avLst/>
          </a:prstGeom>
        </p:spPr>
      </p:pic>
      <p:sp>
        <p:nvSpPr>
          <p:cNvPr id="9" name="AutoShape 10">
            <a:extLst>
              <a:ext uri="{FF2B5EF4-FFF2-40B4-BE49-F238E27FC236}">
                <a16:creationId xmlns:a16="http://schemas.microsoft.com/office/drawing/2014/main" id="{8A45621C-771C-1E29-95F3-CD3D640E3515}"/>
              </a:ext>
            </a:extLst>
          </p:cNvPr>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333333"/>
                </a:solidFill>
                <a:latin typeface="+mj-ea"/>
                <a:ea typeface="+mj-ea"/>
                <a:cs typeface="Roboto"/>
                <a:sym typeface="Roboto"/>
              </a:rPr>
              <a:t>前缀一致性 (Prefix)</a:t>
            </a:r>
            <a:endParaRPr lang="en-US" sz="1100">
              <a:latin typeface="+mj-ea"/>
              <a:ea typeface="+mj-ea"/>
            </a:endParaRPr>
          </a:p>
        </p:txBody>
      </p:sp>
      <p:sp>
        <p:nvSpPr>
          <p:cNvPr id="10" name="AutoShape 11">
            <a:extLst>
              <a:ext uri="{FF2B5EF4-FFF2-40B4-BE49-F238E27FC236}">
                <a16:creationId xmlns:a16="http://schemas.microsoft.com/office/drawing/2014/main" id="{453445AF-D191-33DD-1D55-1B897724F98A}"/>
              </a:ext>
            </a:extLst>
          </p:cNvPr>
          <p:cNvSpPr/>
          <p:nvPr/>
        </p:nvSpPr>
        <p:spPr>
          <a:xfrm>
            <a:off x="4635500" y="3175000"/>
            <a:ext cx="2921000" cy="165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just">
              <a:lnSpc>
                <a:spcPct val="108333"/>
              </a:lnSpc>
              <a:defRPr/>
            </a:pPr>
            <a:r>
              <a:rPr lang="en-US" sz="1600" b="0" i="0" u="none" strike="noStrike">
                <a:solidFill>
                  <a:srgbClr val="585858"/>
                </a:solidFill>
                <a:latin typeface="+mj-ea"/>
                <a:ea typeface="+mj-ea"/>
                <a:cs typeface="Roboto"/>
                <a:sym typeface="Roboto"/>
              </a:rPr>
              <a:t>保证事务看到的历史必须构成全局仲裁顺序的一个前缀。这意味着事务的视图是全局顺序的一个子集，且这个子集是连续的，从顺序的起点开始。</a:t>
            </a:r>
            <a:endParaRPr lang="en-US" sz="1100">
              <a:latin typeface="+mj-ea"/>
              <a:ea typeface="+mj-ea"/>
            </a:endParaRPr>
          </a:p>
        </p:txBody>
      </p:sp>
      <p:sp>
        <p:nvSpPr>
          <p:cNvPr id="11" name="AutoShape 12">
            <a:extLst>
              <a:ext uri="{FF2B5EF4-FFF2-40B4-BE49-F238E27FC236}">
                <a16:creationId xmlns:a16="http://schemas.microsoft.com/office/drawing/2014/main" id="{B8D12E78-F973-CC1E-C0EC-2FF0D71F3DC8}"/>
              </a:ext>
            </a:extLst>
          </p:cNvPr>
          <p:cNvSpPr/>
          <p:nvPr/>
        </p:nvSpPr>
        <p:spPr>
          <a:xfrm>
            <a:off x="8128000" y="1651000"/>
            <a:ext cx="3302000" cy="3556000"/>
          </a:xfrm>
          <a:prstGeom prst="roundRect">
            <a:avLst>
              <a:gd name="adj" fmla="val 384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12" name="Picture 13">
            <a:extLst>
              <a:ext uri="{FF2B5EF4-FFF2-40B4-BE49-F238E27FC236}">
                <a16:creationId xmlns:a16="http://schemas.microsoft.com/office/drawing/2014/main" id="{79E3B4B4-48C2-F980-82F8-63DAE5DE57C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461500" y="1905000"/>
            <a:ext cx="635000" cy="635000"/>
          </a:xfrm>
          <a:prstGeom prst="rect">
            <a:avLst/>
          </a:prstGeom>
        </p:spPr>
      </p:pic>
      <p:sp>
        <p:nvSpPr>
          <p:cNvPr id="13" name="AutoShape 14">
            <a:extLst>
              <a:ext uri="{FF2B5EF4-FFF2-40B4-BE49-F238E27FC236}">
                <a16:creationId xmlns:a16="http://schemas.microsoft.com/office/drawing/2014/main" id="{15F836CD-B1CC-1674-EA57-4B5F5BF170EA}"/>
              </a:ext>
            </a:extLst>
          </p:cNvPr>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333333"/>
                </a:solidFill>
                <a:latin typeface="+mj-ea"/>
                <a:ea typeface="+mj-ea"/>
                <a:cs typeface="Roboto"/>
                <a:sym typeface="Roboto"/>
              </a:rPr>
              <a:t>完全可见性 (TotalVis)</a:t>
            </a:r>
            <a:endParaRPr lang="en-US" sz="1100">
              <a:latin typeface="+mj-ea"/>
              <a:ea typeface="+mj-ea"/>
            </a:endParaRPr>
          </a:p>
        </p:txBody>
      </p:sp>
      <p:sp>
        <p:nvSpPr>
          <p:cNvPr id="14" name="AutoShape 15">
            <a:extLst>
              <a:ext uri="{FF2B5EF4-FFF2-40B4-BE49-F238E27FC236}">
                <a16:creationId xmlns:a16="http://schemas.microsoft.com/office/drawing/2014/main" id="{494154B7-A237-6C2B-C4E1-BC725E983876}"/>
              </a:ext>
            </a:extLst>
          </p:cNvPr>
          <p:cNvSpPr/>
          <p:nvPr/>
        </p:nvSpPr>
        <p:spPr>
          <a:xfrm>
            <a:off x="8318500" y="3175000"/>
            <a:ext cx="2921000" cy="165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just">
              <a:lnSpc>
                <a:spcPct val="108333"/>
              </a:lnSpc>
              <a:defRPr/>
            </a:pPr>
            <a:r>
              <a:rPr lang="en-US" sz="1600" b="0" i="0" u="none" strike="noStrike">
                <a:solidFill>
                  <a:srgbClr val="585858"/>
                </a:solidFill>
                <a:latin typeface="+mj-ea"/>
                <a:ea typeface="+mj-ea"/>
                <a:cs typeface="Roboto"/>
                <a:sym typeface="Roboto"/>
              </a:rPr>
              <a:t>保证任意两个事务之间的可见性都可比较，从而所有事务形成单一全序。这是最强的一致性保证之一，确保所有事务的执行顺序在全局范围内是完全确定的。</a:t>
            </a:r>
            <a:endParaRPr lang="en-US" sz="1100">
              <a:latin typeface="+mj-ea"/>
              <a:ea typeface="+mj-ea"/>
            </a:endParaRPr>
          </a:p>
        </p:txBody>
      </p:sp>
      <p:sp>
        <p:nvSpPr>
          <p:cNvPr id="15" name="矩形 14">
            <a:extLst>
              <a:ext uri="{FF2B5EF4-FFF2-40B4-BE49-F238E27FC236}">
                <a16:creationId xmlns:a16="http://schemas.microsoft.com/office/drawing/2014/main" id="{75663665-6D62-33BA-0BAA-BF1F97D241BF}"/>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7</a:t>
            </a:r>
            <a:endParaRPr lang="zh-CN" altLang="en-US" dirty="0"/>
          </a:p>
        </p:txBody>
      </p:sp>
    </p:spTree>
    <p:extLst>
      <p:ext uri="{BB962C8B-B14F-4D97-AF65-F5344CB8AC3E}">
        <p14:creationId xmlns:p14="http://schemas.microsoft.com/office/powerpoint/2010/main" val="11216785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0AC05E7-34F4-E24A-1E8F-4454A44AA81D}"/>
              </a:ext>
            </a:extLst>
          </p:cNvPr>
          <p:cNvSpPr>
            <a:spLocks noGrp="1"/>
          </p:cNvSpPr>
          <p:nvPr>
            <p:ph type="body" sz="quarter" idx="13"/>
          </p:nvPr>
        </p:nvSpPr>
        <p:spPr/>
        <p:txBody>
          <a:bodyPr/>
          <a:lstStyle/>
          <a:p>
            <a:r>
              <a:rPr lang="zh-CN" altLang="en-US" dirty="0"/>
              <a:t>隔离级别</a:t>
            </a:r>
          </a:p>
        </p:txBody>
      </p:sp>
      <p:grpSp>
        <p:nvGrpSpPr>
          <p:cNvPr id="10" name="组合 9">
            <a:extLst>
              <a:ext uri="{FF2B5EF4-FFF2-40B4-BE49-F238E27FC236}">
                <a16:creationId xmlns:a16="http://schemas.microsoft.com/office/drawing/2014/main" id="{0B4C0560-A45C-D7B0-D2A2-27F4EF092FA1}"/>
              </a:ext>
            </a:extLst>
          </p:cNvPr>
          <p:cNvGrpSpPr/>
          <p:nvPr/>
        </p:nvGrpSpPr>
        <p:grpSpPr>
          <a:xfrm>
            <a:off x="417813" y="1371909"/>
            <a:ext cx="7727350" cy="4598124"/>
            <a:chOff x="2232325" y="1493352"/>
            <a:chExt cx="7727350" cy="4598124"/>
          </a:xfrm>
        </p:grpSpPr>
        <p:pic>
          <p:nvPicPr>
            <p:cNvPr id="8" name="图片 7">
              <a:extLst>
                <a:ext uri="{FF2B5EF4-FFF2-40B4-BE49-F238E27FC236}">
                  <a16:creationId xmlns:a16="http://schemas.microsoft.com/office/drawing/2014/main" id="{47548E1C-1D70-C3B9-404C-941E9DAB4A26}"/>
                </a:ext>
              </a:extLst>
            </p:cNvPr>
            <p:cNvPicPr>
              <a:picLocks noChangeAspect="1"/>
            </p:cNvPicPr>
            <p:nvPr/>
          </p:nvPicPr>
          <p:blipFill>
            <a:blip r:embed="rId2"/>
            <a:stretch>
              <a:fillRect/>
            </a:stretch>
          </p:blipFill>
          <p:spPr>
            <a:xfrm>
              <a:off x="2232325" y="1493352"/>
              <a:ext cx="7727350" cy="3871295"/>
            </a:xfrm>
            <a:prstGeom prst="rect">
              <a:avLst/>
            </a:prstGeom>
          </p:spPr>
        </p:pic>
        <p:sp>
          <p:nvSpPr>
            <p:cNvPr id="9" name="文本框 8">
              <a:extLst>
                <a:ext uri="{FF2B5EF4-FFF2-40B4-BE49-F238E27FC236}">
                  <a16:creationId xmlns:a16="http://schemas.microsoft.com/office/drawing/2014/main" id="{429D3739-B55F-5D10-2BF9-0C36595071A0}"/>
                </a:ext>
              </a:extLst>
            </p:cNvPr>
            <p:cNvSpPr txBox="1"/>
            <p:nvPr/>
          </p:nvSpPr>
          <p:spPr>
            <a:xfrm>
              <a:off x="4272424" y="5722144"/>
              <a:ext cx="3647152" cy="369332"/>
            </a:xfrm>
            <a:prstGeom prst="rect">
              <a:avLst/>
            </a:prstGeom>
            <a:noFill/>
          </p:spPr>
          <p:txBody>
            <a:bodyPr wrap="none" rtlCol="0">
              <a:spAutoFit/>
            </a:bodyPr>
            <a:lstStyle/>
            <a:p>
              <a:pPr algn="ctr"/>
              <a:r>
                <a:rPr lang="zh-CN" altLang="en-US" dirty="0"/>
                <a:t>一致性模型及其满足的公理与异常</a:t>
              </a:r>
            </a:p>
          </p:txBody>
        </p:sp>
      </p:grpSp>
      <p:pic>
        <p:nvPicPr>
          <p:cNvPr id="12" name="图片 11">
            <a:extLst>
              <a:ext uri="{FF2B5EF4-FFF2-40B4-BE49-F238E27FC236}">
                <a16:creationId xmlns:a16="http://schemas.microsoft.com/office/drawing/2014/main" id="{4BBF3333-0232-376C-5186-7C7C81655B80}"/>
              </a:ext>
            </a:extLst>
          </p:cNvPr>
          <p:cNvPicPr>
            <a:picLocks noChangeAspect="1"/>
          </p:cNvPicPr>
          <p:nvPr/>
        </p:nvPicPr>
        <p:blipFill>
          <a:blip r:embed="rId3"/>
          <a:stretch>
            <a:fillRect/>
          </a:stretch>
        </p:blipFill>
        <p:spPr>
          <a:xfrm>
            <a:off x="8908731" y="1764372"/>
            <a:ext cx="2842506" cy="3086367"/>
          </a:xfrm>
          <a:prstGeom prst="rect">
            <a:avLst/>
          </a:prstGeom>
        </p:spPr>
      </p:pic>
      <p:sp>
        <p:nvSpPr>
          <p:cNvPr id="13" name="矩形 12">
            <a:extLst>
              <a:ext uri="{FF2B5EF4-FFF2-40B4-BE49-F238E27FC236}">
                <a16:creationId xmlns:a16="http://schemas.microsoft.com/office/drawing/2014/main" id="{EF2331B4-CFAF-12FF-20D2-7945B9229F3F}"/>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spTree>
    <p:extLst>
      <p:ext uri="{BB962C8B-B14F-4D97-AF65-F5344CB8AC3E}">
        <p14:creationId xmlns:p14="http://schemas.microsoft.com/office/powerpoint/2010/main" val="12702676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67DCF9F-63E5-0FA7-C52D-4F080CC163FB}"/>
              </a:ext>
            </a:extLst>
          </p:cNvPr>
          <p:cNvSpPr>
            <a:spLocks noGrp="1"/>
          </p:cNvSpPr>
          <p:nvPr>
            <p:ph type="body" sz="quarter" idx="13"/>
          </p:nvPr>
        </p:nvSpPr>
        <p:spPr/>
        <p:txBody>
          <a:bodyPr/>
          <a:lstStyle/>
          <a:p>
            <a:r>
              <a:rPr lang="zh-CN" altLang="en-US" dirty="0"/>
              <a:t>抽象执行</a:t>
            </a:r>
          </a:p>
        </p:txBody>
      </p:sp>
      <p:grpSp>
        <p:nvGrpSpPr>
          <p:cNvPr id="31" name="组合 30">
            <a:extLst>
              <a:ext uri="{FF2B5EF4-FFF2-40B4-BE49-F238E27FC236}">
                <a16:creationId xmlns:a16="http://schemas.microsoft.com/office/drawing/2014/main" id="{A4F02A36-DD3A-A989-8DC0-F97673E29D40}"/>
              </a:ext>
            </a:extLst>
          </p:cNvPr>
          <p:cNvGrpSpPr/>
          <p:nvPr/>
        </p:nvGrpSpPr>
        <p:grpSpPr>
          <a:xfrm>
            <a:off x="762000" y="1387471"/>
            <a:ext cx="1981200" cy="1488281"/>
            <a:chOff x="762000" y="1387471"/>
            <a:chExt cx="1981200" cy="1488281"/>
          </a:xfrm>
        </p:grpSpPr>
        <p:sp>
          <p:nvSpPr>
            <p:cNvPr id="5" name="AutoShape 3">
              <a:extLst>
                <a:ext uri="{FF2B5EF4-FFF2-40B4-BE49-F238E27FC236}">
                  <a16:creationId xmlns:a16="http://schemas.microsoft.com/office/drawing/2014/main" id="{2062725C-505E-EF4D-921E-EFE3AC47F5E3}"/>
                </a:ext>
              </a:extLst>
            </p:cNvPr>
            <p:cNvSpPr/>
            <p:nvPr/>
          </p:nvSpPr>
          <p:spPr>
            <a:xfrm>
              <a:off x="762000" y="1404936"/>
              <a:ext cx="1981200" cy="1470816"/>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6" name="Picture 4">
              <a:extLst>
                <a:ext uri="{FF2B5EF4-FFF2-40B4-BE49-F238E27FC236}">
                  <a16:creationId xmlns:a16="http://schemas.microsoft.com/office/drawing/2014/main" id="{24918771-6101-B8B4-98AE-AA77C83E204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85900" y="1387471"/>
              <a:ext cx="508000" cy="508000"/>
            </a:xfrm>
            <a:prstGeom prst="rect">
              <a:avLst/>
            </a:prstGeom>
          </p:spPr>
        </p:pic>
        <mc:AlternateContent xmlns:mc="http://schemas.openxmlformats.org/markup-compatibility/2006">
          <mc:Choice xmlns:a14="http://schemas.microsoft.com/office/drawing/2010/main" Requires="a14">
            <p:sp>
              <p:nvSpPr>
                <p:cNvPr id="7" name="AutoShape 5">
                  <a:extLst>
                    <a:ext uri="{FF2B5EF4-FFF2-40B4-BE49-F238E27FC236}">
                      <a16:creationId xmlns:a16="http://schemas.microsoft.com/office/drawing/2014/main" id="{1093BAC5-6576-E063-BF31-EADDFAE56AB8}"/>
                    </a:ext>
                  </a:extLst>
                </p:cNvPr>
                <p:cNvSpPr/>
                <p:nvPr/>
              </p:nvSpPr>
              <p:spPr>
                <a:xfrm>
                  <a:off x="762000" y="1929599"/>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14:m>
                    <m:oMath xmlns:m="http://schemas.openxmlformats.org/officeDocument/2006/math">
                      <m:r>
                        <a:rPr lang="en-US" b="1" i="1" u="none" strike="noStrike" dirty="0" smtClean="0">
                          <a:solidFill>
                            <a:srgbClr val="333333"/>
                          </a:solidFill>
                          <a:latin typeface="Cambria Math" panose="02040503050406030204" pitchFamily="18" charset="0"/>
                          <a:ea typeface="Roboto"/>
                          <a:cs typeface="Roboto"/>
                          <a:sym typeface="Roboto"/>
                        </a:rPr>
                        <m:t>𝓣</m:t>
                      </m:r>
                    </m:oMath>
                  </a14:m>
                  <a:r>
                    <a:rPr lang="en-US" b="1" i="0" u="none" strike="noStrike" dirty="0">
                      <a:solidFill>
                        <a:srgbClr val="333333"/>
                      </a:solidFill>
                      <a:latin typeface="Roboto"/>
                      <a:ea typeface="Roboto"/>
                      <a:cs typeface="Roboto"/>
                      <a:sym typeface="Roboto"/>
                    </a:rPr>
                    <a:t>(Transactions)</a:t>
                  </a:r>
                  <a:endParaRPr lang="en-US" sz="1000" dirty="0"/>
                </a:p>
              </p:txBody>
            </p:sp>
          </mc:Choice>
          <mc:Fallback>
            <p:sp>
              <p:nvSpPr>
                <p:cNvPr id="7" name="AutoShape 5">
                  <a:extLst>
                    <a:ext uri="{FF2B5EF4-FFF2-40B4-BE49-F238E27FC236}">
                      <a16:creationId xmlns:a16="http://schemas.microsoft.com/office/drawing/2014/main" id="{1093BAC5-6576-E063-BF31-EADDFAE56AB8}"/>
                    </a:ext>
                  </a:extLst>
                </p:cNvPr>
                <p:cNvSpPr>
                  <a:spLocks noRot="1" noChangeAspect="1" noMove="1" noResize="1" noEditPoints="1" noAdjustHandles="1" noChangeArrowheads="1" noChangeShapeType="1" noTextEdit="1"/>
                </p:cNvSpPr>
                <p:nvPr/>
              </p:nvSpPr>
              <p:spPr>
                <a:xfrm>
                  <a:off x="762000" y="1929599"/>
                  <a:ext cx="1981200" cy="304800"/>
                </a:xfrm>
                <a:prstGeom prst="rect">
                  <a:avLst/>
                </a:prstGeom>
                <a:blipFill>
                  <a:blip r:embed="rId5"/>
                  <a:stretch>
                    <a:fillRect b="-26000"/>
                  </a:stretch>
                </a:blipFill>
                <a:ln w="12700" cap="flat" cmpd="sng">
                  <a:noFill/>
                  <a:prstDash val="solid"/>
                  <a:round/>
                </a:ln>
              </p:spPr>
              <p:txBody>
                <a:bodyPr/>
                <a:lstStyle/>
                <a:p>
                  <a:r>
                    <a:rPr lang="zh-CN" altLang="en-US">
                      <a:noFill/>
                    </a:rPr>
                    <a:t> </a:t>
                  </a:r>
                </a:p>
              </p:txBody>
            </p:sp>
          </mc:Fallback>
        </mc:AlternateContent>
        <p:sp>
          <p:nvSpPr>
            <p:cNvPr id="8" name="AutoShape 6">
              <a:extLst>
                <a:ext uri="{FF2B5EF4-FFF2-40B4-BE49-F238E27FC236}">
                  <a16:creationId xmlns:a16="http://schemas.microsoft.com/office/drawing/2014/main" id="{FBD8A79D-B14C-5853-353E-A010D58C3973}"/>
                </a:ext>
              </a:extLst>
            </p:cNvPr>
            <p:cNvSpPr/>
            <p:nvPr/>
          </p:nvSpPr>
          <p:spPr>
            <a:xfrm>
              <a:off x="863600" y="2296312"/>
              <a:ext cx="177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91666"/>
                </a:lnSpc>
                <a:defRPr/>
              </a:pPr>
              <a:r>
                <a:rPr lang="en-US" sz="1050" b="0" i="0" u="none" strike="noStrike" dirty="0" err="1">
                  <a:solidFill>
                    <a:srgbClr val="888888"/>
                  </a:solidFill>
                  <a:latin typeface="Roboto"/>
                  <a:ea typeface="Roboto"/>
                  <a:cs typeface="Roboto"/>
                  <a:sym typeface="Roboto"/>
                </a:rPr>
                <a:t>事务集合，表示该次执行中包含的所有事务</a:t>
              </a:r>
              <a:endParaRPr lang="en-US" sz="1000" dirty="0"/>
            </a:p>
          </p:txBody>
        </p:sp>
      </p:grpSp>
      <p:grpSp>
        <p:nvGrpSpPr>
          <p:cNvPr id="30" name="组合 29">
            <a:extLst>
              <a:ext uri="{FF2B5EF4-FFF2-40B4-BE49-F238E27FC236}">
                <a16:creationId xmlns:a16="http://schemas.microsoft.com/office/drawing/2014/main" id="{625F79A6-1218-BD4D-83C8-DF04A77C2CC1}"/>
              </a:ext>
            </a:extLst>
          </p:cNvPr>
          <p:cNvGrpSpPr/>
          <p:nvPr/>
        </p:nvGrpSpPr>
        <p:grpSpPr>
          <a:xfrm>
            <a:off x="2933700" y="1387471"/>
            <a:ext cx="1981200" cy="1488281"/>
            <a:chOff x="2933700" y="1387471"/>
            <a:chExt cx="1981200" cy="1488281"/>
          </a:xfrm>
        </p:grpSpPr>
        <p:sp>
          <p:nvSpPr>
            <p:cNvPr id="9" name="AutoShape 7">
              <a:extLst>
                <a:ext uri="{FF2B5EF4-FFF2-40B4-BE49-F238E27FC236}">
                  <a16:creationId xmlns:a16="http://schemas.microsoft.com/office/drawing/2014/main" id="{F4B54746-D068-3DB0-23D5-302E357C614B}"/>
                </a:ext>
              </a:extLst>
            </p:cNvPr>
            <p:cNvSpPr/>
            <p:nvPr/>
          </p:nvSpPr>
          <p:spPr>
            <a:xfrm>
              <a:off x="2933700" y="1404936"/>
              <a:ext cx="1981200" cy="1470816"/>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10" name="Picture 8">
              <a:extLst>
                <a:ext uri="{FF2B5EF4-FFF2-40B4-BE49-F238E27FC236}">
                  <a16:creationId xmlns:a16="http://schemas.microsoft.com/office/drawing/2014/main" id="{E16BFC6B-F2EF-32C8-5053-93DF1E7055B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57600" y="1387471"/>
              <a:ext cx="508000" cy="508000"/>
            </a:xfrm>
            <a:prstGeom prst="rect">
              <a:avLst/>
            </a:prstGeom>
          </p:spPr>
        </p:pic>
        <mc:AlternateContent xmlns:mc="http://schemas.openxmlformats.org/markup-compatibility/2006">
          <mc:Choice xmlns:a14="http://schemas.microsoft.com/office/drawing/2010/main" Requires="a14">
            <p:sp>
              <p:nvSpPr>
                <p:cNvPr id="11" name="AutoShape 9">
                  <a:extLst>
                    <a:ext uri="{FF2B5EF4-FFF2-40B4-BE49-F238E27FC236}">
                      <a16:creationId xmlns:a16="http://schemas.microsoft.com/office/drawing/2014/main" id="{81842083-6800-DEE3-0375-1FAA7D1F35DD}"/>
                    </a:ext>
                  </a:extLst>
                </p:cNvPr>
                <p:cNvSpPr/>
                <p:nvPr/>
              </p:nvSpPr>
              <p:spPr>
                <a:xfrm>
                  <a:off x="2933700" y="1929599"/>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14:m>
                    <m:oMath xmlns:m="http://schemas.openxmlformats.org/officeDocument/2006/math">
                      <m:r>
                        <a:rPr lang="en-US" b="1" i="1" u="none" strike="noStrike" dirty="0" smtClean="0">
                          <a:solidFill>
                            <a:srgbClr val="333333"/>
                          </a:solidFill>
                          <a:latin typeface="Cambria Math" panose="02040503050406030204" pitchFamily="18" charset="0"/>
                          <a:ea typeface="Roboto"/>
                          <a:cs typeface="Roboto"/>
                          <a:sym typeface="Roboto"/>
                        </a:rPr>
                        <m:t>𝓢𝓞</m:t>
                      </m:r>
                    </m:oMath>
                  </a14:m>
                  <a:r>
                    <a:rPr lang="en-US" b="1" i="0" u="none" strike="noStrike" dirty="0">
                      <a:solidFill>
                        <a:srgbClr val="333333"/>
                      </a:solidFill>
                      <a:latin typeface="Roboto"/>
                      <a:ea typeface="Roboto"/>
                      <a:cs typeface="Roboto"/>
                      <a:sym typeface="Roboto"/>
                    </a:rPr>
                    <a:t>(Session Order)</a:t>
                  </a:r>
                  <a:endParaRPr lang="en-US" sz="1000" dirty="0"/>
                </a:p>
              </p:txBody>
            </p:sp>
          </mc:Choice>
          <mc:Fallback>
            <p:sp>
              <p:nvSpPr>
                <p:cNvPr id="11" name="AutoShape 9">
                  <a:extLst>
                    <a:ext uri="{FF2B5EF4-FFF2-40B4-BE49-F238E27FC236}">
                      <a16:creationId xmlns:a16="http://schemas.microsoft.com/office/drawing/2014/main" id="{81842083-6800-DEE3-0375-1FAA7D1F35DD}"/>
                    </a:ext>
                  </a:extLst>
                </p:cNvPr>
                <p:cNvSpPr>
                  <a:spLocks noRot="1" noChangeAspect="1" noMove="1" noResize="1" noEditPoints="1" noAdjustHandles="1" noChangeArrowheads="1" noChangeShapeType="1" noTextEdit="1"/>
                </p:cNvSpPr>
                <p:nvPr/>
              </p:nvSpPr>
              <p:spPr>
                <a:xfrm>
                  <a:off x="2933700" y="1929599"/>
                  <a:ext cx="1981200" cy="304800"/>
                </a:xfrm>
                <a:prstGeom prst="rect">
                  <a:avLst/>
                </a:prstGeom>
                <a:blipFill>
                  <a:blip r:embed="rId8"/>
                  <a:stretch>
                    <a:fillRect b="-26000"/>
                  </a:stretch>
                </a:blipFill>
                <a:ln w="12700" cap="flat" cmpd="sng">
                  <a:noFill/>
                  <a:prstDash val="solid"/>
                  <a:round/>
                </a:ln>
              </p:spPr>
              <p:txBody>
                <a:bodyPr/>
                <a:lstStyle/>
                <a:p>
                  <a:r>
                    <a:rPr lang="zh-CN" altLang="en-US">
                      <a:noFill/>
                    </a:rPr>
                    <a:t> </a:t>
                  </a:r>
                </a:p>
              </p:txBody>
            </p:sp>
          </mc:Fallback>
        </mc:AlternateContent>
        <p:sp>
          <p:nvSpPr>
            <p:cNvPr id="12" name="AutoShape 10">
              <a:extLst>
                <a:ext uri="{FF2B5EF4-FFF2-40B4-BE49-F238E27FC236}">
                  <a16:creationId xmlns:a16="http://schemas.microsoft.com/office/drawing/2014/main" id="{1D17D019-96FB-8FFA-0BA0-E35589465076}"/>
                </a:ext>
              </a:extLst>
            </p:cNvPr>
            <p:cNvSpPr/>
            <p:nvPr/>
          </p:nvSpPr>
          <p:spPr>
            <a:xfrm>
              <a:off x="3035300" y="2296312"/>
              <a:ext cx="177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91666"/>
                </a:lnSpc>
                <a:defRPr/>
              </a:pPr>
              <a:r>
                <a:rPr lang="en-US" sz="1050" b="0" i="0" u="none" strike="noStrike" dirty="0" err="1">
                  <a:solidFill>
                    <a:srgbClr val="888888"/>
                  </a:solidFill>
                  <a:latin typeface="Roboto"/>
                  <a:ea typeface="Roboto"/>
                  <a:cs typeface="Roboto"/>
                  <a:sym typeface="Roboto"/>
                </a:rPr>
                <a:t>同一会话内事务的严格全序关系</a:t>
              </a:r>
              <a:r>
                <a:rPr lang="en-US" sz="1050" b="0" i="0" u="none" strike="noStrike" dirty="0">
                  <a:solidFill>
                    <a:srgbClr val="888888"/>
                  </a:solidFill>
                  <a:latin typeface="Roboto"/>
                  <a:ea typeface="Roboto"/>
                  <a:cs typeface="Roboto"/>
                  <a:sym typeface="Roboto"/>
                </a:rPr>
                <a:t> (PO)</a:t>
              </a:r>
              <a:endParaRPr lang="en-US" sz="1000" dirty="0"/>
            </a:p>
          </p:txBody>
        </p:sp>
      </p:grpSp>
      <p:grpSp>
        <p:nvGrpSpPr>
          <p:cNvPr id="29" name="组合 28">
            <a:extLst>
              <a:ext uri="{FF2B5EF4-FFF2-40B4-BE49-F238E27FC236}">
                <a16:creationId xmlns:a16="http://schemas.microsoft.com/office/drawing/2014/main" id="{9F9A0054-34A3-A3B3-A608-A320A5FB0050}"/>
              </a:ext>
            </a:extLst>
          </p:cNvPr>
          <p:cNvGrpSpPr/>
          <p:nvPr/>
        </p:nvGrpSpPr>
        <p:grpSpPr>
          <a:xfrm>
            <a:off x="5105400" y="1387471"/>
            <a:ext cx="1981200" cy="1488281"/>
            <a:chOff x="5105400" y="1387471"/>
            <a:chExt cx="1981200" cy="1488281"/>
          </a:xfrm>
        </p:grpSpPr>
        <p:sp>
          <p:nvSpPr>
            <p:cNvPr id="13" name="AutoShape 11">
              <a:extLst>
                <a:ext uri="{FF2B5EF4-FFF2-40B4-BE49-F238E27FC236}">
                  <a16:creationId xmlns:a16="http://schemas.microsoft.com/office/drawing/2014/main" id="{883CCE47-5461-0C0F-3E0E-B06EA6A79FE7}"/>
                </a:ext>
              </a:extLst>
            </p:cNvPr>
            <p:cNvSpPr/>
            <p:nvPr/>
          </p:nvSpPr>
          <p:spPr>
            <a:xfrm>
              <a:off x="5105400" y="1404936"/>
              <a:ext cx="1981200" cy="1470816"/>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14" name="Picture 12">
              <a:extLst>
                <a:ext uri="{FF2B5EF4-FFF2-40B4-BE49-F238E27FC236}">
                  <a16:creationId xmlns:a16="http://schemas.microsoft.com/office/drawing/2014/main" id="{176B0C66-2BEA-BFAB-2A4A-2136251B920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29300" y="1387471"/>
              <a:ext cx="508000" cy="508000"/>
            </a:xfrm>
            <a:prstGeom prst="rect">
              <a:avLst/>
            </a:prstGeom>
          </p:spPr>
        </p:pic>
        <p:sp>
          <p:nvSpPr>
            <p:cNvPr id="15" name="AutoShape 13">
              <a:extLst>
                <a:ext uri="{FF2B5EF4-FFF2-40B4-BE49-F238E27FC236}">
                  <a16:creationId xmlns:a16="http://schemas.microsoft.com/office/drawing/2014/main" id="{CDAE6C85-B46A-93EE-B15B-1BC83FD35C27}"/>
                </a:ext>
              </a:extLst>
            </p:cNvPr>
            <p:cNvSpPr/>
            <p:nvPr/>
          </p:nvSpPr>
          <p:spPr>
            <a:xfrm>
              <a:off x="5105400" y="1929599"/>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b="1" dirty="0">
                  <a:solidFill>
                    <a:srgbClr val="333333"/>
                  </a:solidFill>
                  <a:latin typeface="Roboto"/>
                  <a:ea typeface="Roboto"/>
                  <a:cs typeface="Roboto"/>
                  <a:sym typeface="Roboto"/>
                </a:rPr>
                <a:t>l</a:t>
              </a:r>
              <a:r>
                <a:rPr lang="en-US" b="1" i="0" u="none" strike="noStrike" dirty="0">
                  <a:solidFill>
                    <a:srgbClr val="333333"/>
                  </a:solidFill>
                  <a:latin typeface="Roboto"/>
                  <a:ea typeface="Roboto"/>
                  <a:cs typeface="Roboto"/>
                  <a:sym typeface="Roboto"/>
                </a:rPr>
                <a:t>evel</a:t>
              </a:r>
            </a:p>
            <a:p>
              <a:pPr indent="0" algn="ctr">
                <a:lnSpc>
                  <a:spcPct val="125000"/>
                </a:lnSpc>
                <a:defRPr/>
              </a:pPr>
              <a:r>
                <a:rPr lang="en-US" b="1" dirty="0">
                  <a:solidFill>
                    <a:srgbClr val="333333"/>
                  </a:solidFill>
                  <a:latin typeface="Roboto"/>
                  <a:ea typeface="Roboto"/>
                  <a:cs typeface="Roboto"/>
                  <a:sym typeface="Roboto"/>
                </a:rPr>
                <a:t>(Isolation Level)</a:t>
              </a:r>
              <a:endParaRPr lang="en-US" sz="1000" dirty="0"/>
            </a:p>
          </p:txBody>
        </p:sp>
        <p:sp>
          <p:nvSpPr>
            <p:cNvPr id="16" name="AutoShape 14">
              <a:extLst>
                <a:ext uri="{FF2B5EF4-FFF2-40B4-BE49-F238E27FC236}">
                  <a16:creationId xmlns:a16="http://schemas.microsoft.com/office/drawing/2014/main" id="{76FFAA49-6CC1-AA3E-4671-52A3BED9A2A0}"/>
                </a:ext>
              </a:extLst>
            </p:cNvPr>
            <p:cNvSpPr/>
            <p:nvPr/>
          </p:nvSpPr>
          <p:spPr>
            <a:xfrm>
              <a:off x="5207000" y="2367752"/>
              <a:ext cx="177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91666"/>
                </a:lnSpc>
                <a:defRPr/>
              </a:pPr>
              <a:r>
                <a:rPr lang="en-US" sz="1050" b="0" i="0" u="none" strike="noStrike" dirty="0" err="1">
                  <a:solidFill>
                    <a:srgbClr val="888888"/>
                  </a:solidFill>
                  <a:latin typeface="Roboto"/>
                  <a:ea typeface="Roboto"/>
                  <a:cs typeface="Roboto"/>
                  <a:sym typeface="Roboto"/>
                </a:rPr>
                <a:t>隔离级别函数，映射事务到隔离级别集合</a:t>
              </a:r>
              <a:endParaRPr lang="en-US" sz="1000" dirty="0"/>
            </a:p>
          </p:txBody>
        </p:sp>
      </p:grpSp>
      <p:grpSp>
        <p:nvGrpSpPr>
          <p:cNvPr id="28" name="组合 27">
            <a:extLst>
              <a:ext uri="{FF2B5EF4-FFF2-40B4-BE49-F238E27FC236}">
                <a16:creationId xmlns:a16="http://schemas.microsoft.com/office/drawing/2014/main" id="{8ACF88DA-8A29-7066-07B2-CF4DBBC52EAD}"/>
              </a:ext>
            </a:extLst>
          </p:cNvPr>
          <p:cNvGrpSpPr/>
          <p:nvPr/>
        </p:nvGrpSpPr>
        <p:grpSpPr>
          <a:xfrm>
            <a:off x="7277100" y="1387471"/>
            <a:ext cx="1981200" cy="1488281"/>
            <a:chOff x="7277100" y="1387471"/>
            <a:chExt cx="1981200" cy="1488281"/>
          </a:xfrm>
        </p:grpSpPr>
        <p:sp>
          <p:nvSpPr>
            <p:cNvPr id="17" name="AutoShape 15">
              <a:extLst>
                <a:ext uri="{FF2B5EF4-FFF2-40B4-BE49-F238E27FC236}">
                  <a16:creationId xmlns:a16="http://schemas.microsoft.com/office/drawing/2014/main" id="{CA0A91DC-8AFC-6021-EF57-CB4457727730}"/>
                </a:ext>
              </a:extLst>
            </p:cNvPr>
            <p:cNvSpPr/>
            <p:nvPr/>
          </p:nvSpPr>
          <p:spPr>
            <a:xfrm>
              <a:off x="7277100" y="1404936"/>
              <a:ext cx="1981200" cy="1470816"/>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18" name="Picture 16">
              <a:extLst>
                <a:ext uri="{FF2B5EF4-FFF2-40B4-BE49-F238E27FC236}">
                  <a16:creationId xmlns:a16="http://schemas.microsoft.com/office/drawing/2014/main" id="{CD30FD6C-3F98-E3F7-47DF-81E6FEB9E09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001000" y="1387471"/>
              <a:ext cx="508000" cy="508000"/>
            </a:xfrm>
            <a:prstGeom prst="rect">
              <a:avLst/>
            </a:prstGeom>
          </p:spPr>
        </p:pic>
        <p:sp>
          <p:nvSpPr>
            <p:cNvPr id="19" name="AutoShape 17">
              <a:extLst>
                <a:ext uri="{FF2B5EF4-FFF2-40B4-BE49-F238E27FC236}">
                  <a16:creationId xmlns:a16="http://schemas.microsoft.com/office/drawing/2014/main" id="{558EBD85-B45A-664E-6A03-C9E807458CA2}"/>
                </a:ext>
              </a:extLst>
            </p:cNvPr>
            <p:cNvSpPr/>
            <p:nvPr/>
          </p:nvSpPr>
          <p:spPr>
            <a:xfrm>
              <a:off x="7277100" y="1929599"/>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b="1" i="0" u="none" strike="noStrike" dirty="0">
                  <a:solidFill>
                    <a:srgbClr val="333333"/>
                  </a:solidFill>
                  <a:latin typeface="Roboto"/>
                  <a:ea typeface="Roboto"/>
                  <a:cs typeface="Roboto"/>
                  <a:sym typeface="Roboto"/>
                </a:rPr>
                <a:t>VIS (Visibility)</a:t>
              </a:r>
              <a:endParaRPr lang="en-US" sz="1000" dirty="0"/>
            </a:p>
          </p:txBody>
        </p:sp>
        <p:sp>
          <p:nvSpPr>
            <p:cNvPr id="20" name="AutoShape 18">
              <a:extLst>
                <a:ext uri="{FF2B5EF4-FFF2-40B4-BE49-F238E27FC236}">
                  <a16:creationId xmlns:a16="http://schemas.microsoft.com/office/drawing/2014/main" id="{9DD79383-21AE-5BF0-98DC-922D1304DE92}"/>
                </a:ext>
              </a:extLst>
            </p:cNvPr>
            <p:cNvSpPr/>
            <p:nvPr/>
          </p:nvSpPr>
          <p:spPr>
            <a:xfrm>
              <a:off x="7378700" y="2296312"/>
              <a:ext cx="177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91666"/>
                </a:lnSpc>
                <a:defRPr/>
              </a:pPr>
              <a:r>
                <a:rPr lang="en-US" sz="1050" b="0" i="0" u="none" strike="noStrike" dirty="0" err="1">
                  <a:solidFill>
                    <a:srgbClr val="888888"/>
                  </a:solidFill>
                  <a:latin typeface="Roboto"/>
                  <a:ea typeface="Roboto"/>
                  <a:cs typeface="Roboto"/>
                  <a:sym typeface="Roboto"/>
                </a:rPr>
                <a:t>事务间写入的可见性，无环偏序关系</a:t>
              </a:r>
              <a:endParaRPr lang="en-US" sz="1000" dirty="0"/>
            </a:p>
          </p:txBody>
        </p:sp>
      </p:grpSp>
      <p:grpSp>
        <p:nvGrpSpPr>
          <p:cNvPr id="27" name="组合 26">
            <a:extLst>
              <a:ext uri="{FF2B5EF4-FFF2-40B4-BE49-F238E27FC236}">
                <a16:creationId xmlns:a16="http://schemas.microsoft.com/office/drawing/2014/main" id="{D8B27C18-0E32-E4E2-DF84-E91583282B4C}"/>
              </a:ext>
            </a:extLst>
          </p:cNvPr>
          <p:cNvGrpSpPr/>
          <p:nvPr/>
        </p:nvGrpSpPr>
        <p:grpSpPr>
          <a:xfrm>
            <a:off x="9448800" y="1387471"/>
            <a:ext cx="1981200" cy="1488281"/>
            <a:chOff x="9448800" y="1387471"/>
            <a:chExt cx="1981200" cy="1488281"/>
          </a:xfrm>
        </p:grpSpPr>
        <p:sp>
          <p:nvSpPr>
            <p:cNvPr id="21" name="AutoShape 19">
              <a:extLst>
                <a:ext uri="{FF2B5EF4-FFF2-40B4-BE49-F238E27FC236}">
                  <a16:creationId xmlns:a16="http://schemas.microsoft.com/office/drawing/2014/main" id="{F7EB1FB4-DB2D-A42B-A920-23A909D0C820}"/>
                </a:ext>
              </a:extLst>
            </p:cNvPr>
            <p:cNvSpPr/>
            <p:nvPr/>
          </p:nvSpPr>
          <p:spPr>
            <a:xfrm>
              <a:off x="9448800" y="1404936"/>
              <a:ext cx="1981200" cy="1470816"/>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22" name="Picture 20">
              <a:extLst>
                <a:ext uri="{FF2B5EF4-FFF2-40B4-BE49-F238E27FC236}">
                  <a16:creationId xmlns:a16="http://schemas.microsoft.com/office/drawing/2014/main" id="{1B6D3CFC-8BF7-776B-11F8-74FAA9EDF53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72700" y="1387471"/>
              <a:ext cx="508000" cy="508000"/>
            </a:xfrm>
            <a:prstGeom prst="rect">
              <a:avLst/>
            </a:prstGeom>
          </p:spPr>
        </p:pic>
        <p:sp>
          <p:nvSpPr>
            <p:cNvPr id="23" name="AutoShape 21">
              <a:extLst>
                <a:ext uri="{FF2B5EF4-FFF2-40B4-BE49-F238E27FC236}">
                  <a16:creationId xmlns:a16="http://schemas.microsoft.com/office/drawing/2014/main" id="{F2294DFF-F22D-56E4-AB00-2DD394CF23F8}"/>
                </a:ext>
              </a:extLst>
            </p:cNvPr>
            <p:cNvSpPr/>
            <p:nvPr/>
          </p:nvSpPr>
          <p:spPr>
            <a:xfrm>
              <a:off x="9448800" y="1929599"/>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b="1" i="0" u="none" strike="noStrike" dirty="0">
                  <a:solidFill>
                    <a:srgbClr val="333333"/>
                  </a:solidFill>
                  <a:latin typeface="Roboto"/>
                  <a:ea typeface="Roboto"/>
                  <a:cs typeface="Roboto"/>
                  <a:sym typeface="Roboto"/>
                </a:rPr>
                <a:t>AR (Arbitration)</a:t>
              </a:r>
              <a:endParaRPr lang="en-US" sz="1000" dirty="0"/>
            </a:p>
          </p:txBody>
        </p:sp>
        <p:sp>
          <p:nvSpPr>
            <p:cNvPr id="24" name="AutoShape 22">
              <a:extLst>
                <a:ext uri="{FF2B5EF4-FFF2-40B4-BE49-F238E27FC236}">
                  <a16:creationId xmlns:a16="http://schemas.microsoft.com/office/drawing/2014/main" id="{E216C88A-FF4C-EFEC-3280-6D1EC07527BA}"/>
                </a:ext>
              </a:extLst>
            </p:cNvPr>
            <p:cNvSpPr/>
            <p:nvPr/>
          </p:nvSpPr>
          <p:spPr>
            <a:xfrm>
              <a:off x="9550400" y="2296312"/>
              <a:ext cx="177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91666"/>
                </a:lnSpc>
                <a:defRPr/>
              </a:pPr>
              <a:r>
                <a:rPr lang="en-US" sz="1050" b="0" i="0" u="none" strike="noStrike">
                  <a:solidFill>
                    <a:srgbClr val="888888"/>
                  </a:solidFill>
                  <a:latin typeface="Roboto"/>
                  <a:ea typeface="Roboto"/>
                  <a:cs typeface="Roboto"/>
                  <a:sym typeface="Roboto"/>
                </a:rPr>
                <a:t>写入的全局先后顺序，严格全序关系</a:t>
              </a:r>
              <a:endParaRPr lang="en-US" sz="1000"/>
            </a:p>
          </p:txBody>
        </p:sp>
      </p:grpSp>
      <p:sp>
        <p:nvSpPr>
          <p:cNvPr id="25" name="右大括号 24">
            <a:extLst>
              <a:ext uri="{FF2B5EF4-FFF2-40B4-BE49-F238E27FC236}">
                <a16:creationId xmlns:a16="http://schemas.microsoft.com/office/drawing/2014/main" id="{64CFB41D-2176-9BC9-A56C-84328A145B94}"/>
              </a:ext>
            </a:extLst>
          </p:cNvPr>
          <p:cNvSpPr/>
          <p:nvPr/>
        </p:nvSpPr>
        <p:spPr>
          <a:xfrm rot="5400000">
            <a:off x="3770640" y="620376"/>
            <a:ext cx="523220" cy="5092700"/>
          </a:xfrm>
          <a:prstGeom prst="rightBrace">
            <a:avLst>
              <a:gd name="adj1" fmla="val 97080"/>
              <a:gd name="adj2" fmla="val 5018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AutoShape 7">
            <a:extLst>
              <a:ext uri="{FF2B5EF4-FFF2-40B4-BE49-F238E27FC236}">
                <a16:creationId xmlns:a16="http://schemas.microsoft.com/office/drawing/2014/main" id="{ECDFA59C-3160-BCAB-D955-8E188B0F127A}"/>
              </a:ext>
            </a:extLst>
          </p:cNvPr>
          <p:cNvSpPr/>
          <p:nvPr/>
        </p:nvSpPr>
        <p:spPr>
          <a:xfrm>
            <a:off x="3045618" y="3546469"/>
            <a:ext cx="1973263" cy="1187452"/>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a:p>
        </p:txBody>
      </p:sp>
      <p:pic>
        <p:nvPicPr>
          <p:cNvPr id="33" name="图形 32">
            <a:extLst>
              <a:ext uri="{FF2B5EF4-FFF2-40B4-BE49-F238E27FC236}">
                <a16:creationId xmlns:a16="http://schemas.microsoft.com/office/drawing/2014/main" id="{46872E91-7965-E673-739B-DBF1FF7CACE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86441" y="3739252"/>
            <a:ext cx="478918" cy="478918"/>
          </a:xfrm>
          <a:prstGeom prst="rect">
            <a:avLst/>
          </a:prstGeom>
        </p:spPr>
      </p:pic>
      <mc:AlternateContent xmlns:mc="http://schemas.openxmlformats.org/markup-compatibility/2006">
        <mc:Choice xmlns:a14="http://schemas.microsoft.com/office/drawing/2010/main" Requires="a14">
          <p:sp>
            <p:nvSpPr>
              <p:cNvPr id="34" name="AutoShape 9">
                <a:extLst>
                  <a:ext uri="{FF2B5EF4-FFF2-40B4-BE49-F238E27FC236}">
                    <a16:creationId xmlns:a16="http://schemas.microsoft.com/office/drawing/2014/main" id="{68DA746D-0DDF-15B8-8BA0-EBAAE48D11AA}"/>
                  </a:ext>
                </a:extLst>
              </p:cNvPr>
              <p:cNvSpPr/>
              <p:nvPr/>
            </p:nvSpPr>
            <p:spPr>
              <a:xfrm>
                <a:off x="3035300" y="4255003"/>
                <a:ext cx="19812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25000"/>
                  </a:lnSpc>
                  <a:defRPr/>
                </a:pPr>
                <a14:m>
                  <m:oMath xmlns:m="http://schemas.openxmlformats.org/officeDocument/2006/math">
                    <m:r>
                      <a:rPr lang="en-US" altLang="zh-CN" i="1" dirty="0" smtClean="0">
                        <a:latin typeface="Cambria Math" panose="02040503050406030204" pitchFamily="18" charset="0"/>
                      </a:rPr>
                      <m:t>ℋ</m:t>
                    </m:r>
                  </m:oMath>
                </a14:m>
                <a:r>
                  <a:rPr lang="en-US" altLang="zh-CN" b="1" i="0" u="none" strike="noStrike" dirty="0">
                    <a:solidFill>
                      <a:srgbClr val="333333"/>
                    </a:solidFill>
                    <a:latin typeface="Roboto"/>
                    <a:ea typeface="Roboto"/>
                    <a:cs typeface="Roboto"/>
                    <a:sym typeface="Roboto"/>
                  </a:rPr>
                  <a:t>-History</a:t>
                </a:r>
                <a:endParaRPr lang="en-US" sz="1000" dirty="0"/>
              </a:p>
            </p:txBody>
          </p:sp>
        </mc:Choice>
        <mc:Fallback>
          <p:sp>
            <p:nvSpPr>
              <p:cNvPr id="34" name="AutoShape 9">
                <a:extLst>
                  <a:ext uri="{FF2B5EF4-FFF2-40B4-BE49-F238E27FC236}">
                    <a16:creationId xmlns:a16="http://schemas.microsoft.com/office/drawing/2014/main" id="{68DA746D-0DDF-15B8-8BA0-EBAAE48D11AA}"/>
                  </a:ext>
                </a:extLst>
              </p:cNvPr>
              <p:cNvSpPr>
                <a:spLocks noRot="1" noChangeAspect="1" noMove="1" noResize="1" noEditPoints="1" noAdjustHandles="1" noChangeArrowheads="1" noChangeShapeType="1" noTextEdit="1"/>
              </p:cNvSpPr>
              <p:nvPr/>
            </p:nvSpPr>
            <p:spPr>
              <a:xfrm>
                <a:off x="3035300" y="4255003"/>
                <a:ext cx="1981200" cy="304800"/>
              </a:xfrm>
              <a:prstGeom prst="rect">
                <a:avLst/>
              </a:prstGeom>
              <a:blipFill>
                <a:blip r:embed="rId17"/>
                <a:stretch>
                  <a:fillRect b="-28000"/>
                </a:stretch>
              </a:blipFill>
              <a:ln w="12700" cap="flat" cmpd="sng">
                <a:noFill/>
                <a:prstDash val="solid"/>
                <a:round/>
              </a:ln>
            </p:spPr>
            <p:txBody>
              <a:bodyPr/>
              <a:lstStyle/>
              <a:p>
                <a:r>
                  <a:rPr lang="zh-CN" altLang="en-US">
                    <a:noFill/>
                  </a:rPr>
                  <a:t> </a:t>
                </a:r>
              </a:p>
            </p:txBody>
          </p:sp>
        </mc:Fallback>
      </mc:AlternateContent>
      <p:sp>
        <p:nvSpPr>
          <p:cNvPr id="35" name="右大括号 34">
            <a:extLst>
              <a:ext uri="{FF2B5EF4-FFF2-40B4-BE49-F238E27FC236}">
                <a16:creationId xmlns:a16="http://schemas.microsoft.com/office/drawing/2014/main" id="{6E7641C7-A497-D039-74C8-7D6993ECF6FA}"/>
              </a:ext>
            </a:extLst>
          </p:cNvPr>
          <p:cNvSpPr/>
          <p:nvPr/>
        </p:nvSpPr>
        <p:spPr>
          <a:xfrm rot="5400000">
            <a:off x="7409190" y="1309997"/>
            <a:ext cx="523220" cy="7518400"/>
          </a:xfrm>
          <a:prstGeom prst="rightBrace">
            <a:avLst>
              <a:gd name="adj1" fmla="val 97080"/>
              <a:gd name="adj2" fmla="val 5018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AutoShape 7">
            <a:extLst>
              <a:ext uri="{FF2B5EF4-FFF2-40B4-BE49-F238E27FC236}">
                <a16:creationId xmlns:a16="http://schemas.microsoft.com/office/drawing/2014/main" id="{F5D853AA-AD4C-CBA9-B3E0-F8AD8F07612C}"/>
              </a:ext>
            </a:extLst>
          </p:cNvPr>
          <p:cNvSpPr/>
          <p:nvPr/>
        </p:nvSpPr>
        <p:spPr>
          <a:xfrm>
            <a:off x="6684168" y="5377500"/>
            <a:ext cx="1973263" cy="1187452"/>
          </a:xfrm>
          <a:prstGeom prst="roundRect">
            <a:avLst>
              <a:gd name="adj" fmla="val 6666"/>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100" dirty="0"/>
          </a:p>
        </p:txBody>
      </p:sp>
      <mc:AlternateContent xmlns:mc="http://schemas.openxmlformats.org/markup-compatibility/2006">
        <mc:Choice xmlns:a14="http://schemas.microsoft.com/office/drawing/2010/main" Requires="a14">
          <p:sp>
            <p:nvSpPr>
              <p:cNvPr id="37" name="AutoShape 9">
                <a:extLst>
                  <a:ext uri="{FF2B5EF4-FFF2-40B4-BE49-F238E27FC236}">
                    <a16:creationId xmlns:a16="http://schemas.microsoft.com/office/drawing/2014/main" id="{86E7A5B9-FA61-BCC1-C886-505D9C232DA6}"/>
                  </a:ext>
                </a:extLst>
              </p:cNvPr>
              <p:cNvSpPr/>
              <p:nvPr/>
            </p:nvSpPr>
            <p:spPr>
              <a:xfrm>
                <a:off x="6692105" y="5677383"/>
                <a:ext cx="1965326" cy="58768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14:m>
                  <m:oMath xmlns:m="http://schemas.openxmlformats.org/officeDocument/2006/math">
                    <m:r>
                      <a:rPr lang="en-US" altLang="zh-CN" b="1" i="1" u="none" strike="noStrike" smtClean="0">
                        <a:solidFill>
                          <a:srgbClr val="333333"/>
                        </a:solidFill>
                        <a:latin typeface="Cambria Math" panose="02040503050406030204" pitchFamily="18" charset="0"/>
                        <a:ea typeface="Roboto"/>
                        <a:cs typeface="Roboto"/>
                        <a:sym typeface="Roboto"/>
                      </a:rPr>
                      <m:t>𝓧</m:t>
                    </m:r>
                  </m:oMath>
                </a14:m>
                <a:r>
                  <a:rPr lang="en-US" altLang="zh-CN" b="1" i="0" u="none" strike="noStrike" dirty="0">
                    <a:solidFill>
                      <a:srgbClr val="333333"/>
                    </a:solidFill>
                    <a:latin typeface="Roboto"/>
                    <a:ea typeface="Roboto"/>
                    <a:cs typeface="Roboto"/>
                    <a:sym typeface="Roboto"/>
                  </a:rPr>
                  <a:t>(Abstract  Execute)</a:t>
                </a:r>
                <a:endParaRPr lang="en-US" sz="1000" dirty="0"/>
              </a:p>
            </p:txBody>
          </p:sp>
        </mc:Choice>
        <mc:Fallback>
          <p:sp>
            <p:nvSpPr>
              <p:cNvPr id="37" name="AutoShape 9">
                <a:extLst>
                  <a:ext uri="{FF2B5EF4-FFF2-40B4-BE49-F238E27FC236}">
                    <a16:creationId xmlns:a16="http://schemas.microsoft.com/office/drawing/2014/main" id="{86E7A5B9-FA61-BCC1-C886-505D9C232DA6}"/>
                  </a:ext>
                </a:extLst>
              </p:cNvPr>
              <p:cNvSpPr>
                <a:spLocks noRot="1" noChangeAspect="1" noMove="1" noResize="1" noEditPoints="1" noAdjustHandles="1" noChangeArrowheads="1" noChangeShapeType="1" noTextEdit="1"/>
              </p:cNvSpPr>
              <p:nvPr/>
            </p:nvSpPr>
            <p:spPr>
              <a:xfrm>
                <a:off x="6692105" y="5677383"/>
                <a:ext cx="1965326" cy="587686"/>
              </a:xfrm>
              <a:prstGeom prst="rect">
                <a:avLst/>
              </a:prstGeom>
              <a:blipFill>
                <a:blip r:embed="rId18"/>
                <a:stretch>
                  <a:fillRect/>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文本框 40">
                <a:extLst>
                  <a:ext uri="{FF2B5EF4-FFF2-40B4-BE49-F238E27FC236}">
                    <a16:creationId xmlns:a16="http://schemas.microsoft.com/office/drawing/2014/main" id="{36BD8B46-3DF1-1325-60D6-DD2CC9608B8D}"/>
                  </a:ext>
                </a:extLst>
              </p:cNvPr>
              <p:cNvSpPr txBox="1"/>
              <p:nvPr/>
            </p:nvSpPr>
            <p:spPr>
              <a:xfrm>
                <a:off x="8924131" y="1641471"/>
                <a:ext cx="886619" cy="70788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4000" i="1" dirty="0" smtClean="0">
                          <a:latin typeface="Cambria Math" panose="02040503050406030204" pitchFamily="18" charset="0"/>
                        </a:rPr>
                        <m:t>⊆</m:t>
                      </m:r>
                    </m:oMath>
                  </m:oMathPara>
                </a14:m>
              </a:p>
            </p:txBody>
          </p:sp>
        </mc:Choice>
        <mc:Fallback>
          <p:sp>
            <p:nvSpPr>
              <p:cNvPr id="41" name="文本框 40">
                <a:extLst>
                  <a:ext uri="{FF2B5EF4-FFF2-40B4-BE49-F238E27FC236}">
                    <a16:creationId xmlns:a16="http://schemas.microsoft.com/office/drawing/2014/main" id="{36BD8B46-3DF1-1325-60D6-DD2CC9608B8D}"/>
                  </a:ext>
                </a:extLst>
              </p:cNvPr>
              <p:cNvSpPr txBox="1">
                <a:spLocks noRot="1" noChangeAspect="1" noMove="1" noResize="1" noEditPoints="1" noAdjustHandles="1" noChangeArrowheads="1" noChangeShapeType="1" noTextEdit="1"/>
              </p:cNvSpPr>
              <p:nvPr/>
            </p:nvSpPr>
            <p:spPr>
              <a:xfrm>
                <a:off x="8924131" y="1641471"/>
                <a:ext cx="886619" cy="707886"/>
              </a:xfrm>
              <a:prstGeom prst="rect">
                <a:avLst/>
              </a:prstGeom>
              <a:blipFill>
                <a:blip r:embed="rId19"/>
                <a:stretch>
                  <a:fillRect/>
                </a:stretch>
              </a:blipFill>
            </p:spPr>
            <p:txBody>
              <a:bodyPr/>
              <a:lstStyle/>
              <a:p>
                <a:r>
                  <a:rPr lang="zh-CN" altLang="en-US">
                    <a:noFill/>
                  </a:rPr>
                  <a:t> </a:t>
                </a:r>
              </a:p>
            </p:txBody>
          </p:sp>
        </mc:Fallback>
      </mc:AlternateContent>
      <p:sp>
        <p:nvSpPr>
          <p:cNvPr id="42" name="矩形: 圆角 41">
            <a:extLst>
              <a:ext uri="{FF2B5EF4-FFF2-40B4-BE49-F238E27FC236}">
                <a16:creationId xmlns:a16="http://schemas.microsoft.com/office/drawing/2014/main" id="{19BE5166-1891-49DA-7029-B5D5D957083D}"/>
              </a:ext>
            </a:extLst>
          </p:cNvPr>
          <p:cNvSpPr/>
          <p:nvPr/>
        </p:nvSpPr>
        <p:spPr>
          <a:xfrm>
            <a:off x="9550400" y="3190004"/>
            <a:ext cx="2621756" cy="1369215"/>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dirty="0">
                <a:solidFill>
                  <a:srgbClr val="7030A0"/>
                </a:solidFill>
              </a:rPr>
              <a:t>由于可见性关系描述的是事务可观察到的先行提交结果，因此任一对满足可见性关系的事务在全局仲裁顺序中必然保持相同的先后次序</a:t>
            </a:r>
          </a:p>
        </p:txBody>
      </p:sp>
      <p:cxnSp>
        <p:nvCxnSpPr>
          <p:cNvPr id="44" name="直接箭头连接符 43">
            <a:extLst>
              <a:ext uri="{FF2B5EF4-FFF2-40B4-BE49-F238E27FC236}">
                <a16:creationId xmlns:a16="http://schemas.microsoft.com/office/drawing/2014/main" id="{143BCD2F-485C-8275-E0FD-DAF7D1EFD952}"/>
              </a:ext>
            </a:extLst>
          </p:cNvPr>
          <p:cNvCxnSpPr>
            <a:endCxn id="41" idx="2"/>
          </p:cNvCxnSpPr>
          <p:nvPr/>
        </p:nvCxnSpPr>
        <p:spPr>
          <a:xfrm flipH="1" flipV="1">
            <a:off x="9367441" y="2349357"/>
            <a:ext cx="443309" cy="8173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C9EC93C2-88E5-6C1B-7E06-DFE1250DC845}"/>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9</a:t>
            </a:r>
            <a:endParaRPr lang="zh-CN" altLang="en-US" dirty="0"/>
          </a:p>
        </p:txBody>
      </p:sp>
    </p:spTree>
    <p:extLst>
      <p:ext uri="{BB962C8B-B14F-4D97-AF65-F5344CB8AC3E}">
        <p14:creationId xmlns:p14="http://schemas.microsoft.com/office/powerpoint/2010/main" val="9927329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1032184" y="359490"/>
            <a:ext cx="10834208" cy="461665"/>
          </a:xfrm>
        </p:spPr>
        <p:txBody>
          <a:bodyPr/>
          <a:lstStyle/>
          <a:p>
            <a:r>
              <a:rPr kumimoji="1" lang="zh-CN" altLang="en-US" sz="2400" dirty="0">
                <a:sym typeface="+mn-ea"/>
              </a:rPr>
              <a:t>混合事务隔离级别下的一致性</a:t>
            </a:r>
            <a:endParaRPr kumimoji="1" lang="zh-CN" altLang="en-US" sz="2400" dirty="0"/>
          </a:p>
        </p:txBody>
      </p:sp>
      <p:pic>
        <p:nvPicPr>
          <p:cNvPr id="9" name="图片 8">
            <a:extLst>
              <a:ext uri="{FF2B5EF4-FFF2-40B4-BE49-F238E27FC236}">
                <a16:creationId xmlns:a16="http://schemas.microsoft.com/office/drawing/2014/main" id="{1CE8DC17-5378-11F9-B4B2-3310964FA899}"/>
              </a:ext>
            </a:extLst>
          </p:cNvPr>
          <p:cNvPicPr>
            <a:picLocks noChangeAspect="1"/>
          </p:cNvPicPr>
          <p:nvPr/>
        </p:nvPicPr>
        <p:blipFill>
          <a:blip r:embed="rId3"/>
          <a:stretch>
            <a:fillRect/>
          </a:stretch>
        </p:blipFill>
        <p:spPr>
          <a:xfrm>
            <a:off x="742486" y="1226629"/>
            <a:ext cx="10707028" cy="4404742"/>
          </a:xfrm>
          <a:prstGeom prst="rect">
            <a:avLst/>
          </a:prstGeom>
        </p:spPr>
      </p:pic>
      <p:sp>
        <p:nvSpPr>
          <p:cNvPr id="10" name="矩形 9">
            <a:extLst>
              <a:ext uri="{FF2B5EF4-FFF2-40B4-BE49-F238E27FC236}">
                <a16:creationId xmlns:a16="http://schemas.microsoft.com/office/drawing/2014/main" id="{DF711EF9-CC20-13A6-1AE4-E57EB124F693}"/>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10</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459E4D5-063A-3BD7-0C21-2503E90F77F6}"/>
              </a:ext>
            </a:extLst>
          </p:cNvPr>
          <p:cNvSpPr>
            <a:spLocks noGrp="1"/>
          </p:cNvSpPr>
          <p:nvPr>
            <p:ph type="body" sz="quarter" idx="13"/>
          </p:nvPr>
        </p:nvSpPr>
        <p:spPr>
          <a:xfrm>
            <a:off x="1032184" y="328713"/>
            <a:ext cx="10834208" cy="523220"/>
          </a:xfrm>
        </p:spPr>
        <p:txBody>
          <a:bodyPr/>
          <a:lstStyle/>
          <a:p>
            <a:r>
              <a:rPr kumimoji="1" lang="zh-CN" altLang="en-US" dirty="0">
                <a:latin typeface="+mj-ea"/>
                <a:ea typeface="+mj-ea"/>
                <a:sym typeface="+mn-ea"/>
              </a:rPr>
              <a:t>混合事务隔离级别下的一致性</a:t>
            </a:r>
          </a:p>
        </p:txBody>
      </p:sp>
      <mc:AlternateContent xmlns:mc="http://schemas.openxmlformats.org/markup-compatibility/2006">
        <mc:Choice xmlns:a14="http://schemas.microsoft.com/office/drawing/2010/main" Requires="a14">
          <p:sp>
            <p:nvSpPr>
              <p:cNvPr id="3" name="AutoShape 3">
                <a:extLst>
                  <a:ext uri="{FF2B5EF4-FFF2-40B4-BE49-F238E27FC236}">
                    <a16:creationId xmlns:a16="http://schemas.microsoft.com/office/drawing/2014/main" id="{69181E96-248F-9D3A-B796-BB3CA3172F57}"/>
                  </a:ext>
                </a:extLst>
              </p:cNvPr>
              <p:cNvSpPr/>
              <p:nvPr/>
            </p:nvSpPr>
            <p:spPr>
              <a:xfrm>
                <a:off x="762000" y="889000"/>
                <a:ext cx="1066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lang="en-US" sz="1600" b="0" i="0" u="none" strike="noStrike" dirty="0">
                    <a:solidFill>
                      <a:srgbClr val="7030A0"/>
                    </a:solidFill>
                    <a:latin typeface="+mj-ea"/>
                    <a:ea typeface="+mj-ea"/>
                    <a:cs typeface="Roboto"/>
                    <a:sym typeface="Roboto"/>
                  </a:rPr>
                  <a:t>基于抽象执行模型 </a:t>
                </a:r>
                <a14:m>
                  <m:oMath xmlns:m="http://schemas.openxmlformats.org/officeDocument/2006/math">
                    <m:r>
                      <a:rPr lang="en-US" sz="1600" b="0" i="1" u="none" strike="noStrike" dirty="0" smtClean="0">
                        <a:solidFill>
                          <a:srgbClr val="7030A0"/>
                        </a:solidFill>
                        <a:latin typeface="Cambria Math" panose="02040503050406030204" pitchFamily="18" charset="0"/>
                        <a:ea typeface="+mj-ea"/>
                        <a:cs typeface="Roboto"/>
                        <a:sym typeface="Roboto"/>
                      </a:rPr>
                      <m:t>𝒳</m:t>
                    </m:r>
                    <m:r>
                      <a:rPr lang="en-US" sz="1600" b="0" i="1" u="none" strike="noStrike" dirty="0">
                        <a:solidFill>
                          <a:srgbClr val="7030A0"/>
                        </a:solidFill>
                        <a:latin typeface="Cambria Math" panose="02040503050406030204" pitchFamily="18" charset="0"/>
                        <a:ea typeface="+mj-ea"/>
                        <a:cs typeface="Roboto"/>
                        <a:sym typeface="Roboto"/>
                      </a:rPr>
                      <m:t>=</m:t>
                    </m:r>
                    <m:d>
                      <m:dPr>
                        <m:ctrlPr>
                          <a:rPr lang="en-US" sz="1600" b="0" i="1" u="none" strike="noStrike" dirty="0">
                            <a:solidFill>
                              <a:srgbClr val="7030A0"/>
                            </a:solidFill>
                            <a:latin typeface="Cambria Math" panose="02040503050406030204" pitchFamily="18" charset="0"/>
                            <a:ea typeface="+mj-ea"/>
                            <a:cs typeface="Roboto"/>
                            <a:sym typeface="Roboto"/>
                          </a:rPr>
                        </m:ctrlPr>
                      </m:dPr>
                      <m:e>
                        <m:r>
                          <a:rPr lang="en-US" sz="1600" b="0" i="1" u="none" strike="noStrike" dirty="0">
                            <a:solidFill>
                              <a:srgbClr val="7030A0"/>
                            </a:solidFill>
                            <a:latin typeface="Cambria Math" panose="02040503050406030204" pitchFamily="18" charset="0"/>
                            <a:ea typeface="+mj-ea"/>
                            <a:cs typeface="Roboto"/>
                            <a:sym typeface="Roboto"/>
                          </a:rPr>
                          <m:t>𝑇</m:t>
                        </m:r>
                        <m:r>
                          <a:rPr lang="en-US" sz="1600" b="0" i="1" u="none" strike="noStrike" dirty="0">
                            <a:solidFill>
                              <a:srgbClr val="7030A0"/>
                            </a:solidFill>
                            <a:latin typeface="Cambria Math" panose="02040503050406030204" pitchFamily="18" charset="0"/>
                            <a:ea typeface="+mj-ea"/>
                            <a:cs typeface="Roboto"/>
                            <a:sym typeface="Roboto"/>
                          </a:rPr>
                          <m:t>,</m:t>
                        </m:r>
                        <m:r>
                          <a:rPr lang="en-US" sz="1600" b="0" i="1" u="none" strike="noStrike" dirty="0" smtClean="0">
                            <a:solidFill>
                              <a:srgbClr val="7030A0"/>
                            </a:solidFill>
                            <a:latin typeface="Cambria Math" panose="02040503050406030204" pitchFamily="18" charset="0"/>
                            <a:ea typeface="+mj-ea"/>
                            <a:cs typeface="Roboto"/>
                            <a:sym typeface="Roboto"/>
                          </a:rPr>
                          <m:t>𝒮𝒪</m:t>
                        </m:r>
                        <m:r>
                          <a:rPr lang="en-US" sz="1600" b="0" i="1" u="none" strike="noStrike" dirty="0" smtClean="0">
                            <a:solidFill>
                              <a:srgbClr val="7030A0"/>
                            </a:solidFill>
                            <a:latin typeface="Cambria Math" panose="02040503050406030204" pitchFamily="18" charset="0"/>
                            <a:ea typeface="+mj-ea"/>
                            <a:cs typeface="Roboto"/>
                            <a:sym typeface="Roboto"/>
                          </a:rPr>
                          <m:t>,</m:t>
                        </m:r>
                        <m:r>
                          <a:rPr lang="en-US" sz="1600" b="0" i="1" u="none" strike="noStrike" dirty="0">
                            <a:solidFill>
                              <a:srgbClr val="7030A0"/>
                            </a:solidFill>
                            <a:latin typeface="Cambria Math" panose="02040503050406030204" pitchFamily="18" charset="0"/>
                            <a:ea typeface="+mj-ea"/>
                            <a:cs typeface="Roboto"/>
                            <a:sym typeface="Roboto"/>
                          </a:rPr>
                          <m:t>𝑙𝑒𝑣𝑒𝑙</m:t>
                        </m:r>
                        <m:r>
                          <a:rPr lang="en-US" sz="1600" b="0" i="1" u="none" strike="noStrike" dirty="0">
                            <a:solidFill>
                              <a:srgbClr val="7030A0"/>
                            </a:solidFill>
                            <a:latin typeface="Cambria Math" panose="02040503050406030204" pitchFamily="18" charset="0"/>
                            <a:ea typeface="+mj-ea"/>
                            <a:cs typeface="Roboto"/>
                            <a:sym typeface="Roboto"/>
                          </a:rPr>
                          <m:t>,</m:t>
                        </m:r>
                        <m:r>
                          <m:rPr>
                            <m:nor/>
                          </m:rPr>
                          <a:rPr lang="en-US" sz="1600" b="0" i="0" u="none" strike="noStrike" dirty="0" smtClean="0">
                            <a:solidFill>
                              <a:srgbClr val="7030A0"/>
                            </a:solidFill>
                            <a:latin typeface="Cambria Math" panose="02040503050406030204" pitchFamily="18" charset="0"/>
                            <a:ea typeface="+mj-ea"/>
                            <a:cs typeface="Roboto"/>
                            <a:sym typeface="Roboto"/>
                          </a:rPr>
                          <m:t>VIS</m:t>
                        </m:r>
                        <m:r>
                          <a:rPr lang="en-US" sz="1600" b="0" i="1" u="none" strike="noStrike" dirty="0" smtClean="0">
                            <a:solidFill>
                              <a:srgbClr val="7030A0"/>
                            </a:solidFill>
                            <a:latin typeface="Cambria Math" panose="02040503050406030204" pitchFamily="18" charset="0"/>
                            <a:ea typeface="+mj-ea"/>
                            <a:cs typeface="Roboto"/>
                            <a:sym typeface="Roboto"/>
                          </a:rPr>
                          <m:t>,</m:t>
                        </m:r>
                        <m:r>
                          <m:rPr>
                            <m:nor/>
                          </m:rPr>
                          <a:rPr lang="en-US" sz="1600" b="0" i="0" u="none" strike="noStrike" dirty="0" smtClean="0">
                            <a:solidFill>
                              <a:srgbClr val="7030A0"/>
                            </a:solidFill>
                            <a:latin typeface="Cambria Math" panose="02040503050406030204" pitchFamily="18" charset="0"/>
                            <a:ea typeface="+mj-ea"/>
                            <a:cs typeface="Roboto"/>
                            <a:sym typeface="Roboto"/>
                          </a:rPr>
                          <m:t>AR</m:t>
                        </m:r>
                      </m:e>
                    </m:d>
                  </m:oMath>
                </a14:m>
                <a:r>
                  <a:rPr lang="en-US" sz="1600" b="0" i="0" u="none" strike="noStrike" dirty="0" err="1">
                    <a:solidFill>
                      <a:srgbClr val="7030A0"/>
                    </a:solidFill>
                    <a:latin typeface="+mj-ea"/>
                    <a:ea typeface="+mj-ea"/>
                    <a:cs typeface="Roboto"/>
                    <a:sym typeface="Roboto"/>
                  </a:rPr>
                  <a:t>的两个核心层次定义</a:t>
                </a:r>
                <a:r>
                  <a:rPr lang="en-US" sz="1600" b="0" i="0" u="none" strike="noStrike" dirty="0">
                    <a:solidFill>
                      <a:srgbClr val="7030A0"/>
                    </a:solidFill>
                    <a:latin typeface="+mj-ea"/>
                    <a:ea typeface="+mj-ea"/>
                    <a:cs typeface="Roboto"/>
                    <a:sym typeface="Roboto"/>
                  </a:rPr>
                  <a:t>：</a:t>
                </a:r>
                <a:endParaRPr lang="en-US" sz="1100" dirty="0">
                  <a:solidFill>
                    <a:srgbClr val="7030A0"/>
                  </a:solidFill>
                  <a:latin typeface="+mj-ea"/>
                  <a:ea typeface="+mj-ea"/>
                </a:endParaRPr>
              </a:p>
            </p:txBody>
          </p:sp>
        </mc:Choice>
        <mc:Fallback>
          <p:sp>
            <p:nvSpPr>
              <p:cNvPr id="3" name="AutoShape 3">
                <a:extLst>
                  <a:ext uri="{FF2B5EF4-FFF2-40B4-BE49-F238E27FC236}">
                    <a16:creationId xmlns:a16="http://schemas.microsoft.com/office/drawing/2014/main" id="{69181E96-248F-9D3A-B796-BB3CA3172F57}"/>
                  </a:ext>
                </a:extLst>
              </p:cNvPr>
              <p:cNvSpPr>
                <a:spLocks noRot="1" noChangeAspect="1" noMove="1" noResize="1" noEditPoints="1" noAdjustHandles="1" noChangeArrowheads="1" noChangeShapeType="1" noTextEdit="1"/>
              </p:cNvSpPr>
              <p:nvPr/>
            </p:nvSpPr>
            <p:spPr>
              <a:xfrm>
                <a:off x="762000" y="889000"/>
                <a:ext cx="10668000" cy="381000"/>
              </a:xfrm>
              <a:prstGeom prst="rect">
                <a:avLst/>
              </a:prstGeom>
              <a:blipFill>
                <a:blip r:embed="rId2"/>
                <a:stretch>
                  <a:fillRect l="-1143" b="-17742"/>
                </a:stretch>
              </a:blipFill>
              <a:ln w="12700" cap="flat" cmpd="sng">
                <a:noFill/>
                <a:prstDash val="solid"/>
                <a:round/>
              </a:ln>
            </p:spPr>
            <p:txBody>
              <a:bodyPr/>
              <a:lstStyle/>
              <a:p>
                <a:r>
                  <a:rPr lang="zh-CN" altLang="en-US">
                    <a:noFill/>
                  </a:rPr>
                  <a:t> </a:t>
                </a:r>
              </a:p>
            </p:txBody>
          </p:sp>
        </mc:Fallback>
      </mc:AlternateContent>
      <p:sp>
        <p:nvSpPr>
          <p:cNvPr id="4" name="AutoShape 4">
            <a:extLst>
              <a:ext uri="{FF2B5EF4-FFF2-40B4-BE49-F238E27FC236}">
                <a16:creationId xmlns:a16="http://schemas.microsoft.com/office/drawing/2014/main" id="{1672E845-DD9F-4580-1EF9-7377968BBBAA}"/>
              </a:ext>
            </a:extLst>
          </p:cNvPr>
          <p:cNvSpPr/>
          <p:nvPr/>
        </p:nvSpPr>
        <p:spPr>
          <a:xfrm>
            <a:off x="762000" y="1524000"/>
            <a:ext cx="5207000" cy="3048000"/>
          </a:xfrm>
          <a:prstGeom prst="roundRect">
            <a:avLst>
              <a:gd name="adj" fmla="val 4166"/>
            </a:avLst>
          </a:prstGeom>
          <a:solidFill>
            <a:srgbClr val="F2F8FF">
              <a:alpha val="100000"/>
            </a:srgbClr>
          </a:solidFill>
          <a:ln w="12700" cap="flat" cmpd="sng">
            <a:solidFill>
              <a:srgbClr val="007AFF">
                <a:alpha val="2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5" name="Picture 5">
            <a:extLst>
              <a:ext uri="{FF2B5EF4-FFF2-40B4-BE49-F238E27FC236}">
                <a16:creationId xmlns:a16="http://schemas.microsoft.com/office/drawing/2014/main" id="{7254023D-75BD-BC3B-E152-21F29B8E56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78000"/>
            <a:ext cx="406400" cy="406400"/>
          </a:xfrm>
          <a:prstGeom prst="rect">
            <a:avLst/>
          </a:prstGeom>
        </p:spPr>
      </p:pic>
      <p:sp>
        <p:nvSpPr>
          <p:cNvPr id="6" name="AutoShape 6">
            <a:extLst>
              <a:ext uri="{FF2B5EF4-FFF2-40B4-BE49-F238E27FC236}">
                <a16:creationId xmlns:a16="http://schemas.microsoft.com/office/drawing/2014/main" id="{89A45A98-C10D-D588-336A-940C5C95F67E}"/>
              </a:ext>
            </a:extLst>
          </p:cNvPr>
          <p:cNvSpPr/>
          <p:nvPr/>
        </p:nvSpPr>
        <p:spPr>
          <a:xfrm>
            <a:off x="1524000" y="1727200"/>
            <a:ext cx="4191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2000" b="1" i="0" u="none" strike="noStrike">
                <a:solidFill>
                  <a:srgbClr val="333333"/>
                </a:solidFill>
                <a:latin typeface="+mj-ea"/>
                <a:ea typeface="+mj-ea"/>
                <a:cs typeface="Roboto"/>
                <a:sym typeface="Roboto"/>
              </a:rPr>
              <a:t>01. 抽象执行的一致性</a:t>
            </a:r>
            <a:endParaRPr lang="en-US" sz="1100">
              <a:latin typeface="+mj-ea"/>
              <a:ea typeface="+mj-ea"/>
            </a:endParaRPr>
          </a:p>
        </p:txBody>
      </p:sp>
      <p:sp>
        <p:nvSpPr>
          <p:cNvPr id="7" name="AutoShape 7">
            <a:extLst>
              <a:ext uri="{FF2B5EF4-FFF2-40B4-BE49-F238E27FC236}">
                <a16:creationId xmlns:a16="http://schemas.microsoft.com/office/drawing/2014/main" id="{4AC6669A-66FC-4516-FFF9-95DA29C71A10}"/>
              </a:ext>
            </a:extLst>
          </p:cNvPr>
          <p:cNvSpPr/>
          <p:nvPr/>
        </p:nvSpPr>
        <p:spPr>
          <a:xfrm>
            <a:off x="1016000" y="2286000"/>
            <a:ext cx="469900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600" b="1" i="0" u="none" strike="noStrike" dirty="0" err="1">
                <a:solidFill>
                  <a:srgbClr val="007AFF"/>
                </a:solidFill>
                <a:latin typeface="+mj-ea"/>
                <a:ea typeface="+mj-ea"/>
                <a:cs typeface="Roboto"/>
                <a:sym typeface="Roboto"/>
              </a:rPr>
              <a:t>前提：</a:t>
            </a:r>
            <a:r>
              <a:rPr lang="en-US" sz="1400" b="0" i="0" u="none" strike="noStrike" dirty="0" err="1">
                <a:solidFill>
                  <a:srgbClr val="7030A0"/>
                </a:solidFill>
                <a:latin typeface="+mj-ea"/>
                <a:ea typeface="+mj-ea"/>
                <a:cs typeface="Roboto"/>
                <a:sym typeface="Roboto"/>
              </a:rPr>
              <a:t>level</a:t>
            </a:r>
            <a:r>
              <a:rPr lang="en-US" sz="1400" b="0" i="0" u="none" strike="noStrike" dirty="0">
                <a:solidFill>
                  <a:srgbClr val="7030A0"/>
                </a:solidFill>
                <a:latin typeface="+mj-ea"/>
                <a:ea typeface="+mj-ea"/>
                <a:cs typeface="Roboto"/>
                <a:sym typeface="Roboto"/>
              </a:rPr>
              <a:t> </a:t>
            </a:r>
            <a:r>
              <a:rPr lang="en-US" sz="1400" b="0" i="0" u="none" strike="noStrike" dirty="0" err="1">
                <a:solidFill>
                  <a:srgbClr val="7030A0"/>
                </a:solidFill>
                <a:latin typeface="+mj-ea"/>
                <a:ea typeface="+mj-ea"/>
                <a:cs typeface="Roboto"/>
                <a:sym typeface="Roboto"/>
              </a:rPr>
              <a:t>是从事务集合</a:t>
            </a:r>
            <a:r>
              <a:rPr lang="en-US" sz="1400" b="0" i="0" u="none" strike="noStrike" dirty="0">
                <a:solidFill>
                  <a:srgbClr val="7030A0"/>
                </a:solidFill>
                <a:latin typeface="+mj-ea"/>
                <a:ea typeface="+mj-ea"/>
                <a:cs typeface="Roboto"/>
                <a:sym typeface="Roboto"/>
              </a:rPr>
              <a:t> T </a:t>
            </a:r>
            <a:r>
              <a:rPr lang="en-US" sz="1400" b="0" i="0" u="none" strike="noStrike" dirty="0" err="1">
                <a:solidFill>
                  <a:srgbClr val="7030A0"/>
                </a:solidFill>
                <a:latin typeface="+mj-ea"/>
                <a:ea typeface="+mj-ea"/>
                <a:cs typeface="Roboto"/>
                <a:sym typeface="Roboto"/>
              </a:rPr>
              <a:t>到隔离级别集合的映射，允许同一执行中存在不同隔离级别（如</a:t>
            </a:r>
            <a:r>
              <a:rPr lang="en-US" sz="1400" b="0" i="0" u="none" strike="noStrike" dirty="0">
                <a:solidFill>
                  <a:srgbClr val="7030A0"/>
                </a:solidFill>
                <a:latin typeface="+mj-ea"/>
                <a:ea typeface="+mj-ea"/>
                <a:cs typeface="Roboto"/>
                <a:sym typeface="Roboto"/>
              </a:rPr>
              <a:t> RA, CC, SI, SER）。</a:t>
            </a:r>
            <a:endParaRPr lang="en-US" sz="1100" dirty="0">
              <a:solidFill>
                <a:srgbClr val="7030A0"/>
              </a:solidFill>
              <a:latin typeface="+mj-ea"/>
              <a:ea typeface="+mj-ea"/>
            </a:endParaRPr>
          </a:p>
        </p:txBody>
      </p:sp>
      <mc:AlternateContent xmlns:mc="http://schemas.openxmlformats.org/markup-compatibility/2006">
        <mc:Choice xmlns:a14="http://schemas.microsoft.com/office/drawing/2010/main" Requires="a14">
          <p:sp>
            <p:nvSpPr>
              <p:cNvPr id="8" name="AutoShape 8">
                <a:extLst>
                  <a:ext uri="{FF2B5EF4-FFF2-40B4-BE49-F238E27FC236}">
                    <a16:creationId xmlns:a16="http://schemas.microsoft.com/office/drawing/2014/main" id="{56F1B04F-590A-9991-F87E-C9BA3E3F389A}"/>
                  </a:ext>
                </a:extLst>
              </p:cNvPr>
              <p:cNvSpPr/>
              <p:nvPr/>
            </p:nvSpPr>
            <p:spPr>
              <a:xfrm>
                <a:off x="1016000" y="3175000"/>
                <a:ext cx="4699000" cy="1016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600" b="1" i="0" u="none" strike="noStrike" dirty="0" err="1">
                    <a:solidFill>
                      <a:srgbClr val="007AFF"/>
                    </a:solidFill>
                    <a:latin typeface="+mj-ea"/>
                    <a:ea typeface="+mj-ea"/>
                    <a:cs typeface="Roboto"/>
                    <a:sym typeface="Roboto"/>
                  </a:rPr>
                  <a:t>定义：</a:t>
                </a:r>
                <a:r>
                  <a:rPr lang="en-US" sz="1400" b="0" i="0" u="none" strike="noStrike" dirty="0">
                    <a:solidFill>
                      <a:srgbClr val="7030A0"/>
                    </a:solidFill>
                    <a:latin typeface="+mj-ea"/>
                    <a:ea typeface="+mj-ea"/>
                    <a:cs typeface="Roboto"/>
                    <a:sym typeface="Roboto"/>
                  </a:rPr>
                  <a:t>若任意事务 </a:t>
                </a:r>
                <a14:m>
                  <m:oMath xmlns:m="http://schemas.openxmlformats.org/officeDocument/2006/math">
                    <m:sSub>
                      <m:sSubPr>
                        <m:ctrlPr>
                          <a:rPr lang="en-US" sz="1400" b="0" i="1" u="none" strike="noStrike" dirty="0" smtClean="0">
                            <a:solidFill>
                              <a:srgbClr val="7030A0"/>
                            </a:solidFill>
                            <a:latin typeface="Cambria Math" panose="02040503050406030204" pitchFamily="18" charset="0"/>
                            <a:ea typeface="+mj-ea"/>
                            <a:cs typeface="Roboto"/>
                            <a:sym typeface="Roboto"/>
                          </a:rPr>
                        </m:ctrlPr>
                      </m:sSubPr>
                      <m:e>
                        <m:r>
                          <a:rPr lang="en-US" sz="1400" b="0" i="1" u="none" strike="noStrike" dirty="0" smtClean="0">
                            <a:solidFill>
                              <a:srgbClr val="7030A0"/>
                            </a:solidFill>
                            <a:latin typeface="Cambria Math" panose="02040503050406030204" pitchFamily="18" charset="0"/>
                            <a:ea typeface="+mj-ea"/>
                            <a:cs typeface="Roboto"/>
                            <a:sym typeface="Roboto"/>
                          </a:rPr>
                          <m:t>𝑇</m:t>
                        </m:r>
                      </m:e>
                      <m:sub>
                        <m:r>
                          <a:rPr lang="en-US" sz="1400" b="0" i="1" u="none" strike="noStrike" dirty="0" smtClean="0">
                            <a:solidFill>
                              <a:srgbClr val="7030A0"/>
                            </a:solidFill>
                            <a:latin typeface="Cambria Math" panose="02040503050406030204" pitchFamily="18" charset="0"/>
                            <a:ea typeface="+mj-ea"/>
                            <a:cs typeface="Roboto"/>
                            <a:sym typeface="Roboto"/>
                          </a:rPr>
                          <m:t>𝑖</m:t>
                        </m:r>
                      </m:sub>
                    </m:sSub>
                  </m:oMath>
                </a14:m>
                <a:r>
                  <a:rPr lang="en-US" sz="1400" b="0" i="0" u="none" strike="noStrike" dirty="0">
                    <a:solidFill>
                      <a:srgbClr val="7030A0"/>
                    </a:solidFill>
                    <a:latin typeface="+mj-ea"/>
                    <a:ea typeface="+mj-ea"/>
                    <a:cs typeface="Roboto"/>
                    <a:sym typeface="Roboto"/>
                  </a:rPr>
                  <a:t>∈ T </a:t>
                </a:r>
                <a:r>
                  <a:rPr lang="en-US" sz="1400" b="0" i="0" u="none" strike="noStrike" dirty="0" err="1">
                    <a:solidFill>
                      <a:srgbClr val="7030A0"/>
                    </a:solidFill>
                    <a:latin typeface="+mj-ea"/>
                    <a:ea typeface="+mj-ea"/>
                    <a:cs typeface="Roboto"/>
                    <a:sym typeface="Roboto"/>
                  </a:rPr>
                  <a:t>都满足</a:t>
                </a:r>
                <a:r>
                  <a:rPr lang="en-US" sz="1400" b="0" i="0" u="none" strike="noStrike" dirty="0">
                    <a:solidFill>
                      <a:srgbClr val="7030A0"/>
                    </a:solidFill>
                    <a:latin typeface="+mj-ea"/>
                    <a:ea typeface="+mj-ea"/>
                    <a:cs typeface="Roboto"/>
                    <a:sym typeface="Roboto"/>
                  </a:rPr>
                  <a:t> </a:t>
                </a:r>
                <a14:m>
                  <m:oMath xmlns:m="http://schemas.openxmlformats.org/officeDocument/2006/math">
                    <m:r>
                      <a:rPr lang="en-US" sz="1400" b="0" i="1" u="none" strike="noStrike" dirty="0" smtClean="0">
                        <a:solidFill>
                          <a:srgbClr val="7030A0"/>
                        </a:solidFill>
                        <a:latin typeface="Cambria Math" panose="02040503050406030204" pitchFamily="18" charset="0"/>
                        <a:ea typeface="+mj-ea"/>
                        <a:cs typeface="Roboto"/>
                        <a:sym typeface="Roboto"/>
                      </a:rPr>
                      <m:t>𝑙𝑒𝑣𝑒𝑙</m:t>
                    </m:r>
                    <m:d>
                      <m:dPr>
                        <m:ctrlPr>
                          <a:rPr lang="en-US" sz="1400" b="0" i="1" u="none" strike="noStrike" dirty="0" smtClean="0">
                            <a:solidFill>
                              <a:srgbClr val="7030A0"/>
                            </a:solidFill>
                            <a:latin typeface="Cambria Math" panose="02040503050406030204" pitchFamily="18" charset="0"/>
                            <a:ea typeface="+mj-ea"/>
                            <a:cs typeface="Roboto"/>
                            <a:sym typeface="Roboto"/>
                          </a:rPr>
                        </m:ctrlPr>
                      </m:dPr>
                      <m:e>
                        <m:sSub>
                          <m:sSubPr>
                            <m:ctrlPr>
                              <a:rPr lang="en-US" sz="1400" b="0" i="1" u="none" strike="noStrike" dirty="0" err="1">
                                <a:solidFill>
                                  <a:srgbClr val="7030A0"/>
                                </a:solidFill>
                                <a:latin typeface="Cambria Math" panose="02040503050406030204" pitchFamily="18" charset="0"/>
                                <a:ea typeface="+mj-ea"/>
                                <a:cs typeface="Roboto"/>
                                <a:sym typeface="Roboto"/>
                              </a:rPr>
                            </m:ctrlPr>
                          </m:sSubPr>
                          <m:e>
                            <m:r>
                              <a:rPr lang="en-US" sz="1400" b="0" i="1" u="none" strike="noStrike" dirty="0" err="1">
                                <a:solidFill>
                                  <a:srgbClr val="7030A0"/>
                                </a:solidFill>
                                <a:latin typeface="Cambria Math" panose="02040503050406030204" pitchFamily="18" charset="0"/>
                                <a:ea typeface="+mj-ea"/>
                                <a:cs typeface="Roboto"/>
                                <a:sym typeface="Roboto"/>
                              </a:rPr>
                              <m:t>𝑇</m:t>
                            </m:r>
                          </m:e>
                          <m:sub>
                            <m:r>
                              <a:rPr lang="en-US" sz="1400" b="0" i="1" u="none" strike="noStrike" dirty="0" err="1">
                                <a:solidFill>
                                  <a:srgbClr val="7030A0"/>
                                </a:solidFill>
                                <a:latin typeface="Cambria Math" panose="02040503050406030204" pitchFamily="18" charset="0"/>
                                <a:ea typeface="+mj-ea"/>
                                <a:cs typeface="Roboto"/>
                                <a:sym typeface="Roboto"/>
                              </a:rPr>
                              <m:t>𝑖</m:t>
                            </m:r>
                          </m:sub>
                        </m:sSub>
                      </m:e>
                    </m:d>
                  </m:oMath>
                </a14:m>
                <a:r>
                  <a:rPr lang="en-US" sz="1400" b="0" i="0" u="none" strike="noStrike" dirty="0">
                    <a:solidFill>
                      <a:srgbClr val="7030A0"/>
                    </a:solidFill>
                    <a:latin typeface="+mj-ea"/>
                    <a:ea typeface="+mj-ea"/>
                    <a:cs typeface="Roboto"/>
                    <a:sym typeface="Roboto"/>
                  </a:rPr>
                  <a:t> </a:t>
                </a:r>
                <a:r>
                  <a:rPr lang="en-US" sz="1400" b="0" i="0" u="none" strike="noStrike" dirty="0" err="1">
                    <a:solidFill>
                      <a:srgbClr val="7030A0"/>
                    </a:solidFill>
                    <a:latin typeface="+mj-ea"/>
                    <a:ea typeface="+mj-ea"/>
                    <a:cs typeface="Roboto"/>
                    <a:sym typeface="Roboto"/>
                  </a:rPr>
                  <a:t>对应的全部一致性公理，则称抽象执行</a:t>
                </a:r>
                <a14:m>
                  <m:oMath xmlns:m="http://schemas.openxmlformats.org/officeDocument/2006/math">
                    <m:r>
                      <a:rPr lang="en-US" sz="1400" b="1" i="1" u="none" strike="noStrike" dirty="0" smtClean="0">
                        <a:solidFill>
                          <a:srgbClr val="7030A0"/>
                        </a:solidFill>
                        <a:latin typeface="Cambria Math" panose="02040503050406030204" pitchFamily="18" charset="0"/>
                        <a:ea typeface="+mj-ea"/>
                        <a:cs typeface="Roboto"/>
                        <a:sym typeface="Roboto"/>
                      </a:rPr>
                      <m:t>𝓧</m:t>
                    </m:r>
                  </m:oMath>
                </a14:m>
                <a:r>
                  <a:rPr lang="en-US" sz="1400" b="0" i="0" u="none" strike="noStrike" dirty="0" err="1">
                    <a:solidFill>
                      <a:srgbClr val="7030A0"/>
                    </a:solidFill>
                    <a:latin typeface="+mj-ea"/>
                    <a:ea typeface="+mj-ea"/>
                    <a:cs typeface="Roboto"/>
                    <a:sym typeface="Roboto"/>
                  </a:rPr>
                  <a:t>在该配置下是一致的</a:t>
                </a:r>
                <a:r>
                  <a:rPr lang="en-US" sz="1400" b="0" i="0" u="none" strike="noStrike" dirty="0">
                    <a:solidFill>
                      <a:srgbClr val="7030A0"/>
                    </a:solidFill>
                    <a:latin typeface="+mj-ea"/>
                    <a:ea typeface="+mj-ea"/>
                    <a:cs typeface="Roboto"/>
                    <a:sym typeface="Roboto"/>
                  </a:rPr>
                  <a:t>。</a:t>
                </a:r>
                <a:endParaRPr lang="en-US" sz="1100" dirty="0">
                  <a:latin typeface="+mj-ea"/>
                  <a:ea typeface="+mj-ea"/>
                </a:endParaRPr>
              </a:p>
            </p:txBody>
          </p:sp>
        </mc:Choice>
        <mc:Fallback>
          <p:sp>
            <p:nvSpPr>
              <p:cNvPr id="8" name="AutoShape 8">
                <a:extLst>
                  <a:ext uri="{FF2B5EF4-FFF2-40B4-BE49-F238E27FC236}">
                    <a16:creationId xmlns:a16="http://schemas.microsoft.com/office/drawing/2014/main" id="{56F1B04F-590A-9991-F87E-C9BA3E3F389A}"/>
                  </a:ext>
                </a:extLst>
              </p:cNvPr>
              <p:cNvSpPr>
                <a:spLocks noRot="1" noChangeAspect="1" noMove="1" noResize="1" noEditPoints="1" noAdjustHandles="1" noChangeArrowheads="1" noChangeShapeType="1" noTextEdit="1"/>
              </p:cNvSpPr>
              <p:nvPr/>
            </p:nvSpPr>
            <p:spPr>
              <a:xfrm>
                <a:off x="1016000" y="3175000"/>
                <a:ext cx="4699000" cy="1016000"/>
              </a:xfrm>
              <a:prstGeom prst="rect">
                <a:avLst/>
              </a:prstGeom>
              <a:blipFill>
                <a:blip r:embed="rId5"/>
                <a:stretch>
                  <a:fillRect l="-2724" r="-1038"/>
                </a:stretch>
              </a:blipFill>
              <a:ln w="12700" cap="flat" cmpd="sng">
                <a:noFill/>
                <a:prstDash val="solid"/>
                <a:round/>
              </a:ln>
            </p:spPr>
            <p:txBody>
              <a:bodyPr/>
              <a:lstStyle/>
              <a:p>
                <a:r>
                  <a:rPr lang="zh-CN" altLang="en-US">
                    <a:noFill/>
                  </a:rPr>
                  <a:t> </a:t>
                </a:r>
              </a:p>
            </p:txBody>
          </p:sp>
        </mc:Fallback>
      </mc:AlternateContent>
      <p:sp>
        <p:nvSpPr>
          <p:cNvPr id="9" name="AutoShape 9">
            <a:extLst>
              <a:ext uri="{FF2B5EF4-FFF2-40B4-BE49-F238E27FC236}">
                <a16:creationId xmlns:a16="http://schemas.microsoft.com/office/drawing/2014/main" id="{AC746A3C-E6EC-DB93-CD16-F6C39DACA3D3}"/>
              </a:ext>
            </a:extLst>
          </p:cNvPr>
          <p:cNvSpPr/>
          <p:nvPr/>
        </p:nvSpPr>
        <p:spPr>
          <a:xfrm>
            <a:off x="6223000" y="1524000"/>
            <a:ext cx="5207000" cy="3048000"/>
          </a:xfrm>
          <a:prstGeom prst="roundRect">
            <a:avLst>
              <a:gd name="adj" fmla="val 4166"/>
            </a:avLst>
          </a:prstGeom>
          <a:solidFill>
            <a:srgbClr val="F2F8FF">
              <a:alpha val="100000"/>
            </a:srgbClr>
          </a:solidFill>
          <a:ln w="12700" cap="flat" cmpd="sng">
            <a:solidFill>
              <a:srgbClr val="007AFF">
                <a:alpha val="2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10" name="Picture 10">
            <a:extLst>
              <a:ext uri="{FF2B5EF4-FFF2-40B4-BE49-F238E27FC236}">
                <a16:creationId xmlns:a16="http://schemas.microsoft.com/office/drawing/2014/main" id="{16CD6AF0-63C0-BC89-DC96-543058ECEF3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778000"/>
            <a:ext cx="406400" cy="406400"/>
          </a:xfrm>
          <a:prstGeom prst="rect">
            <a:avLst/>
          </a:prstGeom>
        </p:spPr>
      </p:pic>
      <p:sp>
        <p:nvSpPr>
          <p:cNvPr id="11" name="AutoShape 11">
            <a:extLst>
              <a:ext uri="{FF2B5EF4-FFF2-40B4-BE49-F238E27FC236}">
                <a16:creationId xmlns:a16="http://schemas.microsoft.com/office/drawing/2014/main" id="{021AB00B-465C-E9A5-9469-048272D44638}"/>
              </a:ext>
            </a:extLst>
          </p:cNvPr>
          <p:cNvSpPr/>
          <p:nvPr/>
        </p:nvSpPr>
        <p:spPr>
          <a:xfrm>
            <a:off x="6985000" y="1727200"/>
            <a:ext cx="4191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2000" b="1" i="0" u="none" strike="noStrike">
                <a:solidFill>
                  <a:srgbClr val="333333"/>
                </a:solidFill>
                <a:latin typeface="+mj-ea"/>
                <a:ea typeface="+mj-ea"/>
                <a:cs typeface="Roboto"/>
                <a:sym typeface="Roboto"/>
              </a:rPr>
              <a:t>02. 历史的一致性</a:t>
            </a:r>
            <a:endParaRPr lang="en-US" sz="1100">
              <a:latin typeface="+mj-ea"/>
              <a:ea typeface="+mj-ea"/>
            </a:endParaRPr>
          </a:p>
        </p:txBody>
      </p:sp>
      <mc:AlternateContent xmlns:mc="http://schemas.openxmlformats.org/markup-compatibility/2006">
        <mc:Choice xmlns:a14="http://schemas.microsoft.com/office/drawing/2010/main" Requires="a14">
          <p:sp>
            <p:nvSpPr>
              <p:cNvPr id="12" name="AutoShape 12">
                <a:extLst>
                  <a:ext uri="{FF2B5EF4-FFF2-40B4-BE49-F238E27FC236}">
                    <a16:creationId xmlns:a16="http://schemas.microsoft.com/office/drawing/2014/main" id="{D56446A8-1ADB-5BC1-927B-C8E234B868D4}"/>
                  </a:ext>
                </a:extLst>
              </p:cNvPr>
              <p:cNvSpPr/>
              <p:nvPr/>
            </p:nvSpPr>
            <p:spPr>
              <a:xfrm>
                <a:off x="6477000" y="2286000"/>
                <a:ext cx="469900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8333"/>
                  </a:lnSpc>
                  <a:defRPr/>
                </a:pPr>
                <a:r>
                  <a:rPr lang="en-US" sz="1600" b="1" i="0" u="none" strike="noStrike" dirty="0" err="1">
                    <a:solidFill>
                      <a:srgbClr val="007AFF"/>
                    </a:solidFill>
                    <a:latin typeface="+mj-ea"/>
                    <a:ea typeface="+mj-ea"/>
                    <a:cs typeface="Roboto"/>
                    <a:sym typeface="Roboto"/>
                  </a:rPr>
                  <a:t>前提：</a:t>
                </a:r>
                <a:r>
                  <a:rPr lang="en-US" sz="1400" b="0" i="0" u="none" strike="noStrike" dirty="0">
                    <a:solidFill>
                      <a:srgbClr val="7030A0"/>
                    </a:solidFill>
                    <a:latin typeface="+mj-ea"/>
                    <a:ea typeface="+mj-ea"/>
                    <a:cs typeface="Roboto"/>
                    <a:sym typeface="Roboto"/>
                  </a:rPr>
                  <a:t>历史 </a:t>
                </a:r>
                <a14:m>
                  <m:oMath xmlns:m="http://schemas.openxmlformats.org/officeDocument/2006/math">
                    <m:r>
                      <a:rPr lang="en-US" sz="1400" b="0" i="1" u="none" strike="noStrike" dirty="0" smtClean="0">
                        <a:solidFill>
                          <a:srgbClr val="7030A0"/>
                        </a:solidFill>
                        <a:latin typeface="Cambria Math" panose="02040503050406030204" pitchFamily="18" charset="0"/>
                        <a:ea typeface="+mj-ea"/>
                        <a:cs typeface="Roboto"/>
                        <a:sym typeface="Roboto"/>
                      </a:rPr>
                      <m:t>ℋ</m:t>
                    </m:r>
                  </m:oMath>
                </a14:m>
                <a:r>
                  <a:rPr lang="en-US" sz="1400" b="0" i="0" u="none" strike="noStrike" dirty="0">
                    <a:solidFill>
                      <a:srgbClr val="7030A0"/>
                    </a:solidFill>
                    <a:latin typeface="+mj-ea"/>
                    <a:ea typeface="+mj-ea"/>
                    <a:cs typeface="Roboto"/>
                    <a:sym typeface="Roboto"/>
                  </a:rPr>
                  <a:t> </a:t>
                </a:r>
                <a:r>
                  <a:rPr lang="en-US" sz="1400" b="0" i="0" u="none" strike="noStrike" dirty="0" err="1">
                    <a:solidFill>
                      <a:srgbClr val="7030A0"/>
                    </a:solidFill>
                    <a:latin typeface="+mj-ea"/>
                    <a:ea typeface="+mj-ea"/>
                    <a:cs typeface="Roboto"/>
                    <a:sym typeface="Roboto"/>
                  </a:rPr>
                  <a:t>由事务集合</a:t>
                </a:r>
                <a:r>
                  <a:rPr lang="en-US" sz="1400" b="0" i="0" u="none" strike="noStrike" dirty="0">
                    <a:solidFill>
                      <a:srgbClr val="7030A0"/>
                    </a:solidFill>
                    <a:latin typeface="+mj-ea"/>
                    <a:ea typeface="+mj-ea"/>
                    <a:cs typeface="Roboto"/>
                    <a:sym typeface="Roboto"/>
                  </a:rPr>
                  <a:t> </a:t>
                </a:r>
                <a14:m>
                  <m:oMath xmlns:m="http://schemas.openxmlformats.org/officeDocument/2006/math">
                    <m:r>
                      <a:rPr lang="en-US" sz="1400" b="0" i="1" u="none" strike="noStrike" dirty="0" smtClean="0">
                        <a:solidFill>
                          <a:srgbClr val="7030A0"/>
                        </a:solidFill>
                        <a:latin typeface="Cambria Math" panose="02040503050406030204" pitchFamily="18" charset="0"/>
                        <a:ea typeface="+mj-ea"/>
                        <a:cs typeface="Roboto"/>
                        <a:sym typeface="Roboto"/>
                      </a:rPr>
                      <m:t>𝑇</m:t>
                    </m:r>
                  </m:oMath>
                </a14:m>
                <a:r>
                  <a:rPr lang="en-US" sz="1400" b="0" i="0" u="none" strike="noStrike" dirty="0">
                    <a:solidFill>
                      <a:srgbClr val="7030A0"/>
                    </a:solidFill>
                    <a:latin typeface="+mj-ea"/>
                    <a:ea typeface="+mj-ea"/>
                    <a:cs typeface="Roboto"/>
                    <a:sym typeface="Roboto"/>
                  </a:rPr>
                  <a:t> </a:t>
                </a:r>
                <a:r>
                  <a:rPr lang="en-US" sz="1400" b="0" i="0" u="none" strike="noStrike" dirty="0" err="1">
                    <a:solidFill>
                      <a:srgbClr val="7030A0"/>
                    </a:solidFill>
                    <a:latin typeface="+mj-ea"/>
                    <a:ea typeface="+mj-ea"/>
                    <a:cs typeface="Roboto"/>
                    <a:sym typeface="Roboto"/>
                  </a:rPr>
                  <a:t>和会话顺序</a:t>
                </a:r>
                <a:r>
                  <a:rPr lang="en-US" sz="1400" b="0" i="0" u="none" strike="noStrike" dirty="0">
                    <a:solidFill>
                      <a:srgbClr val="7030A0"/>
                    </a:solidFill>
                    <a:latin typeface="+mj-ea"/>
                    <a:ea typeface="+mj-ea"/>
                    <a:cs typeface="Roboto"/>
                    <a:sym typeface="Roboto"/>
                  </a:rPr>
                  <a:t> </a:t>
                </a:r>
                <a14:m>
                  <m:oMath xmlns:m="http://schemas.openxmlformats.org/officeDocument/2006/math">
                    <m:r>
                      <a:rPr lang="en-US" sz="1400" b="0" i="1" u="none" strike="noStrike" dirty="0" smtClean="0">
                        <a:solidFill>
                          <a:srgbClr val="7030A0"/>
                        </a:solidFill>
                        <a:latin typeface="Cambria Math" panose="02040503050406030204" pitchFamily="18" charset="0"/>
                        <a:ea typeface="+mj-ea"/>
                        <a:cs typeface="Roboto"/>
                        <a:sym typeface="Roboto"/>
                      </a:rPr>
                      <m:t>𝒮𝒪</m:t>
                    </m:r>
                  </m:oMath>
                </a14:m>
                <a:r>
                  <a:rPr lang="en-US" sz="1400" b="0" i="0" u="none" strike="noStrike" dirty="0" err="1">
                    <a:solidFill>
                      <a:srgbClr val="7030A0"/>
                    </a:solidFill>
                    <a:latin typeface="+mj-ea"/>
                    <a:ea typeface="+mj-ea"/>
                    <a:cs typeface="Roboto"/>
                    <a:sym typeface="Roboto"/>
                  </a:rPr>
                  <a:t>构成，即</a:t>
                </a:r>
                <a:r>
                  <a:rPr lang="en-US" sz="1400" b="0" i="0" u="none" strike="noStrike" dirty="0">
                    <a:solidFill>
                      <a:srgbClr val="7030A0"/>
                    </a:solidFill>
                    <a:latin typeface="+mj-ea"/>
                    <a:ea typeface="+mj-ea"/>
                    <a:cs typeface="Roboto"/>
                    <a:sym typeface="Roboto"/>
                  </a:rPr>
                  <a:t> </a:t>
                </a:r>
                <a14:m>
                  <m:oMath xmlns:m="http://schemas.openxmlformats.org/officeDocument/2006/math">
                    <m:r>
                      <a:rPr lang="en-US" sz="1400" b="0" i="1" u="none" strike="noStrike" dirty="0" smtClean="0">
                        <a:solidFill>
                          <a:srgbClr val="7030A0"/>
                        </a:solidFill>
                        <a:latin typeface="Cambria Math" panose="02040503050406030204" pitchFamily="18" charset="0"/>
                        <a:ea typeface="+mj-ea"/>
                        <a:cs typeface="Roboto"/>
                        <a:sym typeface="Roboto"/>
                      </a:rPr>
                      <m:t>ℋ</m:t>
                    </m:r>
                    <m:r>
                      <a:rPr lang="en-US" sz="1400" b="0" i="1" u="none" strike="noStrike" dirty="0" smtClean="0">
                        <a:solidFill>
                          <a:srgbClr val="7030A0"/>
                        </a:solidFill>
                        <a:latin typeface="Cambria Math" panose="02040503050406030204" pitchFamily="18" charset="0"/>
                        <a:ea typeface="+mj-ea"/>
                        <a:cs typeface="Roboto"/>
                        <a:sym typeface="Roboto"/>
                      </a:rPr>
                      <m:t>=</m:t>
                    </m:r>
                    <m:d>
                      <m:dPr>
                        <m:ctrlPr>
                          <a:rPr lang="en-US" sz="1400" b="0" i="1" u="none" strike="noStrike" dirty="0" smtClean="0">
                            <a:solidFill>
                              <a:srgbClr val="7030A0"/>
                            </a:solidFill>
                            <a:latin typeface="Cambria Math" panose="02040503050406030204" pitchFamily="18" charset="0"/>
                            <a:ea typeface="+mj-ea"/>
                            <a:cs typeface="Roboto"/>
                            <a:sym typeface="Roboto"/>
                          </a:rPr>
                        </m:ctrlPr>
                      </m:dPr>
                      <m:e>
                        <m:r>
                          <a:rPr lang="en-US" sz="1400" b="0" i="1" u="none" strike="noStrike" dirty="0" smtClean="0">
                            <a:solidFill>
                              <a:srgbClr val="7030A0"/>
                            </a:solidFill>
                            <a:latin typeface="Cambria Math" panose="02040503050406030204" pitchFamily="18" charset="0"/>
                            <a:ea typeface="+mj-ea"/>
                            <a:cs typeface="Roboto"/>
                            <a:sym typeface="Roboto"/>
                          </a:rPr>
                          <m:t>𝑇</m:t>
                        </m:r>
                        <m:r>
                          <a:rPr lang="en-US" sz="1400" b="0" i="1" u="none" strike="noStrike" dirty="0" smtClean="0">
                            <a:solidFill>
                              <a:srgbClr val="7030A0"/>
                            </a:solidFill>
                            <a:latin typeface="Cambria Math" panose="02040503050406030204" pitchFamily="18" charset="0"/>
                            <a:ea typeface="+mj-ea"/>
                            <a:cs typeface="Roboto"/>
                            <a:sym typeface="Roboto"/>
                          </a:rPr>
                          <m:t>,</m:t>
                        </m:r>
                        <m:r>
                          <a:rPr lang="en-US" sz="1400" b="0" i="1" u="none" strike="noStrike" dirty="0" smtClean="0">
                            <a:solidFill>
                              <a:srgbClr val="7030A0"/>
                            </a:solidFill>
                            <a:latin typeface="Cambria Math" panose="02040503050406030204" pitchFamily="18" charset="0"/>
                            <a:ea typeface="+mj-ea"/>
                            <a:cs typeface="Roboto"/>
                            <a:sym typeface="Roboto"/>
                          </a:rPr>
                          <m:t>𝒮𝒪</m:t>
                        </m:r>
                      </m:e>
                    </m:d>
                    <m:r>
                      <a:rPr lang="en-US" sz="1400" b="0" i="1" u="none" strike="noStrike" dirty="0" smtClean="0">
                        <a:solidFill>
                          <a:srgbClr val="7030A0"/>
                        </a:solidFill>
                        <a:latin typeface="Cambria Math" panose="02040503050406030204" pitchFamily="18" charset="0"/>
                        <a:ea typeface="+mj-ea"/>
                        <a:cs typeface="Roboto"/>
                        <a:sym typeface="Roboto"/>
                      </a:rPr>
                      <m:t>。</m:t>
                    </m:r>
                  </m:oMath>
                </a14:m>
                <a:endParaRPr lang="en-US" sz="1100" dirty="0">
                  <a:latin typeface="+mj-ea"/>
                  <a:ea typeface="+mj-ea"/>
                </a:endParaRPr>
              </a:p>
            </p:txBody>
          </p:sp>
        </mc:Choice>
        <mc:Fallback>
          <p:sp>
            <p:nvSpPr>
              <p:cNvPr id="12" name="AutoShape 12">
                <a:extLst>
                  <a:ext uri="{FF2B5EF4-FFF2-40B4-BE49-F238E27FC236}">
                    <a16:creationId xmlns:a16="http://schemas.microsoft.com/office/drawing/2014/main" id="{D56446A8-1ADB-5BC1-927B-C8E234B868D4}"/>
                  </a:ext>
                </a:extLst>
              </p:cNvPr>
              <p:cNvSpPr>
                <a:spLocks noRot="1" noChangeAspect="1" noMove="1" noResize="1" noEditPoints="1" noAdjustHandles="1" noChangeArrowheads="1" noChangeShapeType="1" noTextEdit="1"/>
              </p:cNvSpPr>
              <p:nvPr/>
            </p:nvSpPr>
            <p:spPr>
              <a:xfrm>
                <a:off x="6477000" y="2286000"/>
                <a:ext cx="4699000" cy="762000"/>
              </a:xfrm>
              <a:prstGeom prst="rect">
                <a:avLst/>
              </a:prstGeom>
              <a:blipFill>
                <a:blip r:embed="rId8"/>
                <a:stretch>
                  <a:fillRect l="-2727"/>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AutoShape 13">
                <a:extLst>
                  <a:ext uri="{FF2B5EF4-FFF2-40B4-BE49-F238E27FC236}">
                    <a16:creationId xmlns:a16="http://schemas.microsoft.com/office/drawing/2014/main" id="{A668BA2B-4BB2-2114-C4C3-508084F5814E}"/>
                  </a:ext>
                </a:extLst>
              </p:cNvPr>
              <p:cNvSpPr/>
              <p:nvPr/>
            </p:nvSpPr>
            <p:spPr>
              <a:xfrm>
                <a:off x="6477000" y="3175000"/>
                <a:ext cx="4699000" cy="1016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8333"/>
                  </a:lnSpc>
                  <a:defRPr/>
                </a:pPr>
                <a:r>
                  <a:rPr lang="en-US" sz="1600" b="1" i="0" u="none" strike="noStrike" dirty="0" err="1">
                    <a:solidFill>
                      <a:srgbClr val="007AFF"/>
                    </a:solidFill>
                    <a:latin typeface="+mj-ea"/>
                    <a:ea typeface="+mj-ea"/>
                    <a:cs typeface="Roboto"/>
                    <a:sym typeface="Roboto"/>
                  </a:rPr>
                  <a:t>定义：</a:t>
                </a:r>
                <a:r>
                  <a:rPr lang="en-US" dirty="0">
                    <a:solidFill>
                      <a:srgbClr val="7030A0"/>
                    </a:solidFill>
                    <a:latin typeface="+mj-ea"/>
                    <a:ea typeface="+mj-ea"/>
                    <a:cs typeface="Roboto"/>
                    <a:sym typeface="Roboto"/>
                  </a:rPr>
                  <a:t>若历史</a:t>
                </a:r>
                <a14:m>
                  <m:oMath xmlns:m="http://schemas.openxmlformats.org/officeDocument/2006/math">
                    <m:r>
                      <a:rPr lang="en-US" dirty="0">
                        <a:solidFill>
                          <a:srgbClr val="7030A0"/>
                        </a:solidFill>
                        <a:latin typeface="+mj-ea"/>
                        <a:ea typeface="+mj-ea"/>
                        <a:cs typeface="Roboto"/>
                        <a:sym typeface="Roboto"/>
                      </a:rPr>
                      <m:t>𝓗</m:t>
                    </m:r>
                  </m:oMath>
                </a14:m>
                <a:r>
                  <a:rPr lang="en-US" dirty="0" err="1">
                    <a:solidFill>
                      <a:srgbClr val="7030A0"/>
                    </a:solidFill>
                    <a:latin typeface="+mj-ea"/>
                    <a:ea typeface="+mj-ea"/>
                    <a:cs typeface="Roboto"/>
                    <a:sym typeface="Roboto"/>
                  </a:rPr>
                  <a:t>存在一个与之对应且一致的抽象执行</a:t>
                </a:r>
                <a:r>
                  <a:rPr lang="en-US" dirty="0">
                    <a:solidFill>
                      <a:srgbClr val="7030A0"/>
                    </a:solidFill>
                    <a:latin typeface="+mj-ea"/>
                    <a:ea typeface="+mj-ea"/>
                    <a:cs typeface="Roboto"/>
                    <a:sym typeface="Roboto"/>
                  </a:rPr>
                  <a:t> </a:t>
                </a:r>
                <a14:m>
                  <m:oMath xmlns:m="http://schemas.openxmlformats.org/officeDocument/2006/math">
                    <m:r>
                      <a:rPr lang="en-US" altLang="zh-CN" dirty="0">
                        <a:solidFill>
                          <a:srgbClr val="7030A0"/>
                        </a:solidFill>
                        <a:latin typeface="+mj-ea"/>
                        <a:ea typeface="+mj-ea"/>
                        <a:cs typeface="Roboto"/>
                        <a:sym typeface="Roboto"/>
                      </a:rPr>
                      <m:t>𝓧</m:t>
                    </m:r>
                  </m:oMath>
                </a14:m>
                <a:r>
                  <a:rPr lang="en-US" dirty="0">
                    <a:solidFill>
                      <a:srgbClr val="7030A0"/>
                    </a:solidFill>
                    <a:latin typeface="+mj-ea"/>
                    <a:ea typeface="+mj-ea"/>
                    <a:cs typeface="Roboto"/>
                    <a:sym typeface="Roboto"/>
                  </a:rPr>
                  <a:t>，</a:t>
                </a:r>
                <a:r>
                  <a:rPr lang="en-US" dirty="0" err="1">
                    <a:solidFill>
                      <a:srgbClr val="7030A0"/>
                    </a:solidFill>
                    <a:latin typeface="+mj-ea"/>
                    <a:ea typeface="+mj-ea"/>
                    <a:cs typeface="Roboto"/>
                    <a:sym typeface="Roboto"/>
                  </a:rPr>
                  <a:t>则称历史</a:t>
                </a:r>
                <a:r>
                  <a:rPr lang="en-US" dirty="0">
                    <a:solidFill>
                      <a:srgbClr val="7030A0"/>
                    </a:solidFill>
                    <a:latin typeface="+mj-ea"/>
                    <a:ea typeface="+mj-ea"/>
                    <a:cs typeface="Roboto"/>
                    <a:sym typeface="Roboto"/>
                  </a:rPr>
                  <a:t> </a:t>
                </a:r>
                <a14:m>
                  <m:oMath xmlns:m="http://schemas.openxmlformats.org/officeDocument/2006/math">
                    <m:r>
                      <a:rPr lang="en-US" altLang="zh-CN" dirty="0">
                        <a:solidFill>
                          <a:srgbClr val="7030A0"/>
                        </a:solidFill>
                        <a:latin typeface="+mj-ea"/>
                        <a:ea typeface="+mj-ea"/>
                        <a:cs typeface="Roboto"/>
                        <a:sym typeface="Roboto"/>
                      </a:rPr>
                      <m:t>𝓗</m:t>
                    </m:r>
                  </m:oMath>
                </a14:m>
                <a:r>
                  <a:rPr lang="en-US" dirty="0" err="1">
                    <a:solidFill>
                      <a:srgbClr val="7030A0"/>
                    </a:solidFill>
                    <a:latin typeface="+mj-ea"/>
                    <a:ea typeface="+mj-ea"/>
                    <a:cs typeface="Roboto"/>
                    <a:sym typeface="Roboto"/>
                  </a:rPr>
                  <a:t>在该混合隔离级别配置下是一致的</a:t>
                </a:r>
                <a:r>
                  <a:rPr lang="en-US" dirty="0">
                    <a:solidFill>
                      <a:srgbClr val="7030A0"/>
                    </a:solidFill>
                    <a:latin typeface="+mj-ea"/>
                    <a:ea typeface="+mj-ea"/>
                    <a:cs typeface="Roboto"/>
                    <a:sym typeface="Roboto"/>
                  </a:rPr>
                  <a:t>。</a:t>
                </a:r>
                <a:endParaRPr lang="en-US" dirty="0">
                  <a:solidFill>
                    <a:srgbClr val="555555"/>
                  </a:solidFill>
                  <a:latin typeface="+mj-ea"/>
                  <a:ea typeface="+mj-ea"/>
                  <a:cs typeface="Roboto"/>
                </a:endParaRPr>
              </a:p>
            </p:txBody>
          </p:sp>
        </mc:Choice>
        <mc:Fallback>
          <p:sp>
            <p:nvSpPr>
              <p:cNvPr id="13" name="AutoShape 13">
                <a:extLst>
                  <a:ext uri="{FF2B5EF4-FFF2-40B4-BE49-F238E27FC236}">
                    <a16:creationId xmlns:a16="http://schemas.microsoft.com/office/drawing/2014/main" id="{A668BA2B-4BB2-2114-C4C3-508084F5814E}"/>
                  </a:ext>
                </a:extLst>
              </p:cNvPr>
              <p:cNvSpPr>
                <a:spLocks noRot="1" noChangeAspect="1" noMove="1" noResize="1" noEditPoints="1" noAdjustHandles="1" noChangeArrowheads="1" noChangeShapeType="1" noTextEdit="1"/>
              </p:cNvSpPr>
              <p:nvPr/>
            </p:nvSpPr>
            <p:spPr>
              <a:xfrm>
                <a:off x="6477000" y="3175000"/>
                <a:ext cx="4699000" cy="1016000"/>
              </a:xfrm>
              <a:prstGeom prst="rect">
                <a:avLst/>
              </a:prstGeom>
              <a:blipFill>
                <a:blip r:embed="rId9"/>
                <a:stretch>
                  <a:fillRect l="-2727" r="-130"/>
                </a:stretch>
              </a:blipFill>
              <a:ln w="12700" cap="flat" cmpd="sng">
                <a:noFill/>
                <a:prstDash val="solid"/>
                <a:round/>
              </a:ln>
            </p:spPr>
            <p:txBody>
              <a:bodyPr/>
              <a:lstStyle/>
              <a:p>
                <a:r>
                  <a:rPr lang="zh-CN" altLang="en-US">
                    <a:noFill/>
                  </a:rPr>
                  <a:t> </a:t>
                </a:r>
              </a:p>
            </p:txBody>
          </p:sp>
        </mc:Fallback>
      </mc:AlternateContent>
      <p:sp>
        <p:nvSpPr>
          <p:cNvPr id="14" name="AutoShape 14">
            <a:extLst>
              <a:ext uri="{FF2B5EF4-FFF2-40B4-BE49-F238E27FC236}">
                <a16:creationId xmlns:a16="http://schemas.microsoft.com/office/drawing/2014/main" id="{71E77DA5-EDC7-6E76-0B3B-5891851ADA8B}"/>
              </a:ext>
            </a:extLst>
          </p:cNvPr>
          <p:cNvSpPr/>
          <p:nvPr/>
        </p:nvSpPr>
        <p:spPr>
          <a:xfrm>
            <a:off x="762000" y="4953000"/>
            <a:ext cx="10668000" cy="1016000"/>
          </a:xfrm>
          <a:prstGeom prst="roundRect">
            <a:avLst>
              <a:gd name="adj" fmla="val 1250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15" name="Picture 15">
            <a:extLst>
              <a:ext uri="{FF2B5EF4-FFF2-40B4-BE49-F238E27FC236}">
                <a16:creationId xmlns:a16="http://schemas.microsoft.com/office/drawing/2014/main" id="{9601A7DE-FCD1-CCF0-9F53-6A7519BED8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207000"/>
            <a:ext cx="304800" cy="304800"/>
          </a:xfrm>
          <a:prstGeom prst="rect">
            <a:avLst/>
          </a:prstGeom>
        </p:spPr>
      </p:pic>
      <p:sp>
        <p:nvSpPr>
          <p:cNvPr id="16" name="AutoShape 16">
            <a:extLst>
              <a:ext uri="{FF2B5EF4-FFF2-40B4-BE49-F238E27FC236}">
                <a16:creationId xmlns:a16="http://schemas.microsoft.com/office/drawing/2014/main" id="{A599AA82-EA33-A78F-C686-50994446C319}"/>
              </a:ext>
            </a:extLst>
          </p:cNvPr>
          <p:cNvSpPr/>
          <p:nvPr/>
        </p:nvSpPr>
        <p:spPr>
          <a:xfrm>
            <a:off x="1460500" y="5143500"/>
            <a:ext cx="9715500" cy="635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16666"/>
              </a:lnSpc>
              <a:defRPr/>
            </a:pPr>
            <a:r>
              <a:rPr lang="en-US" sz="1500" b="1" i="0" u="none" strike="noStrike">
                <a:solidFill>
                  <a:srgbClr val="333333"/>
                </a:solidFill>
                <a:latin typeface="+mj-ea"/>
                <a:ea typeface="+mj-ea"/>
                <a:cs typeface="Roboto"/>
                <a:sym typeface="Roboto"/>
              </a:rPr>
              <a:t>核心逻辑：</a:t>
            </a:r>
            <a:r>
              <a:rPr lang="en-US" sz="1500" b="0" i="0" u="none" strike="noStrike">
                <a:solidFill>
                  <a:srgbClr val="555555"/>
                </a:solidFill>
                <a:latin typeface="+mj-ea"/>
                <a:ea typeface="+mj-ea"/>
                <a:cs typeface="Roboto"/>
                <a:sym typeface="Roboto"/>
              </a:rPr>
              <a:t>先定义微观层面“事务个体”在各自隔离级别下的行为合规性（执行一致性），再推导宏观层面“历史整体”的合规性（历史一致性）。</a:t>
            </a:r>
            <a:endParaRPr lang="en-US" sz="1100">
              <a:latin typeface="+mj-ea"/>
              <a:ea typeface="+mj-ea"/>
            </a:endParaRPr>
          </a:p>
        </p:txBody>
      </p:sp>
      <p:sp>
        <p:nvSpPr>
          <p:cNvPr id="17" name="矩形 16">
            <a:extLst>
              <a:ext uri="{FF2B5EF4-FFF2-40B4-BE49-F238E27FC236}">
                <a16:creationId xmlns:a16="http://schemas.microsoft.com/office/drawing/2014/main" id="{5A4C7386-62A8-0BD9-3034-D9E9068CF3AB}"/>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11</a:t>
            </a:r>
            <a:endParaRPr lang="zh-CN" altLang="en-US" dirty="0"/>
          </a:p>
        </p:txBody>
      </p:sp>
    </p:spTree>
    <p:extLst>
      <p:ext uri="{BB962C8B-B14F-4D97-AF65-F5344CB8AC3E}">
        <p14:creationId xmlns:p14="http://schemas.microsoft.com/office/powerpoint/2010/main" val="8762137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93749-B8DC-64BC-88E6-FE43051C1C4D}"/>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55AB1652-6A7C-F54F-B199-E103DA2CA0FC}"/>
              </a:ext>
            </a:extLst>
          </p:cNvPr>
          <p:cNvSpPr/>
          <p:nvPr/>
        </p:nvSpPr>
        <p:spPr>
          <a:xfrm>
            <a:off x="1" y="2050256"/>
            <a:ext cx="12192000" cy="2736057"/>
          </a:xfrm>
          <a:prstGeom prst="rect">
            <a:avLst/>
          </a:prstGeom>
          <a:solidFill>
            <a:srgbClr val="700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 descr="https://ese.nju.edu.cn/_upload/tpl/04/32/1074/template1074/htmlRes/logo.png">
            <a:extLst>
              <a:ext uri="{FF2B5EF4-FFF2-40B4-BE49-F238E27FC236}">
                <a16:creationId xmlns:a16="http://schemas.microsoft.com/office/drawing/2014/main" id="{EE383108-1D98-C9D0-366A-FD299DCEC68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0458" y="163693"/>
            <a:ext cx="1913640" cy="59026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1221749B-BC63-E8A8-3E10-61403A373AC1}"/>
              </a:ext>
            </a:extLst>
          </p:cNvPr>
          <p:cNvSpPr txBox="1"/>
          <p:nvPr/>
        </p:nvSpPr>
        <p:spPr>
          <a:xfrm>
            <a:off x="4202789" y="3013500"/>
            <a:ext cx="6884312" cy="830997"/>
          </a:xfrm>
          <a:prstGeom prst="rect">
            <a:avLst/>
          </a:prstGeom>
          <a:noFill/>
        </p:spPr>
        <p:txBody>
          <a:bodyPr wrap="square" rtlCol="0">
            <a:spAutoFit/>
          </a:bodyPr>
          <a:lstStyle/>
          <a:p>
            <a:pPr algn="ctr"/>
            <a:r>
              <a:rPr lang="zh-CN" altLang="en-US" sz="4800" b="1" dirty="0">
                <a:solidFill>
                  <a:schemeClr val="bg1"/>
                </a:solidFill>
                <a:latin typeface="+mn-ea"/>
              </a:rPr>
              <a:t>操作语义与</a:t>
            </a:r>
            <a:r>
              <a:rPr lang="en-US" altLang="zh-CN" sz="4800" b="1" dirty="0">
                <a:solidFill>
                  <a:schemeClr val="bg1"/>
                </a:solidFill>
                <a:latin typeface="+mn-ea"/>
              </a:rPr>
              <a:t>TLA+</a:t>
            </a:r>
            <a:r>
              <a:rPr lang="zh-CN" altLang="en-US" sz="4800" b="1" dirty="0">
                <a:solidFill>
                  <a:schemeClr val="bg1"/>
                </a:solidFill>
                <a:latin typeface="+mn-ea"/>
              </a:rPr>
              <a:t>验证</a:t>
            </a:r>
          </a:p>
        </p:txBody>
      </p:sp>
      <p:sp>
        <p:nvSpPr>
          <p:cNvPr id="2" name="Freeform 8">
            <a:extLst>
              <a:ext uri="{FF2B5EF4-FFF2-40B4-BE49-F238E27FC236}">
                <a16:creationId xmlns:a16="http://schemas.microsoft.com/office/drawing/2014/main" id="{72885AAF-49B7-FBEF-4633-2DF7F7DE4BF8}"/>
              </a:ext>
            </a:extLst>
          </p:cNvPr>
          <p:cNvSpPr/>
          <p:nvPr/>
        </p:nvSpPr>
        <p:spPr bwMode="auto">
          <a:xfrm>
            <a:off x="1455384" y="1704802"/>
            <a:ext cx="3381639" cy="3378639"/>
          </a:xfrm>
          <a:custGeom>
            <a:avLst/>
            <a:gdLst>
              <a:gd name="T0" fmla="*/ 929 w 1857"/>
              <a:gd name="T1" fmla="*/ 0 h 1855"/>
              <a:gd name="T2" fmla="*/ 1857 w 1857"/>
              <a:gd name="T3" fmla="*/ 928 h 1855"/>
              <a:gd name="T4" fmla="*/ 929 w 1857"/>
              <a:gd name="T5" fmla="*/ 1855 h 1855"/>
              <a:gd name="T6" fmla="*/ 0 w 1857"/>
              <a:gd name="T7" fmla="*/ 928 h 1855"/>
              <a:gd name="T8" fmla="*/ 929 w 1857"/>
              <a:gd name="T9" fmla="*/ 0 h 1855"/>
            </a:gdLst>
            <a:ahLst/>
            <a:cxnLst>
              <a:cxn ang="0">
                <a:pos x="T0" y="T1"/>
              </a:cxn>
              <a:cxn ang="0">
                <a:pos x="T2" y="T3"/>
              </a:cxn>
              <a:cxn ang="0">
                <a:pos x="T4" y="T5"/>
              </a:cxn>
              <a:cxn ang="0">
                <a:pos x="T6" y="T7"/>
              </a:cxn>
              <a:cxn ang="0">
                <a:pos x="T8" y="T9"/>
              </a:cxn>
            </a:cxnLst>
            <a:rect l="0" t="0" r="r" b="b"/>
            <a:pathLst>
              <a:path w="1857" h="1855">
                <a:moveTo>
                  <a:pt x="929" y="0"/>
                </a:moveTo>
                <a:lnTo>
                  <a:pt x="1857" y="928"/>
                </a:lnTo>
                <a:lnTo>
                  <a:pt x="929" y="1855"/>
                </a:lnTo>
                <a:lnTo>
                  <a:pt x="0" y="928"/>
                </a:lnTo>
                <a:lnTo>
                  <a:pt x="929" y="0"/>
                </a:lnTo>
                <a:close/>
              </a:path>
            </a:pathLst>
          </a:custGeom>
          <a:solidFill>
            <a:srgbClr val="6E0F6D"/>
          </a:solidFill>
          <a:ln w="0">
            <a:noFill/>
            <a:prstDash val="solid"/>
            <a:round/>
          </a:ln>
        </p:spPr>
        <p:txBody>
          <a:bodyPr vert="horz" wrap="square" lIns="121890" tIns="60945" rIns="121890" bIns="60945" numCol="1" anchor="t" anchorCtr="0" compatLnSpc="1"/>
          <a:lstStyle/>
          <a:p>
            <a:endParaRPr lang="zh-CN" altLang="en-US"/>
          </a:p>
        </p:txBody>
      </p:sp>
      <p:sp>
        <p:nvSpPr>
          <p:cNvPr id="5" name="文本框 4">
            <a:extLst>
              <a:ext uri="{FF2B5EF4-FFF2-40B4-BE49-F238E27FC236}">
                <a16:creationId xmlns:a16="http://schemas.microsoft.com/office/drawing/2014/main" id="{792BBAEE-ACED-750C-1715-E97A7A8B3F72}"/>
              </a:ext>
            </a:extLst>
          </p:cNvPr>
          <p:cNvSpPr txBox="1">
            <a:spLocks noChangeArrowheads="1"/>
          </p:cNvSpPr>
          <p:nvPr>
            <p:custDataLst>
              <p:tags r:id="rId1"/>
            </p:custDataLst>
          </p:nvPr>
        </p:nvSpPr>
        <p:spPr bwMode="auto">
          <a:xfrm>
            <a:off x="2342201" y="2645454"/>
            <a:ext cx="1608005" cy="14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03</a:t>
            </a:r>
            <a:endParaRPr lang="zh-CN" altLang="en-US"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6" name="页脚占位符 5">
            <a:extLst>
              <a:ext uri="{FF2B5EF4-FFF2-40B4-BE49-F238E27FC236}">
                <a16:creationId xmlns:a16="http://schemas.microsoft.com/office/drawing/2014/main" id="{982655B3-978E-B4FB-7F7F-7F802F994C25}"/>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760774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E7756F2-438F-71DB-B6F6-7AFB3842F43D}"/>
              </a:ext>
            </a:extLst>
          </p:cNvPr>
          <p:cNvSpPr>
            <a:spLocks noGrp="1"/>
          </p:cNvSpPr>
          <p:nvPr>
            <p:ph type="body" sz="quarter" idx="13"/>
          </p:nvPr>
        </p:nvSpPr>
        <p:spPr/>
        <p:txBody>
          <a:bodyPr/>
          <a:lstStyle/>
          <a:p>
            <a:r>
              <a:rPr lang="zh-CN" altLang="en-US" dirty="0">
                <a:latin typeface="+mj-ea"/>
                <a:ea typeface="+mj-ea"/>
              </a:rPr>
              <a:t>混合逻辑时钟（</a:t>
            </a:r>
            <a:r>
              <a:rPr lang="en-US" altLang="zh-CN" dirty="0">
                <a:latin typeface="+mj-ea"/>
                <a:ea typeface="+mj-ea"/>
              </a:rPr>
              <a:t>HLC</a:t>
            </a:r>
            <a:r>
              <a:rPr lang="zh-CN" altLang="en-US" dirty="0">
                <a:latin typeface="+mj-ea"/>
                <a:ea typeface="+mj-ea"/>
              </a:rPr>
              <a:t>）</a:t>
            </a:r>
          </a:p>
        </p:txBody>
      </p:sp>
      <p:pic>
        <p:nvPicPr>
          <p:cNvPr id="3" name="Picture 3">
            <a:extLst>
              <a:ext uri="{FF2B5EF4-FFF2-40B4-BE49-F238E27FC236}">
                <a16:creationId xmlns:a16="http://schemas.microsoft.com/office/drawing/2014/main" id="{8EDE0E7F-8680-64BD-6202-17CC3DBCECB8}"/>
              </a:ext>
            </a:extLst>
          </p:cNvPr>
          <p:cNvPicPr>
            <a:picLocks noChangeAspect="1"/>
          </p:cNvPicPr>
          <p:nvPr/>
        </p:nvPicPr>
        <p:blipFill>
          <a:blip r:embed="rId2"/>
          <a:srcRect/>
          <a:stretch>
            <a:fillRect/>
          </a:stretch>
        </p:blipFill>
        <p:spPr>
          <a:xfrm>
            <a:off x="83343" y="823358"/>
            <a:ext cx="4615657" cy="3247444"/>
          </a:xfrm>
          <a:prstGeom prst="rect">
            <a:avLst/>
          </a:prstGeom>
          <a:noFill/>
          <a:ln w="12700" cap="flat" cmpd="sng">
            <a:solidFill>
              <a:srgbClr val="E6E6E6">
                <a:alpha val="100000"/>
              </a:srgbClr>
            </a:solidFill>
            <a:prstDash val="solid"/>
            <a:round/>
          </a:ln>
          <a:effectLst>
            <a:outerShdw blurRad="127000" dist="63500" dir="2700000" algn="tl" rotWithShape="0">
              <a:srgbClr val="000000">
                <a:alpha val="15000"/>
              </a:srgbClr>
            </a:outerShdw>
          </a:effectLst>
        </p:spPr>
      </p:pic>
      <p:grpSp>
        <p:nvGrpSpPr>
          <p:cNvPr id="17" name="组合 16">
            <a:extLst>
              <a:ext uri="{FF2B5EF4-FFF2-40B4-BE49-F238E27FC236}">
                <a16:creationId xmlns:a16="http://schemas.microsoft.com/office/drawing/2014/main" id="{47BFDF60-6BAE-F58A-7AE0-221E06302D2F}"/>
              </a:ext>
            </a:extLst>
          </p:cNvPr>
          <p:cNvGrpSpPr/>
          <p:nvPr/>
        </p:nvGrpSpPr>
        <p:grpSpPr>
          <a:xfrm>
            <a:off x="762000" y="4368800"/>
            <a:ext cx="3556000" cy="1651000"/>
            <a:chOff x="762000" y="4000500"/>
            <a:chExt cx="3556000" cy="1651000"/>
          </a:xfrm>
        </p:grpSpPr>
        <p:sp>
          <p:nvSpPr>
            <p:cNvPr id="4" name="AutoShape 4">
              <a:extLst>
                <a:ext uri="{FF2B5EF4-FFF2-40B4-BE49-F238E27FC236}">
                  <a16:creationId xmlns:a16="http://schemas.microsoft.com/office/drawing/2014/main" id="{1ECF9F69-3C6E-7D58-99FB-8A5661087261}"/>
                </a:ext>
              </a:extLst>
            </p:cNvPr>
            <p:cNvSpPr/>
            <p:nvPr/>
          </p:nvSpPr>
          <p:spPr>
            <a:xfrm>
              <a:off x="762000" y="4000500"/>
              <a:ext cx="3556000" cy="1651000"/>
            </a:xfrm>
            <a:prstGeom prst="roundRect">
              <a:avLst>
                <a:gd name="adj" fmla="val 7692"/>
              </a:avLst>
            </a:prstGeom>
            <a:solidFill>
              <a:srgbClr val="007AFF">
                <a:alpha val="8000"/>
              </a:srgbClr>
            </a:solidFill>
            <a:ln w="12700" cap="flat" cmpd="sng">
              <a:solidFill>
                <a:srgbClr val="007AFF">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5" name="Picture 5">
              <a:extLst>
                <a:ext uri="{FF2B5EF4-FFF2-40B4-BE49-F238E27FC236}">
                  <a16:creationId xmlns:a16="http://schemas.microsoft.com/office/drawing/2014/main" id="{3358305B-D6B2-0983-58D4-B991E031EC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191000"/>
              <a:ext cx="304800" cy="304800"/>
            </a:xfrm>
            <a:prstGeom prst="rect">
              <a:avLst/>
            </a:prstGeom>
          </p:spPr>
        </p:pic>
        <p:sp>
          <p:nvSpPr>
            <p:cNvPr id="6" name="AutoShape 6">
              <a:extLst>
                <a:ext uri="{FF2B5EF4-FFF2-40B4-BE49-F238E27FC236}">
                  <a16:creationId xmlns:a16="http://schemas.microsoft.com/office/drawing/2014/main" id="{88385BA4-EB74-BD0B-D550-EF1C2312187C}"/>
                </a:ext>
              </a:extLst>
            </p:cNvPr>
            <p:cNvSpPr/>
            <p:nvPr/>
          </p:nvSpPr>
          <p:spPr>
            <a:xfrm>
              <a:off x="1333500" y="4152900"/>
              <a:ext cx="2794000" cy="355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007AFF"/>
                  </a:solidFill>
                  <a:latin typeface="+mj-ea"/>
                  <a:ea typeface="+mj-ea"/>
                  <a:cs typeface="Roboto"/>
                  <a:sym typeface="Roboto"/>
                </a:rPr>
                <a:t>核心价值与逻辑</a:t>
              </a:r>
              <a:endParaRPr lang="en-US" sz="1100">
                <a:latin typeface="+mj-ea"/>
                <a:ea typeface="+mj-ea"/>
              </a:endParaRPr>
            </a:p>
          </p:txBody>
        </p:sp>
        <p:sp>
          <p:nvSpPr>
            <p:cNvPr id="7" name="AutoShape 7">
              <a:extLst>
                <a:ext uri="{FF2B5EF4-FFF2-40B4-BE49-F238E27FC236}">
                  <a16:creationId xmlns:a16="http://schemas.microsoft.com/office/drawing/2014/main" id="{1A294AF2-D3A9-CA29-41FE-01E0B0121487}"/>
                </a:ext>
              </a:extLst>
            </p:cNvPr>
            <p:cNvSpPr/>
            <p:nvPr/>
          </p:nvSpPr>
          <p:spPr>
            <a:xfrm>
              <a:off x="952500" y="4572000"/>
              <a:ext cx="3175000" cy="889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400" b="0" i="0" u="none" strike="noStrike" dirty="0">
                  <a:solidFill>
                    <a:srgbClr val="333333"/>
                  </a:solidFill>
                  <a:latin typeface="+mj-ea"/>
                  <a:ea typeface="+mj-ea"/>
                  <a:cs typeface="Roboto"/>
                  <a:sym typeface="Roboto"/>
                </a:rPr>
                <a:t>结合物理时钟的全局顺序性与逻辑时钟的因果一致性。通过</a:t>
              </a:r>
              <a:r>
                <a:rPr lang="en-US" sz="1400" b="1" i="0" u="none" strike="noStrike" dirty="0">
                  <a:solidFill>
                    <a:srgbClr val="007AFF"/>
                  </a:solidFill>
                  <a:latin typeface="+mj-ea"/>
                  <a:ea typeface="+mj-ea"/>
                  <a:cs typeface="Roboto"/>
                  <a:sym typeface="Roboto"/>
                </a:rPr>
                <a:t>wall</a:t>
              </a:r>
              <a:r>
                <a:rPr lang="en-US" sz="1400" b="0" i="0" u="none" strike="noStrike" dirty="0">
                  <a:solidFill>
                    <a:srgbClr val="333333"/>
                  </a:solidFill>
                  <a:latin typeface="+mj-ea"/>
                  <a:ea typeface="+mj-ea"/>
                  <a:cs typeface="Roboto"/>
                  <a:sym typeface="Roboto"/>
                </a:rPr>
                <a:t>保证大致时间序，通过</a:t>
              </a:r>
              <a:r>
                <a:rPr lang="en-US" sz="1400" b="1" i="0" u="none" strike="noStrike" dirty="0">
                  <a:solidFill>
                    <a:srgbClr val="007AFF"/>
                  </a:solidFill>
                  <a:latin typeface="+mj-ea"/>
                  <a:ea typeface="+mj-ea"/>
                  <a:cs typeface="Roboto"/>
                  <a:sym typeface="Roboto"/>
                </a:rPr>
                <a:t>logical</a:t>
              </a:r>
              <a:r>
                <a:rPr lang="en-US" sz="1400" b="0" i="0" u="none" strike="noStrike" dirty="0">
                  <a:solidFill>
                    <a:srgbClr val="333333"/>
                  </a:solidFill>
                  <a:latin typeface="+mj-ea"/>
                  <a:ea typeface="+mj-ea"/>
                  <a:cs typeface="Roboto"/>
                  <a:sym typeface="Roboto"/>
                </a:rPr>
                <a:t>计数器解决物理时钟回拨或同步误差问题。</a:t>
              </a:r>
              <a:endParaRPr lang="en-US" sz="1100" dirty="0">
                <a:latin typeface="+mj-ea"/>
                <a:ea typeface="+mj-ea"/>
              </a:endParaRPr>
            </a:p>
          </p:txBody>
        </p:sp>
      </p:grpSp>
      <p:sp>
        <p:nvSpPr>
          <p:cNvPr id="8" name="AutoShape 8">
            <a:extLst>
              <a:ext uri="{FF2B5EF4-FFF2-40B4-BE49-F238E27FC236}">
                <a16:creationId xmlns:a16="http://schemas.microsoft.com/office/drawing/2014/main" id="{42F59AD9-CEAB-0EFA-CE82-5CD75948F8F1}"/>
              </a:ext>
            </a:extLst>
          </p:cNvPr>
          <p:cNvSpPr/>
          <p:nvPr/>
        </p:nvSpPr>
        <p:spPr>
          <a:xfrm>
            <a:off x="4826000" y="1206500"/>
            <a:ext cx="6604000" cy="355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007AFF"/>
                </a:solidFill>
                <a:latin typeface="+mj-ea"/>
                <a:ea typeface="+mj-ea"/>
                <a:cs typeface="Roboto"/>
                <a:sym typeface="Roboto"/>
              </a:rPr>
              <a:t>▍HLC 简介</a:t>
            </a:r>
            <a:endParaRPr lang="en-US" sz="1100">
              <a:latin typeface="+mj-ea"/>
              <a:ea typeface="+mj-ea"/>
            </a:endParaRPr>
          </a:p>
        </p:txBody>
      </p:sp>
      <p:sp>
        <p:nvSpPr>
          <p:cNvPr id="9" name="AutoShape 9">
            <a:extLst>
              <a:ext uri="{FF2B5EF4-FFF2-40B4-BE49-F238E27FC236}">
                <a16:creationId xmlns:a16="http://schemas.microsoft.com/office/drawing/2014/main" id="{C51B8F31-EE84-AFAF-0A1C-79FE9672AADE}"/>
              </a:ext>
            </a:extLst>
          </p:cNvPr>
          <p:cNvSpPr/>
          <p:nvPr/>
        </p:nvSpPr>
        <p:spPr>
          <a:xfrm>
            <a:off x="4826000" y="1612900"/>
            <a:ext cx="6604000" cy="635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500" b="0" i="0" u="none" strike="noStrike" dirty="0" err="1">
                <a:solidFill>
                  <a:srgbClr val="555555"/>
                </a:solidFill>
                <a:latin typeface="+mj-ea"/>
                <a:ea typeface="+mj-ea"/>
                <a:cs typeface="Roboto"/>
                <a:sym typeface="Roboto"/>
              </a:rPr>
              <a:t>一种用于分布式系统的时间戳生成机制，通过维护物理时钟</a:t>
            </a:r>
            <a:r>
              <a:rPr lang="en-US" sz="1500" b="0" i="0" u="none" strike="noStrike" dirty="0">
                <a:solidFill>
                  <a:srgbClr val="555555"/>
                </a:solidFill>
                <a:latin typeface="+mj-ea"/>
                <a:ea typeface="+mj-ea"/>
                <a:cs typeface="Roboto"/>
                <a:sym typeface="Roboto"/>
              </a:rPr>
              <a:t> (wall) </a:t>
            </a:r>
            <a:r>
              <a:rPr lang="en-US" sz="1500" b="0" i="0" u="none" strike="noStrike" dirty="0" err="1">
                <a:solidFill>
                  <a:srgbClr val="555555"/>
                </a:solidFill>
                <a:latin typeface="+mj-ea"/>
                <a:ea typeface="+mj-ea"/>
                <a:cs typeface="Roboto"/>
                <a:sym typeface="Roboto"/>
              </a:rPr>
              <a:t>和逻辑计数器</a:t>
            </a:r>
            <a:r>
              <a:rPr lang="en-US" sz="1500" b="0" i="0" u="none" strike="noStrike" dirty="0">
                <a:solidFill>
                  <a:srgbClr val="555555"/>
                </a:solidFill>
                <a:latin typeface="+mj-ea"/>
                <a:ea typeface="+mj-ea"/>
                <a:cs typeface="Roboto"/>
                <a:sym typeface="Roboto"/>
              </a:rPr>
              <a:t> (logical)，</a:t>
            </a:r>
            <a:r>
              <a:rPr lang="en-US" sz="1500" b="0" i="0" u="none" strike="noStrike" dirty="0" err="1">
                <a:solidFill>
                  <a:srgbClr val="555555"/>
                </a:solidFill>
                <a:latin typeface="+mj-ea"/>
                <a:ea typeface="+mj-ea"/>
                <a:cs typeface="Roboto"/>
                <a:sym typeface="Roboto"/>
              </a:rPr>
              <a:t>生成全局唯一且具有因果关系的时间戳</a:t>
            </a:r>
            <a:r>
              <a:rPr lang="en-US" sz="1500" b="0" i="0" u="none" strike="noStrike" dirty="0">
                <a:solidFill>
                  <a:srgbClr val="555555"/>
                </a:solidFill>
                <a:latin typeface="+mj-ea"/>
                <a:ea typeface="+mj-ea"/>
                <a:cs typeface="Roboto"/>
                <a:sym typeface="Roboto"/>
              </a:rPr>
              <a:t>。</a:t>
            </a:r>
            <a:endParaRPr lang="en-US" sz="1100" dirty="0">
              <a:latin typeface="+mj-ea"/>
              <a:ea typeface="+mj-ea"/>
            </a:endParaRPr>
          </a:p>
        </p:txBody>
      </p:sp>
      <p:sp>
        <p:nvSpPr>
          <p:cNvPr id="10" name="AutoShape 10">
            <a:extLst>
              <a:ext uri="{FF2B5EF4-FFF2-40B4-BE49-F238E27FC236}">
                <a16:creationId xmlns:a16="http://schemas.microsoft.com/office/drawing/2014/main" id="{C0A4960C-2105-D345-C261-A7F1D123C9DD}"/>
              </a:ext>
            </a:extLst>
          </p:cNvPr>
          <p:cNvSpPr/>
          <p:nvPr/>
        </p:nvSpPr>
        <p:spPr>
          <a:xfrm>
            <a:off x="4826000" y="2349500"/>
            <a:ext cx="6604000" cy="355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007AFF"/>
                </a:solidFill>
                <a:latin typeface="+mj-ea"/>
                <a:ea typeface="+mj-ea"/>
                <a:cs typeface="Roboto"/>
                <a:sym typeface="Roboto"/>
              </a:rPr>
              <a:t>▍核心过程详解</a:t>
            </a:r>
            <a:endParaRPr lang="en-US" sz="1100">
              <a:latin typeface="+mj-ea"/>
              <a:ea typeface="+mj-ea"/>
            </a:endParaRPr>
          </a:p>
        </p:txBody>
      </p:sp>
      <p:sp>
        <p:nvSpPr>
          <p:cNvPr id="11" name="AutoShape 11">
            <a:extLst>
              <a:ext uri="{FF2B5EF4-FFF2-40B4-BE49-F238E27FC236}">
                <a16:creationId xmlns:a16="http://schemas.microsoft.com/office/drawing/2014/main" id="{895512F7-D586-360E-55C0-EE636DA12E2A}"/>
              </a:ext>
            </a:extLst>
          </p:cNvPr>
          <p:cNvSpPr/>
          <p:nvPr/>
        </p:nvSpPr>
        <p:spPr>
          <a:xfrm>
            <a:off x="4826000" y="2794000"/>
            <a:ext cx="6604000" cy="1079500"/>
          </a:xfrm>
          <a:prstGeom prst="roundRect">
            <a:avLst>
              <a:gd name="adj" fmla="val 588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mc:AlternateContent xmlns:mc="http://schemas.openxmlformats.org/markup-compatibility/2006">
        <mc:Choice xmlns:a14="http://schemas.microsoft.com/office/drawing/2010/main" Requires="a14">
          <p:sp>
            <p:nvSpPr>
              <p:cNvPr id="12" name="AutoShape 12">
                <a:extLst>
                  <a:ext uri="{FF2B5EF4-FFF2-40B4-BE49-F238E27FC236}">
                    <a16:creationId xmlns:a16="http://schemas.microsoft.com/office/drawing/2014/main" id="{611BA9E7-2595-7EF3-7FFE-DF0C1979312B}"/>
                  </a:ext>
                </a:extLst>
              </p:cNvPr>
              <p:cNvSpPr/>
              <p:nvPr/>
            </p:nvSpPr>
            <p:spPr>
              <a:xfrm>
                <a:off x="4953000" y="2857500"/>
                <a:ext cx="63500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600" b="1" i="0" u="none" strike="noStrike" dirty="0">
                    <a:solidFill>
                      <a:srgbClr val="333333"/>
                    </a:solidFill>
                    <a:latin typeface="+mj-ea"/>
                    <a:ea typeface="+mj-ea"/>
                    <a:cs typeface="Roboto"/>
                    <a:sym typeface="Roboto"/>
                  </a:rPr>
                  <a:t>1</a:t>
                </a:r>
                <a14:m>
                  <m:oMath xmlns:m="http://schemas.openxmlformats.org/officeDocument/2006/math">
                    <m:r>
                      <a:rPr lang="en-US" sz="1600" b="1" i="1" u="none" strike="noStrike" dirty="0" smtClean="0">
                        <a:solidFill>
                          <a:srgbClr val="333333"/>
                        </a:solidFill>
                        <a:latin typeface="Cambria Math" panose="02040503050406030204" pitchFamily="18" charset="0"/>
                        <a:ea typeface="+mj-ea"/>
                        <a:cs typeface="Roboto"/>
                        <a:sym typeface="Roboto"/>
                      </a:rPr>
                      <m:t>. </m:t>
                    </m:r>
                    <m:r>
                      <a:rPr lang="en-US" sz="1600" b="1" i="1" u="none" strike="noStrike" dirty="0" smtClean="0">
                        <a:solidFill>
                          <a:srgbClr val="333333"/>
                        </a:solidFill>
                        <a:latin typeface="Cambria Math" panose="02040503050406030204" pitchFamily="18" charset="0"/>
                        <a:ea typeface="+mj-ea"/>
                        <a:cs typeface="Roboto"/>
                        <a:sym typeface="Roboto"/>
                      </a:rPr>
                      <m:t>𝑵𝒐𝒘</m:t>
                    </m:r>
                    <m:r>
                      <a:rPr lang="en-US" sz="1600" b="1" i="1" u="none" strike="noStrike" dirty="0" smtClean="0">
                        <a:solidFill>
                          <a:srgbClr val="333333"/>
                        </a:solidFill>
                        <a:latin typeface="Cambria Math" panose="02040503050406030204" pitchFamily="18" charset="0"/>
                        <a:ea typeface="+mj-ea"/>
                        <a:cs typeface="Roboto"/>
                        <a:sym typeface="Roboto"/>
                      </a:rPr>
                      <m:t>(</m:t>
                    </m:r>
                    <m:r>
                      <a:rPr lang="en-US" sz="1600" b="1" i="1" u="none" strike="noStrike" dirty="0" smtClean="0">
                        <a:solidFill>
                          <a:srgbClr val="333333"/>
                        </a:solidFill>
                        <a:latin typeface="Cambria Math" panose="02040503050406030204" pitchFamily="18" charset="0"/>
                        <a:ea typeface="+mj-ea"/>
                        <a:cs typeface="Roboto"/>
                        <a:sym typeface="Roboto"/>
                      </a:rPr>
                      <m:t>𝒑𝒕</m:t>
                    </m:r>
                    <m:r>
                      <a:rPr lang="en-US" sz="1600" b="1" i="1" u="none" strike="noStrike" dirty="0" smtClean="0">
                        <a:solidFill>
                          <a:srgbClr val="333333"/>
                        </a:solidFill>
                        <a:latin typeface="Cambria Math" panose="02040503050406030204" pitchFamily="18" charset="0"/>
                        <a:ea typeface="+mj-ea"/>
                        <a:cs typeface="Roboto"/>
                        <a:sym typeface="Roboto"/>
                      </a:rPr>
                      <m:t>) </m:t>
                    </m:r>
                  </m:oMath>
                </a14:m>
                <a:r>
                  <a:rPr lang="en-US" sz="1600" b="1" i="0" u="none" strike="noStrike" dirty="0">
                    <a:solidFill>
                      <a:srgbClr val="333333"/>
                    </a:solidFill>
                    <a:latin typeface="+mj-ea"/>
                    <a:ea typeface="+mj-ea"/>
                    <a:cs typeface="Roboto"/>
                    <a:sym typeface="Roboto"/>
                  </a:rPr>
                  <a:t>- </a:t>
                </a:r>
                <a:r>
                  <a:rPr lang="en-US" sz="1600" b="1" i="0" u="none" strike="noStrike" dirty="0" err="1">
                    <a:solidFill>
                      <a:srgbClr val="333333"/>
                    </a:solidFill>
                    <a:latin typeface="+mj-ea"/>
                    <a:ea typeface="+mj-ea"/>
                    <a:cs typeface="Roboto"/>
                    <a:sym typeface="Roboto"/>
                  </a:rPr>
                  <a:t>生成本地时间戳</a:t>
                </a:r>
                <a:endParaRPr lang="en-US" sz="1100" dirty="0">
                  <a:latin typeface="+mj-ea"/>
                  <a:ea typeface="+mj-ea"/>
                </a:endParaRPr>
              </a:p>
            </p:txBody>
          </p:sp>
        </mc:Choice>
        <mc:Fallback>
          <p:sp>
            <p:nvSpPr>
              <p:cNvPr id="12" name="AutoShape 12">
                <a:extLst>
                  <a:ext uri="{FF2B5EF4-FFF2-40B4-BE49-F238E27FC236}">
                    <a16:creationId xmlns:a16="http://schemas.microsoft.com/office/drawing/2014/main" id="{611BA9E7-2595-7EF3-7FFE-DF0C1979312B}"/>
                  </a:ext>
                </a:extLst>
              </p:cNvPr>
              <p:cNvSpPr>
                <a:spLocks noRot="1" noChangeAspect="1" noMove="1" noResize="1" noEditPoints="1" noAdjustHandles="1" noChangeArrowheads="1" noChangeShapeType="1" noTextEdit="1"/>
              </p:cNvSpPr>
              <p:nvPr/>
            </p:nvSpPr>
            <p:spPr>
              <a:xfrm>
                <a:off x="4953000" y="2857500"/>
                <a:ext cx="6350000" cy="304800"/>
              </a:xfrm>
              <a:prstGeom prst="rect">
                <a:avLst/>
              </a:prstGeom>
              <a:blipFill>
                <a:blip r:embed="rId5"/>
                <a:stretch>
                  <a:fillRect l="-2017" t="-8000" b="-34000"/>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AutoShape 13">
                <a:extLst>
                  <a:ext uri="{FF2B5EF4-FFF2-40B4-BE49-F238E27FC236}">
                    <a16:creationId xmlns:a16="http://schemas.microsoft.com/office/drawing/2014/main" id="{98A3500F-9DA1-741A-D073-BC110BB94A0E}"/>
                  </a:ext>
                </a:extLst>
              </p:cNvPr>
              <p:cNvSpPr/>
              <p:nvPr/>
            </p:nvSpPr>
            <p:spPr>
              <a:xfrm>
                <a:off x="4953000" y="3187700"/>
                <a:ext cx="6350000" cy="6096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defRPr/>
                </a:pPr>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若物理时钟</a:t>
                </a:r>
                <a14:m>
                  <m:oMath xmlns:m="http://schemas.openxmlformats.org/officeDocument/2006/math">
                    <m:r>
                      <a:rPr lang="en-US" sz="1400" b="1" i="1" u="none" strike="noStrike" dirty="0" smtClean="0">
                        <a:solidFill>
                          <a:srgbClr val="007AFF"/>
                        </a:solidFill>
                        <a:latin typeface="Cambria Math" panose="02040503050406030204" pitchFamily="18" charset="0"/>
                        <a:ea typeface="+mj-ea"/>
                        <a:cs typeface="Roboto"/>
                        <a:sym typeface="Roboto"/>
                      </a:rPr>
                      <m:t>𝒑𝒕</m:t>
                    </m:r>
                    <m:r>
                      <a:rPr lang="en-US" sz="1400" b="1" i="1" u="none" strike="noStrike" dirty="0">
                        <a:solidFill>
                          <a:srgbClr val="007AFF"/>
                        </a:solidFill>
                        <a:latin typeface="Cambria Math" panose="02040503050406030204" pitchFamily="18" charset="0"/>
                        <a:ea typeface="+mj-ea"/>
                        <a:cs typeface="Roboto"/>
                        <a:sym typeface="Roboto"/>
                      </a:rPr>
                      <m:t> &gt; </m:t>
                    </m:r>
                    <m:r>
                      <a:rPr lang="en-US" sz="1400" b="1" i="1" u="none" strike="noStrike" dirty="0" err="1">
                        <a:solidFill>
                          <a:srgbClr val="007AFF"/>
                        </a:solidFill>
                        <a:latin typeface="Cambria Math" panose="02040503050406030204" pitchFamily="18" charset="0"/>
                        <a:ea typeface="+mj-ea"/>
                        <a:cs typeface="Roboto"/>
                        <a:sym typeface="Roboto"/>
                      </a:rPr>
                      <m:t>𝒘𝒂𝒍𝒍</m:t>
                    </m:r>
                  </m:oMath>
                </a14:m>
                <a:r>
                  <a:rPr lang="en-US" sz="1400" b="0" i="0" u="none" strike="noStrike" dirty="0" err="1">
                    <a:solidFill>
                      <a:srgbClr val="666666"/>
                    </a:solidFill>
                    <a:latin typeface="+mj-ea"/>
                    <a:ea typeface="+mj-ea"/>
                    <a:cs typeface="Roboto"/>
                    <a:sym typeface="Roboto"/>
                  </a:rPr>
                  <a:t>：更新</a:t>
                </a:r>
                <a:r>
                  <a:rPr lang="en-US" sz="1400" b="0" i="0" u="none" strike="noStrike" dirty="0">
                    <a:solidFill>
                      <a:srgbClr val="666666"/>
                    </a:solidFill>
                    <a:latin typeface="+mj-ea"/>
                    <a:ea typeface="+mj-ea"/>
                    <a:cs typeface="Roboto"/>
                    <a:sym typeface="Roboto"/>
                  </a:rPr>
                  <a:t>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𝑤𝑎𝑙𝑙</m:t>
                    </m:r>
                  </m:oMath>
                </a14:m>
                <a:r>
                  <a:rPr lang="en-US" sz="1400" b="0" i="0" u="none" strike="noStrike" dirty="0">
                    <a:solidFill>
                      <a:srgbClr val="666666"/>
                    </a:solidFill>
                    <a:latin typeface="+mj-ea"/>
                    <a:ea typeface="+mj-ea"/>
                    <a:cs typeface="Roboto"/>
                    <a:sym typeface="Roboto"/>
                  </a:rPr>
                  <a:t> 为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𝑝𝑡</m:t>
                    </m:r>
                  </m:oMath>
                </a14:m>
                <a:r>
                  <a:rPr lang="en-US" sz="1400" b="0" i="0" u="none" strike="noStrike" dirty="0" err="1">
                    <a:solidFill>
                      <a:srgbClr val="666666"/>
                    </a:solidFill>
                    <a:latin typeface="+mj-ea"/>
                    <a:ea typeface="+mj-ea"/>
                    <a:cs typeface="Roboto"/>
                    <a:sym typeface="Roboto"/>
                  </a:rPr>
                  <a:t>，逻辑计数器</a:t>
                </a:r>
                <a:r>
                  <a:rPr lang="en-US" sz="1400" b="0" i="0" u="none" strike="noStrike" dirty="0">
                    <a:solidFill>
                      <a:srgbClr val="666666"/>
                    </a:solidFill>
                    <a:latin typeface="+mj-ea"/>
                    <a:ea typeface="+mj-ea"/>
                    <a:cs typeface="Roboto"/>
                    <a:sym typeface="Roboto"/>
                  </a:rPr>
                  <a:t>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oMath>
                </a14:m>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重置为</a:t>
                </a:r>
                <a:r>
                  <a:rPr lang="en-US" sz="1400" b="0" i="0" u="none" strike="noStrike" dirty="0">
                    <a:solidFill>
                      <a:srgbClr val="666666"/>
                    </a:solidFill>
                    <a:latin typeface="+mj-ea"/>
                    <a:ea typeface="+mj-ea"/>
                    <a:cs typeface="Roboto"/>
                    <a:sym typeface="Roboto"/>
                  </a:rPr>
                  <a:t> 0。</a:t>
                </a:r>
                <a:endParaRPr lang="en-US" sz="1100" dirty="0">
                  <a:latin typeface="+mj-ea"/>
                  <a:ea typeface="+mj-ea"/>
                </a:endParaRPr>
              </a:p>
              <a:p>
                <a:pPr indent="0" algn="l">
                  <a:lnSpc>
                    <a:spcPct val="100000"/>
                  </a:lnSpc>
                </a:pPr>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否则：</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𝑤𝑎𝑙𝑙</m:t>
                    </m:r>
                  </m:oMath>
                </a14:m>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不变，</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oMath>
                </a14:m>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自增</a:t>
                </a:r>
                <a:r>
                  <a:rPr lang="en-US" sz="1400" b="0" i="0" u="none" strike="noStrike" dirty="0">
                    <a:solidFill>
                      <a:srgbClr val="666666"/>
                    </a:solidFill>
                    <a:latin typeface="+mj-ea"/>
                    <a:ea typeface="+mj-ea"/>
                    <a:cs typeface="Roboto"/>
                    <a:sym typeface="Roboto"/>
                  </a:rPr>
                  <a:t> 1。最终返回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m:t>
                    </m:r>
                    <m:r>
                      <a:rPr lang="en-US" sz="1400" b="0" i="1" u="none" strike="noStrike" dirty="0" smtClean="0">
                        <a:solidFill>
                          <a:srgbClr val="666666"/>
                        </a:solidFill>
                        <a:latin typeface="Cambria Math" panose="02040503050406030204" pitchFamily="18" charset="0"/>
                        <a:ea typeface="+mj-ea"/>
                        <a:cs typeface="Roboto"/>
                        <a:sym typeface="Roboto"/>
                      </a:rPr>
                      <m:t>𝑤𝑎𝑙𝑙</m:t>
                    </m:r>
                    <m:r>
                      <a:rPr lang="en-US" sz="1400" b="0" i="1" u="none" strike="noStrike" dirty="0" smtClean="0">
                        <a:solidFill>
                          <a:srgbClr val="666666"/>
                        </a:solidFill>
                        <a:latin typeface="Cambria Math" panose="02040503050406030204" pitchFamily="18" charset="0"/>
                        <a:ea typeface="+mj-ea"/>
                        <a:cs typeface="Roboto"/>
                        <a:sym typeface="Roboto"/>
                      </a:rPr>
                      <m:t>, </m:t>
                    </m:r>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r>
                      <a:rPr lang="en-US" sz="1400" b="0" i="1" u="none" strike="noStrike" dirty="0" smtClean="0">
                        <a:solidFill>
                          <a:srgbClr val="666666"/>
                        </a:solidFill>
                        <a:latin typeface="Cambria Math" panose="02040503050406030204" pitchFamily="18" charset="0"/>
                        <a:ea typeface="+mj-ea"/>
                        <a:cs typeface="Roboto"/>
                        <a:sym typeface="Roboto"/>
                      </a:rPr>
                      <m:t>)</m:t>
                    </m:r>
                    <m:r>
                      <a:rPr lang="en-US" sz="1400" b="0" i="1" u="none" strike="noStrike" dirty="0" smtClean="0">
                        <a:solidFill>
                          <a:srgbClr val="666666"/>
                        </a:solidFill>
                        <a:latin typeface="Cambria Math" panose="02040503050406030204" pitchFamily="18" charset="0"/>
                        <a:ea typeface="+mj-ea"/>
                        <a:cs typeface="Roboto"/>
                        <a:sym typeface="Roboto"/>
                      </a:rPr>
                      <m:t>。</m:t>
                    </m:r>
                  </m:oMath>
                </a14:m>
                <a:endParaRPr lang="en-US" sz="1400" b="0" i="0" u="none" strike="noStrike" dirty="0">
                  <a:solidFill>
                    <a:srgbClr val="666666"/>
                  </a:solidFill>
                  <a:latin typeface="+mj-ea"/>
                  <a:ea typeface="+mj-ea"/>
                  <a:cs typeface="Roboto"/>
                  <a:sym typeface="Roboto"/>
                </a:endParaRPr>
              </a:p>
            </p:txBody>
          </p:sp>
        </mc:Choice>
        <mc:Fallback>
          <p:sp>
            <p:nvSpPr>
              <p:cNvPr id="13" name="AutoShape 13">
                <a:extLst>
                  <a:ext uri="{FF2B5EF4-FFF2-40B4-BE49-F238E27FC236}">
                    <a16:creationId xmlns:a16="http://schemas.microsoft.com/office/drawing/2014/main" id="{98A3500F-9DA1-741A-D073-BC110BB94A0E}"/>
                  </a:ext>
                </a:extLst>
              </p:cNvPr>
              <p:cNvSpPr>
                <a:spLocks noRot="1" noChangeAspect="1" noMove="1" noResize="1" noEditPoints="1" noAdjustHandles="1" noChangeArrowheads="1" noChangeShapeType="1" noTextEdit="1"/>
              </p:cNvSpPr>
              <p:nvPr/>
            </p:nvSpPr>
            <p:spPr>
              <a:xfrm>
                <a:off x="4953000" y="3187700"/>
                <a:ext cx="6350000" cy="609600"/>
              </a:xfrm>
              <a:prstGeom prst="rect">
                <a:avLst/>
              </a:prstGeom>
              <a:blipFill>
                <a:blip r:embed="rId6"/>
                <a:stretch>
                  <a:fillRect l="-1729" b="-2000"/>
                </a:stretch>
              </a:blipFill>
              <a:ln w="12700" cap="flat" cmpd="sng">
                <a:noFill/>
                <a:prstDash val="solid"/>
                <a:round/>
              </a:ln>
            </p:spPr>
            <p:txBody>
              <a:bodyPr/>
              <a:lstStyle/>
              <a:p>
                <a:r>
                  <a:rPr lang="zh-CN" altLang="en-US">
                    <a:noFill/>
                  </a:rPr>
                  <a:t> </a:t>
                </a:r>
              </a:p>
            </p:txBody>
          </p:sp>
        </mc:Fallback>
      </mc:AlternateContent>
      <p:sp>
        <p:nvSpPr>
          <p:cNvPr id="14" name="AutoShape 14">
            <a:extLst>
              <a:ext uri="{FF2B5EF4-FFF2-40B4-BE49-F238E27FC236}">
                <a16:creationId xmlns:a16="http://schemas.microsoft.com/office/drawing/2014/main" id="{D1C04BC8-38B1-DA68-76C8-9450770CBD19}"/>
              </a:ext>
            </a:extLst>
          </p:cNvPr>
          <p:cNvSpPr/>
          <p:nvPr/>
        </p:nvSpPr>
        <p:spPr>
          <a:xfrm>
            <a:off x="4826000" y="4000500"/>
            <a:ext cx="6604000" cy="1397000"/>
          </a:xfrm>
          <a:prstGeom prst="roundRect">
            <a:avLst>
              <a:gd name="adj" fmla="val 454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mc:AlternateContent xmlns:mc="http://schemas.openxmlformats.org/markup-compatibility/2006">
        <mc:Choice xmlns:a14="http://schemas.microsoft.com/office/drawing/2010/main" Requires="a14">
          <p:sp>
            <p:nvSpPr>
              <p:cNvPr id="15" name="AutoShape 15">
                <a:extLst>
                  <a:ext uri="{FF2B5EF4-FFF2-40B4-BE49-F238E27FC236}">
                    <a16:creationId xmlns:a16="http://schemas.microsoft.com/office/drawing/2014/main" id="{0DBAB05E-D9A4-9D06-B765-C31F9CE649E7}"/>
                  </a:ext>
                </a:extLst>
              </p:cNvPr>
              <p:cNvSpPr/>
              <p:nvPr/>
            </p:nvSpPr>
            <p:spPr>
              <a:xfrm>
                <a:off x="4953000" y="4064000"/>
                <a:ext cx="6350000" cy="3048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600" b="1" i="0" u="none" strike="noStrike" dirty="0">
                    <a:solidFill>
                      <a:srgbClr val="333333"/>
                    </a:solidFill>
                    <a:latin typeface="+mj-ea"/>
                    <a:ea typeface="+mj-ea"/>
                    <a:cs typeface="Roboto"/>
                    <a:sym typeface="Roboto"/>
                  </a:rPr>
                  <a:t>2. </a:t>
                </a:r>
                <a14:m>
                  <m:oMath xmlns:m="http://schemas.openxmlformats.org/officeDocument/2006/math">
                    <m:r>
                      <a:rPr lang="en-US" sz="1600" b="1" i="1" u="none" strike="noStrike" dirty="0" smtClean="0">
                        <a:solidFill>
                          <a:srgbClr val="333333"/>
                        </a:solidFill>
                        <a:latin typeface="Cambria Math" panose="02040503050406030204" pitchFamily="18" charset="0"/>
                        <a:ea typeface="+mj-ea"/>
                        <a:cs typeface="Roboto"/>
                        <a:sym typeface="Roboto"/>
                      </a:rPr>
                      <m:t>𝑼𝑷𝑫𝑨𝑻𝑬</m:t>
                    </m:r>
                    <m:r>
                      <a:rPr lang="en-US" sz="1600" b="1" i="1" u="none" strike="noStrike" dirty="0" smtClean="0">
                        <a:solidFill>
                          <a:srgbClr val="333333"/>
                        </a:solidFill>
                        <a:latin typeface="Cambria Math" panose="02040503050406030204" pitchFamily="18" charset="0"/>
                        <a:ea typeface="+mj-ea"/>
                        <a:cs typeface="Roboto"/>
                        <a:sym typeface="Roboto"/>
                      </a:rPr>
                      <m:t>(</m:t>
                    </m:r>
                    <m:r>
                      <a:rPr lang="en-US" sz="1600" b="1" i="1" u="none" strike="noStrike" dirty="0" smtClean="0">
                        <a:solidFill>
                          <a:srgbClr val="333333"/>
                        </a:solidFill>
                        <a:latin typeface="Cambria Math" panose="02040503050406030204" pitchFamily="18" charset="0"/>
                        <a:ea typeface="+mj-ea"/>
                        <a:cs typeface="Roboto"/>
                        <a:sym typeface="Roboto"/>
                      </a:rPr>
                      <m:t>𝒎𝒔𝒈</m:t>
                    </m:r>
                    <m:r>
                      <a:rPr lang="en-US" sz="1600" b="1" i="1" u="none" strike="noStrike" dirty="0" smtClean="0">
                        <a:solidFill>
                          <a:srgbClr val="333333"/>
                        </a:solidFill>
                        <a:latin typeface="Cambria Math" panose="02040503050406030204" pitchFamily="18" charset="0"/>
                        <a:ea typeface="+mj-ea"/>
                        <a:cs typeface="Roboto"/>
                        <a:sym typeface="Roboto"/>
                      </a:rPr>
                      <m:t>, </m:t>
                    </m:r>
                    <m:r>
                      <a:rPr lang="en-US" sz="1600" b="1" i="1" u="none" strike="noStrike" dirty="0" smtClean="0">
                        <a:solidFill>
                          <a:srgbClr val="333333"/>
                        </a:solidFill>
                        <a:latin typeface="Cambria Math" panose="02040503050406030204" pitchFamily="18" charset="0"/>
                        <a:ea typeface="+mj-ea"/>
                        <a:cs typeface="Roboto"/>
                        <a:sym typeface="Roboto"/>
                      </a:rPr>
                      <m:t>𝒑𝒕</m:t>
                    </m:r>
                    <m:r>
                      <a:rPr lang="en-US" sz="1600" b="1" i="1" u="none" strike="noStrike" dirty="0" smtClean="0">
                        <a:solidFill>
                          <a:srgbClr val="333333"/>
                        </a:solidFill>
                        <a:latin typeface="Cambria Math" panose="02040503050406030204" pitchFamily="18" charset="0"/>
                        <a:ea typeface="+mj-ea"/>
                        <a:cs typeface="Roboto"/>
                        <a:sym typeface="Roboto"/>
                      </a:rPr>
                      <m:t>) </m:t>
                    </m:r>
                  </m:oMath>
                </a14:m>
                <a:r>
                  <a:rPr lang="en-US" sz="1600" b="1" i="0" u="none" strike="noStrike" dirty="0">
                    <a:solidFill>
                      <a:srgbClr val="333333"/>
                    </a:solidFill>
                    <a:latin typeface="+mj-ea"/>
                    <a:ea typeface="+mj-ea"/>
                    <a:cs typeface="Roboto"/>
                    <a:sym typeface="Roboto"/>
                  </a:rPr>
                  <a:t>- </a:t>
                </a:r>
                <a:r>
                  <a:rPr lang="en-US" sz="1600" b="1" i="0" u="none" strike="noStrike" dirty="0" err="1">
                    <a:solidFill>
                      <a:srgbClr val="333333"/>
                    </a:solidFill>
                    <a:latin typeface="+mj-ea"/>
                    <a:ea typeface="+mj-ea"/>
                    <a:cs typeface="Roboto"/>
                    <a:sym typeface="Roboto"/>
                  </a:rPr>
                  <a:t>同步远程时间戳</a:t>
                </a:r>
                <a:endParaRPr lang="en-US" sz="1100" dirty="0">
                  <a:latin typeface="+mj-ea"/>
                  <a:ea typeface="+mj-ea"/>
                </a:endParaRPr>
              </a:p>
            </p:txBody>
          </p:sp>
        </mc:Choice>
        <mc:Fallback>
          <p:sp>
            <p:nvSpPr>
              <p:cNvPr id="15" name="AutoShape 15">
                <a:extLst>
                  <a:ext uri="{FF2B5EF4-FFF2-40B4-BE49-F238E27FC236}">
                    <a16:creationId xmlns:a16="http://schemas.microsoft.com/office/drawing/2014/main" id="{0DBAB05E-D9A4-9D06-B765-C31F9CE649E7}"/>
                  </a:ext>
                </a:extLst>
              </p:cNvPr>
              <p:cNvSpPr>
                <a:spLocks noRot="1" noChangeAspect="1" noMove="1" noResize="1" noEditPoints="1" noAdjustHandles="1" noChangeArrowheads="1" noChangeShapeType="1" noTextEdit="1"/>
              </p:cNvSpPr>
              <p:nvPr/>
            </p:nvSpPr>
            <p:spPr>
              <a:xfrm>
                <a:off x="4953000" y="4064000"/>
                <a:ext cx="6350000" cy="304800"/>
              </a:xfrm>
              <a:prstGeom prst="rect">
                <a:avLst/>
              </a:prstGeom>
              <a:blipFill>
                <a:blip r:embed="rId7"/>
                <a:stretch>
                  <a:fillRect l="-2017" t="-8000" b="-34000"/>
                </a:stretch>
              </a:blipFill>
              <a:ln w="12700" cap="flat" cmpd="sng">
                <a:noFill/>
                <a:prstDash val="solid"/>
                <a:roun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AutoShape 16">
                <a:extLst>
                  <a:ext uri="{FF2B5EF4-FFF2-40B4-BE49-F238E27FC236}">
                    <a16:creationId xmlns:a16="http://schemas.microsoft.com/office/drawing/2014/main" id="{B8D530C4-DCEC-339B-78FA-1B9D7EB2BDDF}"/>
                  </a:ext>
                </a:extLst>
              </p:cNvPr>
              <p:cNvSpPr/>
              <p:nvPr/>
            </p:nvSpPr>
            <p:spPr>
              <a:xfrm>
                <a:off x="4953000" y="4394200"/>
                <a:ext cx="6350000" cy="889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defRPr/>
                </a:pPr>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第一步：更新</a:t>
                </a:r>
                <a:r>
                  <a:rPr lang="en-US" sz="1400" b="0" i="0" u="none" strike="noStrike" dirty="0">
                    <a:solidFill>
                      <a:srgbClr val="666666"/>
                    </a:solidFill>
                    <a:latin typeface="+mj-ea"/>
                    <a:ea typeface="+mj-ea"/>
                    <a:cs typeface="Roboto"/>
                    <a:sym typeface="Roboto"/>
                  </a:rPr>
                  <a:t>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𝑤𝑎𝑙𝑙</m:t>
                    </m:r>
                  </m:oMath>
                </a14:m>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为</a:t>
                </a:r>
                <a14:m>
                  <m:oMath xmlns:m="http://schemas.openxmlformats.org/officeDocument/2006/math">
                    <m:r>
                      <m:rPr>
                        <m:sty m:val="p"/>
                      </m:rPr>
                      <a:rPr lang="en-US" sz="1400" b="1" i="1" u="none" strike="noStrike" dirty="0" smtClean="0">
                        <a:solidFill>
                          <a:srgbClr val="007AFF"/>
                        </a:solidFill>
                        <a:latin typeface="Cambria Math" panose="02040503050406030204" pitchFamily="18" charset="0"/>
                        <a:ea typeface="+mj-ea"/>
                        <a:cs typeface="Roboto"/>
                        <a:sym typeface="Roboto"/>
                      </a:rPr>
                      <m:t>max</m:t>
                    </m:r>
                    <m:r>
                      <a:rPr lang="en-US" sz="1400" b="1" i="1" u="none" strike="noStrike" dirty="0">
                        <a:solidFill>
                          <a:srgbClr val="007AFF"/>
                        </a:solidFill>
                        <a:latin typeface="Cambria Math" panose="02040503050406030204" pitchFamily="18" charset="0"/>
                        <a:ea typeface="+mj-ea"/>
                        <a:cs typeface="Roboto"/>
                        <a:sym typeface="Roboto"/>
                      </a:rPr>
                      <m:t>⁡(</m:t>
                    </m:r>
                    <m:r>
                      <a:rPr lang="en-US" sz="1400" b="1" i="1" u="none" strike="noStrike" dirty="0" err="1">
                        <a:solidFill>
                          <a:srgbClr val="007AFF"/>
                        </a:solidFill>
                        <a:latin typeface="Cambria Math" panose="02040503050406030204" pitchFamily="18" charset="0"/>
                        <a:ea typeface="+mj-ea"/>
                        <a:cs typeface="Roboto"/>
                        <a:sym typeface="Roboto"/>
                      </a:rPr>
                      <m:t>𝒐𝒍𝒅</m:t>
                    </m:r>
                    <m:r>
                      <a:rPr lang="en-US" sz="1400" b="1" i="1" u="none" strike="noStrike" dirty="0" err="1">
                        <a:solidFill>
                          <a:srgbClr val="007AFF"/>
                        </a:solidFill>
                        <a:latin typeface="Cambria Math" panose="02040503050406030204" pitchFamily="18" charset="0"/>
                        <a:ea typeface="+mj-ea"/>
                        <a:cs typeface="Roboto"/>
                        <a:sym typeface="Roboto"/>
                      </a:rPr>
                      <m:t>_</m:t>
                    </m:r>
                    <m:r>
                      <a:rPr lang="en-US" sz="1400" b="1" i="1" u="none" strike="noStrike" dirty="0" err="1">
                        <a:solidFill>
                          <a:srgbClr val="007AFF"/>
                        </a:solidFill>
                        <a:latin typeface="Cambria Math" panose="02040503050406030204" pitchFamily="18" charset="0"/>
                        <a:ea typeface="+mj-ea"/>
                        <a:cs typeface="Roboto"/>
                        <a:sym typeface="Roboto"/>
                      </a:rPr>
                      <m:t>𝒘𝒂𝒍𝒍</m:t>
                    </m:r>
                    <m:r>
                      <a:rPr lang="en-US" sz="1400" b="1" i="1" u="none" strike="noStrike" dirty="0">
                        <a:solidFill>
                          <a:srgbClr val="007AFF"/>
                        </a:solidFill>
                        <a:latin typeface="Cambria Math" panose="02040503050406030204" pitchFamily="18" charset="0"/>
                        <a:ea typeface="+mj-ea"/>
                        <a:cs typeface="Roboto"/>
                        <a:sym typeface="Roboto"/>
                      </a:rPr>
                      <m:t>, </m:t>
                    </m:r>
                    <m:r>
                      <a:rPr lang="en-US" sz="1400" b="1" i="1" u="none" strike="noStrike" dirty="0" err="1">
                        <a:solidFill>
                          <a:srgbClr val="007AFF"/>
                        </a:solidFill>
                        <a:latin typeface="Cambria Math" panose="02040503050406030204" pitchFamily="18" charset="0"/>
                        <a:ea typeface="+mj-ea"/>
                        <a:cs typeface="Roboto"/>
                        <a:sym typeface="Roboto"/>
                      </a:rPr>
                      <m:t>𝒎𝒔𝒈</m:t>
                    </m:r>
                    <m:r>
                      <a:rPr lang="en-US" sz="1400" b="1" i="1" u="none" strike="noStrike" dirty="0" err="1">
                        <a:solidFill>
                          <a:srgbClr val="007AFF"/>
                        </a:solidFill>
                        <a:latin typeface="Cambria Math" panose="02040503050406030204" pitchFamily="18" charset="0"/>
                        <a:ea typeface="+mj-ea"/>
                        <a:cs typeface="Roboto"/>
                        <a:sym typeface="Roboto"/>
                      </a:rPr>
                      <m:t>.</m:t>
                    </m:r>
                    <m:r>
                      <a:rPr lang="en-US" sz="1400" b="1" i="1" u="none" strike="noStrike" dirty="0" err="1">
                        <a:solidFill>
                          <a:srgbClr val="007AFF"/>
                        </a:solidFill>
                        <a:latin typeface="Cambria Math" panose="02040503050406030204" pitchFamily="18" charset="0"/>
                        <a:ea typeface="+mj-ea"/>
                        <a:cs typeface="Roboto"/>
                        <a:sym typeface="Roboto"/>
                      </a:rPr>
                      <m:t>𝒘𝒂𝒍𝒍</m:t>
                    </m:r>
                    <m:r>
                      <a:rPr lang="en-US" sz="1400" b="1" i="1" u="none" strike="noStrike" dirty="0">
                        <a:solidFill>
                          <a:srgbClr val="007AFF"/>
                        </a:solidFill>
                        <a:latin typeface="Cambria Math" panose="02040503050406030204" pitchFamily="18" charset="0"/>
                        <a:ea typeface="+mj-ea"/>
                        <a:cs typeface="Roboto"/>
                        <a:sym typeface="Roboto"/>
                      </a:rPr>
                      <m:t>, </m:t>
                    </m:r>
                    <m:r>
                      <a:rPr lang="en-US" sz="1400" b="1" i="1" u="none" strike="noStrike" dirty="0">
                        <a:solidFill>
                          <a:srgbClr val="007AFF"/>
                        </a:solidFill>
                        <a:latin typeface="Cambria Math" panose="02040503050406030204" pitchFamily="18" charset="0"/>
                        <a:ea typeface="+mj-ea"/>
                        <a:cs typeface="Roboto"/>
                        <a:sym typeface="Roboto"/>
                      </a:rPr>
                      <m:t>𝒑𝒕</m:t>
                    </m:r>
                    <m:r>
                      <a:rPr lang="en-US" sz="1400" b="1" i="1" u="none" strike="noStrike" dirty="0">
                        <a:solidFill>
                          <a:srgbClr val="007AFF"/>
                        </a:solidFill>
                        <a:latin typeface="Cambria Math" panose="02040503050406030204" pitchFamily="18" charset="0"/>
                        <a:ea typeface="+mj-ea"/>
                        <a:cs typeface="Roboto"/>
                        <a:sym typeface="Roboto"/>
                      </a:rPr>
                      <m:t>)</m:t>
                    </m:r>
                    <m:r>
                      <a:rPr lang="en-US" sz="1400" b="0" i="1" u="none" strike="noStrike" dirty="0">
                        <a:solidFill>
                          <a:srgbClr val="666666"/>
                        </a:solidFill>
                        <a:latin typeface="Cambria Math" panose="02040503050406030204" pitchFamily="18" charset="0"/>
                        <a:ea typeface="+mj-ea"/>
                        <a:cs typeface="Roboto"/>
                        <a:sym typeface="Roboto"/>
                      </a:rPr>
                      <m:t>。</m:t>
                    </m:r>
                  </m:oMath>
                </a14:m>
                <a:endParaRPr lang="en-US" sz="1100" dirty="0">
                  <a:latin typeface="+mj-ea"/>
                  <a:ea typeface="+mj-ea"/>
                </a:endParaRPr>
              </a:p>
              <a:p>
                <a:pPr indent="0" algn="l">
                  <a:lnSpc>
                    <a:spcPct val="100000"/>
                  </a:lnSpc>
                </a:pPr>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第二步：若新</a:t>
                </a:r>
                <a:r>
                  <a:rPr lang="en-US" sz="1400" b="0" i="0" u="none" strike="noStrike" dirty="0">
                    <a:solidFill>
                      <a:srgbClr val="666666"/>
                    </a:solidFill>
                    <a:latin typeface="+mj-ea"/>
                    <a:ea typeface="+mj-ea"/>
                    <a:cs typeface="Roboto"/>
                    <a:sym typeface="Roboto"/>
                  </a:rPr>
                  <a:t>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𝑤𝑎𝑙𝑙</m:t>
                    </m:r>
                  </m:oMath>
                </a14:m>
                <a:r>
                  <a:rPr lang="en-US" sz="1400" b="0" i="0" u="none" strike="noStrike" dirty="0">
                    <a:solidFill>
                      <a:srgbClr val="666666"/>
                    </a:solidFill>
                    <a:latin typeface="+mj-ea"/>
                    <a:ea typeface="+mj-ea"/>
                    <a:cs typeface="Roboto"/>
                    <a:sym typeface="Roboto"/>
                  </a:rPr>
                  <a:t> </a:t>
                </a:r>
                <a:r>
                  <a:rPr lang="en-US" sz="1400" b="0" i="0" u="none" strike="noStrike" dirty="0" err="1">
                    <a:solidFill>
                      <a:srgbClr val="666666"/>
                    </a:solidFill>
                    <a:latin typeface="+mj-ea"/>
                    <a:ea typeface="+mj-ea"/>
                    <a:cs typeface="Roboto"/>
                    <a:sym typeface="Roboto"/>
                  </a:rPr>
                  <a:t>大于两者，</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oMath>
                </a14:m>
                <a:r>
                  <a:rPr lang="en-US" sz="1400" b="0" i="0" u="none" strike="noStrike" dirty="0">
                    <a:solidFill>
                      <a:srgbClr val="666666"/>
                    </a:solidFill>
                    <a:latin typeface="+mj-ea"/>
                    <a:ea typeface="+mj-ea"/>
                    <a:cs typeface="Roboto"/>
                    <a:sym typeface="Roboto"/>
                  </a:rPr>
                  <a:t> 置 0；若等于旧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𝑤𝑎𝑙𝑙</m:t>
                    </m:r>
                    <m:r>
                      <a:rPr lang="en-US" sz="1400" b="0" i="1" u="none" strike="noStrike" dirty="0" smtClean="0">
                        <a:solidFill>
                          <a:srgbClr val="666666"/>
                        </a:solidFill>
                        <a:latin typeface="Cambria Math" panose="02040503050406030204" pitchFamily="18" charset="0"/>
                        <a:ea typeface="+mj-ea"/>
                        <a:cs typeface="Roboto"/>
                        <a:sym typeface="Roboto"/>
                      </a:rPr>
                      <m:t>，</m:t>
                    </m:r>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r>
                      <a:rPr lang="en-US" sz="1400" b="0" i="1" u="none" strike="noStrike" dirty="0">
                        <a:solidFill>
                          <a:srgbClr val="666666"/>
                        </a:solidFill>
                        <a:latin typeface="Cambria Math" panose="02040503050406030204" pitchFamily="18" charset="0"/>
                        <a:ea typeface="+mj-ea"/>
                        <a:cs typeface="Roboto"/>
                        <a:sym typeface="Roboto"/>
                      </a:rPr>
                      <m:t> </m:t>
                    </m:r>
                  </m:oMath>
                </a14:m>
                <a:r>
                  <a:rPr lang="en-US" sz="1400" b="0" i="0" u="none" strike="noStrike" dirty="0" err="1">
                    <a:solidFill>
                      <a:srgbClr val="666666"/>
                    </a:solidFill>
                    <a:latin typeface="+mj-ea"/>
                    <a:ea typeface="+mj-ea"/>
                    <a:cs typeface="Roboto"/>
                    <a:sym typeface="Roboto"/>
                  </a:rPr>
                  <a:t>自增；若等于</a:t>
                </a:r>
                <a:r>
                  <a:rPr lang="en-US" sz="1400" b="0" i="0" u="none" strike="noStrike" dirty="0">
                    <a:solidFill>
                      <a:srgbClr val="666666"/>
                    </a:solidFill>
                    <a:latin typeface="+mj-ea"/>
                    <a:ea typeface="+mj-ea"/>
                    <a:cs typeface="Roboto"/>
                    <a:sym typeface="Roboto"/>
                  </a:rPr>
                  <a:t> </a:t>
                </a:r>
                <a14:m>
                  <m:oMath xmlns:m="http://schemas.openxmlformats.org/officeDocument/2006/math">
                    <m:r>
                      <a:rPr lang="en-US" sz="1400" b="0" i="1" u="none" strike="noStrike" dirty="0" smtClean="0">
                        <a:solidFill>
                          <a:srgbClr val="666666"/>
                        </a:solidFill>
                        <a:latin typeface="Cambria Math" panose="02040503050406030204" pitchFamily="18" charset="0"/>
                        <a:ea typeface="+mj-ea"/>
                        <a:cs typeface="Roboto"/>
                        <a:sym typeface="Roboto"/>
                      </a:rPr>
                      <m:t>𝑚𝑠𝑔</m:t>
                    </m:r>
                    <m:r>
                      <a:rPr lang="en-US" sz="1400" b="0" i="1" u="none" strike="noStrike" dirty="0" smtClean="0">
                        <a:solidFill>
                          <a:srgbClr val="666666"/>
                        </a:solidFill>
                        <a:latin typeface="Cambria Math" panose="02040503050406030204" pitchFamily="18" charset="0"/>
                        <a:ea typeface="+mj-ea"/>
                        <a:cs typeface="Roboto"/>
                        <a:sym typeface="Roboto"/>
                      </a:rPr>
                      <m:t>.</m:t>
                    </m:r>
                    <m:r>
                      <a:rPr lang="en-US" sz="1400" b="0" i="1" u="none" strike="noStrike" dirty="0" smtClean="0">
                        <a:solidFill>
                          <a:srgbClr val="666666"/>
                        </a:solidFill>
                        <a:latin typeface="Cambria Math" panose="02040503050406030204" pitchFamily="18" charset="0"/>
                        <a:ea typeface="+mj-ea"/>
                        <a:cs typeface="Roboto"/>
                        <a:sym typeface="Roboto"/>
                      </a:rPr>
                      <m:t>𝑤𝑎𝑙𝑙</m:t>
                    </m:r>
                    <m:r>
                      <a:rPr lang="en-US" sz="1400" b="0" i="1" u="none" strike="noStrike" dirty="0" smtClean="0">
                        <a:solidFill>
                          <a:srgbClr val="666666"/>
                        </a:solidFill>
                        <a:latin typeface="Cambria Math" panose="02040503050406030204" pitchFamily="18" charset="0"/>
                        <a:ea typeface="+mj-ea"/>
                        <a:cs typeface="Roboto"/>
                        <a:sym typeface="Roboto"/>
                      </a:rPr>
                      <m:t>，</m:t>
                    </m:r>
                    <m:r>
                      <a:rPr lang="en-US" sz="1400" b="0" i="1" u="none" strike="noStrike" dirty="0" smtClean="0">
                        <a:solidFill>
                          <a:srgbClr val="666666"/>
                        </a:solidFill>
                        <a:latin typeface="Cambria Math" panose="02040503050406030204" pitchFamily="18" charset="0"/>
                        <a:ea typeface="+mj-ea"/>
                        <a:cs typeface="Roboto"/>
                        <a:sym typeface="Roboto"/>
                      </a:rPr>
                      <m:t>𝑙𝑜𝑔𝑖𝑐𝑎𝑙</m:t>
                    </m:r>
                    <m:r>
                      <a:rPr lang="en-US" sz="1400" b="0" i="1" u="none" strike="noStrike" dirty="0">
                        <a:solidFill>
                          <a:srgbClr val="666666"/>
                        </a:solidFill>
                        <a:latin typeface="Cambria Math" panose="02040503050406030204" pitchFamily="18" charset="0"/>
                        <a:ea typeface="+mj-ea"/>
                        <a:cs typeface="Roboto"/>
                        <a:sym typeface="Roboto"/>
                      </a:rPr>
                      <m:t> </m:t>
                    </m:r>
                  </m:oMath>
                </a14:m>
                <a:r>
                  <a:rPr lang="en-US" sz="1400" b="0" i="0" u="none" strike="noStrike" dirty="0" err="1">
                    <a:solidFill>
                      <a:srgbClr val="666666"/>
                    </a:solidFill>
                    <a:latin typeface="+mj-ea"/>
                    <a:ea typeface="+mj-ea"/>
                    <a:cs typeface="Roboto"/>
                    <a:sym typeface="Roboto"/>
                  </a:rPr>
                  <a:t>取两者最大值加</a:t>
                </a:r>
                <a:r>
                  <a:rPr lang="en-US" sz="1400" b="0" i="0" u="none" strike="noStrike" dirty="0">
                    <a:solidFill>
                      <a:srgbClr val="666666"/>
                    </a:solidFill>
                    <a:latin typeface="+mj-ea"/>
                    <a:ea typeface="+mj-ea"/>
                    <a:cs typeface="Roboto"/>
                    <a:sym typeface="Roboto"/>
                  </a:rPr>
                  <a:t> 1。</a:t>
                </a:r>
              </a:p>
            </p:txBody>
          </p:sp>
        </mc:Choice>
        <mc:Fallback>
          <p:sp>
            <p:nvSpPr>
              <p:cNvPr id="16" name="AutoShape 16">
                <a:extLst>
                  <a:ext uri="{FF2B5EF4-FFF2-40B4-BE49-F238E27FC236}">
                    <a16:creationId xmlns:a16="http://schemas.microsoft.com/office/drawing/2014/main" id="{B8D530C4-DCEC-339B-78FA-1B9D7EB2BDDF}"/>
                  </a:ext>
                </a:extLst>
              </p:cNvPr>
              <p:cNvSpPr>
                <a:spLocks noRot="1" noChangeAspect="1" noMove="1" noResize="1" noEditPoints="1" noAdjustHandles="1" noChangeArrowheads="1" noChangeShapeType="1" noTextEdit="1"/>
              </p:cNvSpPr>
              <p:nvPr/>
            </p:nvSpPr>
            <p:spPr>
              <a:xfrm>
                <a:off x="4953000" y="4394200"/>
                <a:ext cx="6350000" cy="889000"/>
              </a:xfrm>
              <a:prstGeom prst="rect">
                <a:avLst/>
              </a:prstGeom>
              <a:blipFill>
                <a:blip r:embed="rId8"/>
                <a:stretch>
                  <a:fillRect l="-1729" r="-672"/>
                </a:stretch>
              </a:blipFill>
              <a:ln w="12700" cap="flat" cmpd="sng">
                <a:noFill/>
                <a:prstDash val="solid"/>
                <a:round/>
              </a:ln>
            </p:spPr>
            <p:txBody>
              <a:bodyPr/>
              <a:lstStyle/>
              <a:p>
                <a:r>
                  <a:rPr lang="zh-CN" altLang="en-US">
                    <a:noFill/>
                  </a:rPr>
                  <a:t> </a:t>
                </a:r>
              </a:p>
            </p:txBody>
          </p:sp>
        </mc:Fallback>
      </mc:AlternateContent>
      <p:sp>
        <p:nvSpPr>
          <p:cNvPr id="18" name="矩形 17">
            <a:extLst>
              <a:ext uri="{FF2B5EF4-FFF2-40B4-BE49-F238E27FC236}">
                <a16:creationId xmlns:a16="http://schemas.microsoft.com/office/drawing/2014/main" id="{EAF4FA1E-2535-0794-4919-94EB77D08A41}"/>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13</a:t>
            </a:r>
            <a:endParaRPr lang="zh-CN" altLang="en-US" dirty="0"/>
          </a:p>
        </p:txBody>
      </p:sp>
    </p:spTree>
    <p:extLst>
      <p:ext uri="{BB962C8B-B14F-4D97-AF65-F5344CB8AC3E}">
        <p14:creationId xmlns:p14="http://schemas.microsoft.com/office/powerpoint/2010/main" val="13356508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F5CB5BB-F73D-57FE-B9EA-C3E4AF81C5F3}"/>
              </a:ext>
            </a:extLst>
          </p:cNvPr>
          <p:cNvSpPr>
            <a:spLocks noGrp="1"/>
          </p:cNvSpPr>
          <p:nvPr>
            <p:ph type="body" sz="quarter" idx="13"/>
          </p:nvPr>
        </p:nvSpPr>
        <p:spPr>
          <a:xfrm>
            <a:off x="1032184" y="328713"/>
            <a:ext cx="10834208" cy="523220"/>
          </a:xfrm>
        </p:spPr>
        <p:txBody>
          <a:bodyPr/>
          <a:lstStyle/>
          <a:p>
            <a:r>
              <a:rPr lang="zh-CN" altLang="en-US" dirty="0"/>
              <a:t>分布式键值数据库操作语义的设计</a:t>
            </a:r>
            <a:endParaRPr lang="zh-CN" altLang="en-US" baseline="30000" dirty="0"/>
          </a:p>
        </p:txBody>
      </p:sp>
      <p:pic>
        <p:nvPicPr>
          <p:cNvPr id="13" name="图片 12">
            <a:extLst>
              <a:ext uri="{FF2B5EF4-FFF2-40B4-BE49-F238E27FC236}">
                <a16:creationId xmlns:a16="http://schemas.microsoft.com/office/drawing/2014/main" id="{40F82D2A-86A7-5A92-00C6-4023B44E1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5450"/>
            <a:ext cx="12192000" cy="4167100"/>
          </a:xfrm>
          <a:prstGeom prst="rect">
            <a:avLst/>
          </a:prstGeom>
        </p:spPr>
      </p:pic>
      <p:sp>
        <p:nvSpPr>
          <p:cNvPr id="14" name="矩形 13">
            <a:extLst>
              <a:ext uri="{FF2B5EF4-FFF2-40B4-BE49-F238E27FC236}">
                <a16:creationId xmlns:a16="http://schemas.microsoft.com/office/drawing/2014/main" id="{3A61BB26-3654-9270-8587-21D8D46A0CCC}"/>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14</a:t>
            </a:r>
            <a:endParaRPr lang="zh-CN" altLang="en-US" dirty="0"/>
          </a:p>
        </p:txBody>
      </p:sp>
    </p:spTree>
    <p:extLst>
      <p:ext uri="{BB962C8B-B14F-4D97-AF65-F5344CB8AC3E}">
        <p14:creationId xmlns:p14="http://schemas.microsoft.com/office/powerpoint/2010/main" val="32247841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46BEB-69A6-8E94-AF8B-9F9F1B67CE9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94AC647C-2E05-705D-9E83-1B75856E4877}"/>
              </a:ext>
            </a:extLst>
          </p:cNvPr>
          <p:cNvSpPr>
            <a:spLocks noGrp="1"/>
          </p:cNvSpPr>
          <p:nvPr>
            <p:ph type="body" sz="quarter" idx="13"/>
          </p:nvPr>
        </p:nvSpPr>
        <p:spPr>
          <a:xfrm>
            <a:off x="1032184" y="328713"/>
            <a:ext cx="10834208" cy="523220"/>
          </a:xfrm>
        </p:spPr>
        <p:txBody>
          <a:bodyPr/>
          <a:lstStyle/>
          <a:p>
            <a:r>
              <a:rPr lang="zh-CN" altLang="en-US" dirty="0"/>
              <a:t>分布式键值数据库操作语义的设计</a:t>
            </a:r>
            <a:endParaRPr lang="zh-CN" altLang="en-US" baseline="30000" dirty="0"/>
          </a:p>
        </p:txBody>
      </p:sp>
      <p:pic>
        <p:nvPicPr>
          <p:cNvPr id="13" name="图片 12">
            <a:extLst>
              <a:ext uri="{FF2B5EF4-FFF2-40B4-BE49-F238E27FC236}">
                <a16:creationId xmlns:a16="http://schemas.microsoft.com/office/drawing/2014/main" id="{DDACD379-9931-0527-8794-A4E947ACEA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04721"/>
            <a:ext cx="12192000" cy="4167100"/>
          </a:xfrm>
          <a:prstGeom prst="rect">
            <a:avLst/>
          </a:prstGeom>
        </p:spPr>
      </p:pic>
      <p:sp>
        <p:nvSpPr>
          <p:cNvPr id="3" name="文本框 2">
            <a:extLst>
              <a:ext uri="{FF2B5EF4-FFF2-40B4-BE49-F238E27FC236}">
                <a16:creationId xmlns:a16="http://schemas.microsoft.com/office/drawing/2014/main" id="{71C74393-9E04-8748-9684-8DF9BA30D1D8}"/>
              </a:ext>
            </a:extLst>
          </p:cNvPr>
          <p:cNvSpPr txBox="1"/>
          <p:nvPr/>
        </p:nvSpPr>
        <p:spPr>
          <a:xfrm>
            <a:off x="1893094" y="3900488"/>
            <a:ext cx="184731" cy="369332"/>
          </a:xfrm>
          <a:prstGeom prst="rect">
            <a:avLst/>
          </a:prstGeom>
          <a:noFill/>
        </p:spPr>
        <p:txBody>
          <a:bodyPr wrap="none" rtlCol="0">
            <a:spAutoFit/>
          </a:bodyPr>
          <a:lstStyle/>
          <a:p>
            <a:endParaRPr lang="zh-CN" altLang="en-US" dirty="0"/>
          </a:p>
        </p:txBody>
      </p:sp>
      <p:sp>
        <p:nvSpPr>
          <p:cNvPr id="4" name="矩形: 圆角 3">
            <a:extLst>
              <a:ext uri="{FF2B5EF4-FFF2-40B4-BE49-F238E27FC236}">
                <a16:creationId xmlns:a16="http://schemas.microsoft.com/office/drawing/2014/main" id="{2F9D830B-F86D-1B83-2EF6-4D1CCE8CAC7F}"/>
              </a:ext>
            </a:extLst>
          </p:cNvPr>
          <p:cNvSpPr/>
          <p:nvPr/>
        </p:nvSpPr>
        <p:spPr>
          <a:xfrm>
            <a:off x="1032184" y="4155520"/>
            <a:ext cx="2641600" cy="1582021"/>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b="1" dirty="0">
                <a:solidFill>
                  <a:srgbClr val="7030A0"/>
                </a:solidFill>
              </a:rPr>
              <a:t>CC</a:t>
            </a:r>
            <a:r>
              <a:rPr lang="zh-CN" altLang="en-US" sz="1400" b="1" dirty="0">
                <a:solidFill>
                  <a:srgbClr val="7030A0"/>
                </a:solidFill>
              </a:rPr>
              <a:t>定制：</a:t>
            </a:r>
            <a:br>
              <a:rPr lang="en-US" altLang="zh-CN" sz="1400" dirty="0">
                <a:solidFill>
                  <a:srgbClr val="7030A0"/>
                </a:solidFill>
              </a:rPr>
            </a:br>
            <a:r>
              <a:rPr lang="zh-CN" altLang="en-US" sz="1400" dirty="0">
                <a:solidFill>
                  <a:srgbClr val="7030A0"/>
                </a:solidFill>
              </a:rPr>
              <a:t>不是简单取当前时间，而是让事务继承客户端维护的依赖时间戳 </a:t>
            </a:r>
            <a:r>
              <a:rPr lang="en-US" altLang="zh-CN" sz="1400" dirty="0">
                <a:solidFill>
                  <a:srgbClr val="7030A0"/>
                </a:solidFill>
              </a:rPr>
              <a:t>dep </a:t>
            </a:r>
            <a:r>
              <a:rPr lang="zh-CN" altLang="en-US" sz="1400" dirty="0">
                <a:solidFill>
                  <a:srgbClr val="7030A0"/>
                </a:solidFill>
              </a:rPr>
              <a:t>作为快照起点，从而保证 </a:t>
            </a:r>
            <a:r>
              <a:rPr lang="en-US" altLang="zh-CN" sz="1400" dirty="0">
                <a:solidFill>
                  <a:srgbClr val="7030A0"/>
                </a:solidFill>
              </a:rPr>
              <a:t>Session + </a:t>
            </a:r>
            <a:r>
              <a:rPr lang="en-US" altLang="zh-CN" sz="1400" dirty="0" err="1">
                <a:solidFill>
                  <a:srgbClr val="7030A0"/>
                </a:solidFill>
              </a:rPr>
              <a:t>TransVis</a:t>
            </a:r>
            <a:r>
              <a:rPr lang="zh-CN" altLang="en-US" sz="1400" dirty="0">
                <a:solidFill>
                  <a:srgbClr val="7030A0"/>
                </a:solidFill>
              </a:rPr>
              <a:t>，也就是因果依赖必须可见。</a:t>
            </a:r>
          </a:p>
        </p:txBody>
      </p:sp>
      <p:sp>
        <p:nvSpPr>
          <p:cNvPr id="5" name="矩形: 圆角 4">
            <a:extLst>
              <a:ext uri="{FF2B5EF4-FFF2-40B4-BE49-F238E27FC236}">
                <a16:creationId xmlns:a16="http://schemas.microsoft.com/office/drawing/2014/main" id="{648C57B6-9362-DDC1-18F9-59B70F1AF559}"/>
              </a:ext>
            </a:extLst>
          </p:cNvPr>
          <p:cNvSpPr/>
          <p:nvPr/>
        </p:nvSpPr>
        <p:spPr>
          <a:xfrm>
            <a:off x="7660270" y="925920"/>
            <a:ext cx="2641600" cy="1582021"/>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b="1" dirty="0">
                <a:solidFill>
                  <a:srgbClr val="7030A0"/>
                </a:solidFill>
              </a:rPr>
              <a:t>PC</a:t>
            </a:r>
            <a:r>
              <a:rPr lang="zh-CN" altLang="en-US" sz="1400" b="1" dirty="0">
                <a:solidFill>
                  <a:srgbClr val="7030A0"/>
                </a:solidFill>
              </a:rPr>
              <a:t>定制：</a:t>
            </a:r>
            <a:br>
              <a:rPr lang="en-US" altLang="zh-CN" sz="1400" dirty="0">
                <a:solidFill>
                  <a:srgbClr val="7030A0"/>
                </a:solidFill>
              </a:rPr>
            </a:br>
            <a:r>
              <a:rPr lang="zh-CN" altLang="en-US" sz="1400" dirty="0">
                <a:solidFill>
                  <a:srgbClr val="7030A0"/>
                </a:solidFill>
              </a:rPr>
              <a:t>读请求如果遇到某个键正被一个 </a:t>
            </a:r>
            <a:r>
              <a:rPr lang="en-US" altLang="zh-CN" sz="1400" dirty="0" err="1">
                <a:solidFill>
                  <a:srgbClr val="7030A0"/>
                </a:solidFill>
              </a:rPr>
              <a:t>prepare_time</a:t>
            </a:r>
            <a:r>
              <a:rPr lang="en-US" altLang="zh-CN" sz="1400" dirty="0">
                <a:solidFill>
                  <a:srgbClr val="7030A0"/>
                </a:solidFill>
              </a:rPr>
              <a:t> &lt;= </a:t>
            </a:r>
            <a:r>
              <a:rPr lang="en-US" altLang="zh-CN" sz="1400" dirty="0" err="1">
                <a:solidFill>
                  <a:srgbClr val="7030A0"/>
                </a:solidFill>
              </a:rPr>
              <a:t>snapshot_time</a:t>
            </a:r>
            <a:r>
              <a:rPr lang="en-US" altLang="zh-CN" sz="1400" dirty="0">
                <a:solidFill>
                  <a:srgbClr val="7030A0"/>
                </a:solidFill>
              </a:rPr>
              <a:t> </a:t>
            </a:r>
            <a:r>
              <a:rPr lang="zh-CN" altLang="en-US" sz="1400" dirty="0">
                <a:solidFill>
                  <a:srgbClr val="7030A0"/>
                </a:solidFill>
              </a:rPr>
              <a:t>的预提交事务修改，就必须等待该事务提交或中止</a:t>
            </a:r>
          </a:p>
        </p:txBody>
      </p:sp>
      <p:pic>
        <p:nvPicPr>
          <p:cNvPr id="7" name="图片 6">
            <a:extLst>
              <a:ext uri="{FF2B5EF4-FFF2-40B4-BE49-F238E27FC236}">
                <a16:creationId xmlns:a16="http://schemas.microsoft.com/office/drawing/2014/main" id="{57D821C8-C0A7-016C-EDD2-61B4EC7CB953}"/>
              </a:ext>
            </a:extLst>
          </p:cNvPr>
          <p:cNvPicPr>
            <a:picLocks noChangeAspect="1"/>
          </p:cNvPicPr>
          <p:nvPr/>
        </p:nvPicPr>
        <p:blipFill>
          <a:blip r:embed="rId3"/>
          <a:stretch>
            <a:fillRect/>
          </a:stretch>
        </p:blipFill>
        <p:spPr>
          <a:xfrm>
            <a:off x="10494643" y="883234"/>
            <a:ext cx="1697357" cy="1842975"/>
          </a:xfrm>
          <a:prstGeom prst="rect">
            <a:avLst/>
          </a:prstGeom>
        </p:spPr>
      </p:pic>
      <p:sp>
        <p:nvSpPr>
          <p:cNvPr id="8" name="矩形 7">
            <a:extLst>
              <a:ext uri="{FF2B5EF4-FFF2-40B4-BE49-F238E27FC236}">
                <a16:creationId xmlns:a16="http://schemas.microsoft.com/office/drawing/2014/main" id="{92BC3C11-87AA-173E-EC1D-8919BD64EA93}"/>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15</a:t>
            </a:r>
            <a:endParaRPr lang="zh-CN" altLang="en-US" dirty="0"/>
          </a:p>
        </p:txBody>
      </p:sp>
    </p:spTree>
    <p:extLst>
      <p:ext uri="{BB962C8B-B14F-4D97-AF65-F5344CB8AC3E}">
        <p14:creationId xmlns:p14="http://schemas.microsoft.com/office/powerpoint/2010/main" val="19398926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485580A-8F21-DEED-9083-5478D1AAE3B0}"/>
              </a:ext>
            </a:extLst>
          </p:cNvPr>
          <p:cNvSpPr>
            <a:spLocks noGrp="1"/>
          </p:cNvSpPr>
          <p:nvPr>
            <p:ph type="body" sz="quarter" idx="13"/>
          </p:nvPr>
        </p:nvSpPr>
        <p:spPr/>
        <p:txBody>
          <a:bodyPr/>
          <a:lstStyle/>
          <a:p>
            <a:r>
              <a:rPr lang="zh-CN" altLang="en-US" dirty="0">
                <a:latin typeface="+mj-ea"/>
                <a:ea typeface="+mj-ea"/>
              </a:rPr>
              <a:t>两阶段提交和冲突解决</a:t>
            </a:r>
          </a:p>
        </p:txBody>
      </p:sp>
      <p:sp>
        <p:nvSpPr>
          <p:cNvPr id="3" name="AutoShape 11">
            <a:extLst>
              <a:ext uri="{FF2B5EF4-FFF2-40B4-BE49-F238E27FC236}">
                <a16:creationId xmlns:a16="http://schemas.microsoft.com/office/drawing/2014/main" id="{55A87607-9E8C-8A4C-1AE4-8C336417A81B}"/>
              </a:ext>
            </a:extLst>
          </p:cNvPr>
          <p:cNvSpPr/>
          <p:nvPr/>
        </p:nvSpPr>
        <p:spPr>
          <a:xfrm>
            <a:off x="7664053" y="376407"/>
            <a:ext cx="4094559" cy="427832"/>
          </a:xfrm>
          <a:prstGeom prst="roundRect">
            <a:avLst>
              <a:gd name="adj" fmla="val 588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zh-CN" altLang="en-US" dirty="0">
                <a:latin typeface="+mj-ea"/>
                <a:ea typeface="+mj-ea"/>
              </a:rPr>
              <a:t>针对</a:t>
            </a:r>
            <a:r>
              <a:rPr lang="en-US" altLang="zh-CN" dirty="0">
                <a:latin typeface="+mj-ea"/>
                <a:ea typeface="+mj-ea"/>
              </a:rPr>
              <a:t>PSI</a:t>
            </a:r>
            <a:r>
              <a:rPr lang="zh-CN" altLang="en-US" dirty="0">
                <a:latin typeface="+mj-ea"/>
                <a:ea typeface="+mj-ea"/>
              </a:rPr>
              <a:t>、</a:t>
            </a:r>
            <a:r>
              <a:rPr lang="en-US" altLang="zh-CN" dirty="0">
                <a:latin typeface="+mj-ea"/>
                <a:ea typeface="+mj-ea"/>
              </a:rPr>
              <a:t>SI</a:t>
            </a:r>
            <a:r>
              <a:rPr lang="zh-CN" altLang="en-US" dirty="0">
                <a:latin typeface="+mj-ea"/>
                <a:ea typeface="+mj-ea"/>
              </a:rPr>
              <a:t>、</a:t>
            </a:r>
            <a:r>
              <a:rPr lang="en-US" altLang="zh-CN" dirty="0">
                <a:latin typeface="+mj-ea"/>
                <a:ea typeface="+mj-ea"/>
              </a:rPr>
              <a:t>SER</a:t>
            </a:r>
            <a:r>
              <a:rPr lang="zh-CN" altLang="en-US" dirty="0">
                <a:latin typeface="+mj-ea"/>
                <a:ea typeface="+mj-ea"/>
              </a:rPr>
              <a:t>的冲突解决机制</a:t>
            </a:r>
            <a:endParaRPr dirty="0">
              <a:latin typeface="+mj-ea"/>
              <a:ea typeface="+mj-ea"/>
            </a:endParaRPr>
          </a:p>
        </p:txBody>
      </p:sp>
      <p:sp>
        <p:nvSpPr>
          <p:cNvPr id="4" name="AutoShape 5">
            <a:extLst>
              <a:ext uri="{FF2B5EF4-FFF2-40B4-BE49-F238E27FC236}">
                <a16:creationId xmlns:a16="http://schemas.microsoft.com/office/drawing/2014/main" id="{62CF46BC-A307-3773-5847-9FB94290CF87}"/>
              </a:ext>
            </a:extLst>
          </p:cNvPr>
          <p:cNvSpPr/>
          <p:nvPr/>
        </p:nvSpPr>
        <p:spPr>
          <a:xfrm>
            <a:off x="3175000" y="1397000"/>
            <a:ext cx="5842000" cy="1905000"/>
          </a:xfrm>
          <a:prstGeom prst="roundRect">
            <a:avLst>
              <a:gd name="adj" fmla="val 6666"/>
            </a:avLst>
          </a:prstGeom>
          <a:solidFill>
            <a:srgbClr val="007AFF">
              <a:alpha val="5000"/>
            </a:srgbClr>
          </a:solidFill>
          <a:ln cap="flat" cmpd="sng">
            <a:solidFill>
              <a:srgbClr val="006EE6">
                <a:alpha val="5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5" name="Picture 6">
            <a:extLst>
              <a:ext uri="{FF2B5EF4-FFF2-40B4-BE49-F238E27FC236}">
                <a16:creationId xmlns:a16="http://schemas.microsoft.com/office/drawing/2014/main" id="{527DF8A4-0113-08C9-85B5-51B30A17B3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65500" y="1587500"/>
            <a:ext cx="304800" cy="304800"/>
          </a:xfrm>
          <a:prstGeom prst="rect">
            <a:avLst/>
          </a:prstGeom>
        </p:spPr>
      </p:pic>
      <p:sp>
        <p:nvSpPr>
          <p:cNvPr id="6" name="AutoShape 7">
            <a:extLst>
              <a:ext uri="{FF2B5EF4-FFF2-40B4-BE49-F238E27FC236}">
                <a16:creationId xmlns:a16="http://schemas.microsoft.com/office/drawing/2014/main" id="{CF94C4CA-7760-0DC4-4CE2-C4481C6F909E}"/>
              </a:ext>
            </a:extLst>
          </p:cNvPr>
          <p:cNvSpPr/>
          <p:nvPr/>
        </p:nvSpPr>
        <p:spPr>
          <a:xfrm>
            <a:off x="3746500" y="1549400"/>
            <a:ext cx="5080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007AFF"/>
                </a:solidFill>
                <a:latin typeface="+mj-ea"/>
                <a:ea typeface="+mj-ea"/>
                <a:cs typeface="Roboto"/>
                <a:sym typeface="Roboto"/>
              </a:rPr>
              <a:t>PSI/SI 处理写冲突 (Write-Write Conflict)</a:t>
            </a:r>
            <a:endParaRPr lang="en-US" sz="1100">
              <a:latin typeface="+mj-ea"/>
              <a:ea typeface="+mj-ea"/>
            </a:endParaRPr>
          </a:p>
        </p:txBody>
      </p:sp>
      <p:sp>
        <p:nvSpPr>
          <p:cNvPr id="7" name="AutoShape 8">
            <a:extLst>
              <a:ext uri="{FF2B5EF4-FFF2-40B4-BE49-F238E27FC236}">
                <a16:creationId xmlns:a16="http://schemas.microsoft.com/office/drawing/2014/main" id="{088DF9F4-E4A7-66F1-B468-F9660130F68D}"/>
              </a:ext>
            </a:extLst>
          </p:cNvPr>
          <p:cNvSpPr/>
          <p:nvPr/>
        </p:nvSpPr>
        <p:spPr>
          <a:xfrm>
            <a:off x="3365500" y="1968500"/>
            <a:ext cx="5461000" cy="1206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7800" indent="-177800" algn="l">
              <a:lnSpc>
                <a:spcPct val="100000"/>
              </a:lnSpc>
              <a:buClr>
                <a:srgbClr val="333333"/>
              </a:buClr>
              <a:buChar char="•"/>
              <a:defRPr/>
            </a:pPr>
            <a:r>
              <a:rPr lang="en-US" sz="1400" b="1" i="0" u="none" strike="noStrike">
                <a:solidFill>
                  <a:srgbClr val="333333"/>
                </a:solidFill>
                <a:latin typeface="+mj-ea"/>
                <a:ea typeface="+mj-ea"/>
                <a:cs typeface="Roboto"/>
                <a:sym typeface="Roboto"/>
              </a:rPr>
              <a:t>延迟加锁：</a:t>
            </a:r>
            <a:r>
              <a:rPr lang="en-US" sz="1400" b="0" i="0" u="none" strike="noStrike">
                <a:solidFill>
                  <a:srgbClr val="555555"/>
                </a:solidFill>
                <a:latin typeface="+mj-ea"/>
                <a:ea typeface="+mj-ea"/>
                <a:cs typeface="Roboto"/>
                <a:sym typeface="Roboto"/>
              </a:rPr>
              <a:t>执行阶段不加锁，写操作先存入私有缓冲区。</a:t>
            </a:r>
            <a:endParaRPr lang="en-US" sz="1100">
              <a:latin typeface="+mj-ea"/>
              <a:ea typeface="+mj-ea"/>
            </a:endParaRPr>
          </a:p>
          <a:p>
            <a:pPr marL="177800" indent="-177800" algn="l">
              <a:lnSpc>
                <a:spcPct val="100000"/>
              </a:lnSpc>
              <a:buClr>
                <a:srgbClr val="333333"/>
              </a:buClr>
              <a:buChar char="•"/>
            </a:pPr>
            <a:r>
              <a:rPr lang="en-US" sz="1400" b="1" i="0" u="none" strike="noStrike">
                <a:solidFill>
                  <a:srgbClr val="333333"/>
                </a:solidFill>
                <a:latin typeface="+mj-ea"/>
                <a:ea typeface="+mj-ea"/>
                <a:cs typeface="Roboto"/>
                <a:sym typeface="Roboto"/>
              </a:rPr>
              <a:t>提交验证：</a:t>
            </a:r>
            <a:r>
              <a:rPr lang="en-US" sz="1400" b="0" i="0" u="none" strike="noStrike">
                <a:solidFill>
                  <a:srgbClr val="555555"/>
                </a:solidFill>
                <a:latin typeface="+mj-ea"/>
                <a:ea typeface="+mj-ea"/>
                <a:cs typeface="Roboto"/>
                <a:sym typeface="Roboto"/>
              </a:rPr>
              <a:t>Commit阶段检查sts-cts间是否有其他事务修改同Key。</a:t>
            </a:r>
          </a:p>
          <a:p>
            <a:pPr marL="177800" indent="-177800" algn="l">
              <a:lnSpc>
                <a:spcPct val="100000"/>
              </a:lnSpc>
              <a:buClr>
                <a:srgbClr val="333333"/>
              </a:buClr>
              <a:buChar char="•"/>
            </a:pPr>
            <a:r>
              <a:rPr lang="en-US" sz="1400" b="1" i="0" u="none" strike="noStrike">
                <a:solidFill>
                  <a:srgbClr val="333333"/>
                </a:solidFill>
                <a:latin typeface="+mj-ea"/>
                <a:ea typeface="+mj-ea"/>
                <a:cs typeface="Roboto"/>
                <a:sym typeface="Roboto"/>
              </a:rPr>
              <a:t>冲突处理：</a:t>
            </a:r>
            <a:r>
              <a:rPr lang="en-US" sz="1400" b="0" i="0" u="none" strike="noStrike">
                <a:solidFill>
                  <a:srgbClr val="555555"/>
                </a:solidFill>
                <a:latin typeface="+mj-ea"/>
                <a:ea typeface="+mj-ea"/>
                <a:cs typeface="Roboto"/>
                <a:sym typeface="Roboto"/>
              </a:rPr>
              <a:t>若检测到冲突，当前事务直接中止 (Abort)。</a:t>
            </a:r>
          </a:p>
        </p:txBody>
      </p:sp>
      <p:sp>
        <p:nvSpPr>
          <p:cNvPr id="8" name="AutoShape 9">
            <a:extLst>
              <a:ext uri="{FF2B5EF4-FFF2-40B4-BE49-F238E27FC236}">
                <a16:creationId xmlns:a16="http://schemas.microsoft.com/office/drawing/2014/main" id="{6C8CE240-2EB1-590A-FD9C-074341BF2804}"/>
              </a:ext>
            </a:extLst>
          </p:cNvPr>
          <p:cNvSpPr/>
          <p:nvPr/>
        </p:nvSpPr>
        <p:spPr>
          <a:xfrm>
            <a:off x="3175000" y="3556000"/>
            <a:ext cx="5842000" cy="1905000"/>
          </a:xfrm>
          <a:prstGeom prst="roundRect">
            <a:avLst>
              <a:gd name="adj" fmla="val 6666"/>
            </a:avLst>
          </a:prstGeom>
          <a:solidFill>
            <a:srgbClr val="007AFF">
              <a:alpha val="5000"/>
            </a:srgbClr>
          </a:solidFill>
          <a:ln cap="flat" cmpd="sng">
            <a:solidFill>
              <a:srgbClr val="006EE6">
                <a:alpha val="5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9" name="Picture 10">
            <a:extLst>
              <a:ext uri="{FF2B5EF4-FFF2-40B4-BE49-F238E27FC236}">
                <a16:creationId xmlns:a16="http://schemas.microsoft.com/office/drawing/2014/main" id="{A99727E5-F1BF-5181-14BA-9D833566016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65500" y="3746500"/>
            <a:ext cx="304800" cy="304800"/>
          </a:xfrm>
          <a:prstGeom prst="rect">
            <a:avLst/>
          </a:prstGeom>
        </p:spPr>
      </p:pic>
      <p:sp>
        <p:nvSpPr>
          <p:cNvPr id="10" name="AutoShape 11">
            <a:extLst>
              <a:ext uri="{FF2B5EF4-FFF2-40B4-BE49-F238E27FC236}">
                <a16:creationId xmlns:a16="http://schemas.microsoft.com/office/drawing/2014/main" id="{7A064911-6A7B-B800-00E0-F9ABC76F81FB}"/>
              </a:ext>
            </a:extLst>
          </p:cNvPr>
          <p:cNvSpPr/>
          <p:nvPr/>
        </p:nvSpPr>
        <p:spPr>
          <a:xfrm>
            <a:off x="3746500" y="3708400"/>
            <a:ext cx="5080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007AFF"/>
                </a:solidFill>
                <a:latin typeface="+mj-ea"/>
                <a:ea typeface="+mj-ea"/>
                <a:cs typeface="Roboto"/>
                <a:sym typeface="Roboto"/>
              </a:rPr>
              <a:t>SER 处理读写冲突 (Read-Write Conflict)</a:t>
            </a:r>
            <a:endParaRPr lang="en-US" sz="1100">
              <a:latin typeface="+mj-ea"/>
              <a:ea typeface="+mj-ea"/>
            </a:endParaRPr>
          </a:p>
        </p:txBody>
      </p:sp>
      <p:sp>
        <p:nvSpPr>
          <p:cNvPr id="11" name="AutoShape 12">
            <a:extLst>
              <a:ext uri="{FF2B5EF4-FFF2-40B4-BE49-F238E27FC236}">
                <a16:creationId xmlns:a16="http://schemas.microsoft.com/office/drawing/2014/main" id="{C01FBA47-4A9A-3E5D-12FD-AD295AB515BA}"/>
              </a:ext>
            </a:extLst>
          </p:cNvPr>
          <p:cNvSpPr/>
          <p:nvPr/>
        </p:nvSpPr>
        <p:spPr>
          <a:xfrm>
            <a:off x="3365500" y="4127500"/>
            <a:ext cx="5461000" cy="12065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7800" indent="-177800" algn="l">
              <a:lnSpc>
                <a:spcPct val="100000"/>
              </a:lnSpc>
              <a:buClr>
                <a:srgbClr val="333333"/>
              </a:buClr>
              <a:buChar char="•"/>
              <a:defRPr/>
            </a:pPr>
            <a:r>
              <a:rPr lang="en-US" sz="1400" b="1" i="0" u="none" strike="noStrike" dirty="0" err="1">
                <a:solidFill>
                  <a:srgbClr val="333333"/>
                </a:solidFill>
                <a:latin typeface="+mj-ea"/>
                <a:ea typeface="+mj-ea"/>
                <a:cs typeface="Roboto"/>
                <a:sym typeface="Roboto"/>
              </a:rPr>
              <a:t>加强验证</a:t>
            </a:r>
            <a:r>
              <a:rPr lang="en-US" sz="1400" b="1" i="0" u="none" strike="noStrike" dirty="0">
                <a:solidFill>
                  <a:srgbClr val="333333"/>
                </a:solidFill>
                <a:latin typeface="+mj-ea"/>
                <a:ea typeface="+mj-ea"/>
                <a:cs typeface="Roboto"/>
                <a:sym typeface="Roboto"/>
              </a:rPr>
              <a:t> (SI-S2PL)：</a:t>
            </a:r>
            <a:r>
              <a:rPr lang="en-US" sz="1400" b="0" i="0" u="none" strike="noStrike" dirty="0" err="1">
                <a:solidFill>
                  <a:srgbClr val="555555"/>
                </a:solidFill>
                <a:latin typeface="+mj-ea"/>
                <a:ea typeface="+mj-ea"/>
                <a:cs typeface="Roboto"/>
                <a:sym typeface="Roboto"/>
              </a:rPr>
              <a:t>不仅检查写集，还检查读集。若读集被修改则Abort</a:t>
            </a:r>
            <a:r>
              <a:rPr lang="en-US" sz="1400" b="0" i="0" u="none" strike="noStrike" dirty="0">
                <a:solidFill>
                  <a:srgbClr val="555555"/>
                </a:solidFill>
                <a:latin typeface="+mj-ea"/>
                <a:ea typeface="+mj-ea"/>
                <a:cs typeface="Roboto"/>
                <a:sym typeface="Roboto"/>
              </a:rPr>
              <a:t>。</a:t>
            </a:r>
            <a:endParaRPr lang="en-US" sz="1100" dirty="0">
              <a:latin typeface="+mj-ea"/>
              <a:ea typeface="+mj-ea"/>
            </a:endParaRPr>
          </a:p>
          <a:p>
            <a:pPr marL="177800" indent="-177800" algn="l">
              <a:lnSpc>
                <a:spcPct val="100000"/>
              </a:lnSpc>
              <a:buClr>
                <a:srgbClr val="333333"/>
              </a:buClr>
              <a:buChar char="•"/>
            </a:pPr>
            <a:r>
              <a:rPr lang="en-US" sz="1400" b="1" i="0" u="none" strike="noStrike" dirty="0" err="1">
                <a:solidFill>
                  <a:srgbClr val="333333"/>
                </a:solidFill>
                <a:latin typeface="+mj-ea"/>
                <a:ea typeface="+mj-ea"/>
                <a:cs typeface="Roboto"/>
                <a:sym typeface="Roboto"/>
              </a:rPr>
              <a:t>悲观加锁</a:t>
            </a:r>
            <a:r>
              <a:rPr lang="en-US" sz="1400" b="1" i="0" u="none" strike="noStrike" dirty="0">
                <a:solidFill>
                  <a:srgbClr val="333333"/>
                </a:solidFill>
                <a:latin typeface="+mj-ea"/>
                <a:ea typeface="+mj-ea"/>
                <a:cs typeface="Roboto"/>
                <a:sym typeface="Roboto"/>
              </a:rPr>
              <a:t> (SI-S2PL)：</a:t>
            </a:r>
            <a:r>
              <a:rPr lang="en-US" sz="1400" b="0" i="0" u="none" strike="noStrike" dirty="0" err="1">
                <a:solidFill>
                  <a:srgbClr val="555555"/>
                </a:solidFill>
                <a:latin typeface="+mj-ea"/>
                <a:ea typeface="+mj-ea"/>
                <a:cs typeface="Roboto"/>
                <a:sym typeface="Roboto"/>
              </a:rPr>
              <a:t>Read操作获取共享锁</a:t>
            </a:r>
            <a:r>
              <a:rPr lang="en-US" sz="1400" b="0" i="0" u="none" strike="noStrike" dirty="0">
                <a:solidFill>
                  <a:srgbClr val="555555"/>
                </a:solidFill>
                <a:latin typeface="+mj-ea"/>
                <a:ea typeface="+mj-ea"/>
                <a:cs typeface="Roboto"/>
                <a:sym typeface="Roboto"/>
              </a:rPr>
              <a:t>(</a:t>
            </a:r>
            <a:r>
              <a:rPr lang="en-US" altLang="zh-CN" dirty="0">
                <a:solidFill>
                  <a:srgbClr val="555555"/>
                </a:solidFill>
                <a:latin typeface="+mj-ea"/>
                <a:ea typeface="+mj-ea"/>
                <a:cs typeface="Roboto"/>
                <a:sym typeface="Roboto"/>
              </a:rPr>
              <a:t>S-</a:t>
            </a:r>
            <a:r>
              <a:rPr lang="en-US" sz="1400" b="0" i="0" u="none" strike="noStrike" dirty="0">
                <a:solidFill>
                  <a:srgbClr val="555555"/>
                </a:solidFill>
                <a:latin typeface="+mj-ea"/>
                <a:ea typeface="+mj-ea"/>
                <a:cs typeface="Roboto"/>
                <a:sym typeface="Roboto"/>
              </a:rPr>
              <a:t>lock)，</a:t>
            </a:r>
            <a:r>
              <a:rPr lang="en-US" sz="1400" b="0" i="0" u="none" strike="noStrike" dirty="0" err="1">
                <a:solidFill>
                  <a:srgbClr val="555555"/>
                </a:solidFill>
                <a:latin typeface="+mj-ea"/>
                <a:ea typeface="+mj-ea"/>
                <a:cs typeface="Roboto"/>
                <a:sym typeface="Roboto"/>
              </a:rPr>
              <a:t>互斥独占锁</a:t>
            </a:r>
            <a:r>
              <a:rPr lang="en-US" sz="1400" b="0" i="0" u="none" strike="noStrike" dirty="0">
                <a:solidFill>
                  <a:srgbClr val="555555"/>
                </a:solidFill>
                <a:latin typeface="+mj-ea"/>
                <a:ea typeface="+mj-ea"/>
                <a:cs typeface="Roboto"/>
                <a:sym typeface="Roboto"/>
              </a:rPr>
              <a:t>(</a:t>
            </a:r>
            <a:r>
              <a:rPr lang="en-US" altLang="zh-CN" dirty="0">
                <a:solidFill>
                  <a:srgbClr val="555555"/>
                </a:solidFill>
                <a:latin typeface="+mj-ea"/>
                <a:ea typeface="+mj-ea"/>
                <a:cs typeface="Roboto"/>
                <a:sym typeface="Roboto"/>
              </a:rPr>
              <a:t>X-</a:t>
            </a:r>
            <a:r>
              <a:rPr lang="en-US" sz="1400" b="0" i="0" u="none" strike="noStrike" dirty="0">
                <a:solidFill>
                  <a:srgbClr val="555555"/>
                </a:solidFill>
                <a:latin typeface="+mj-ea"/>
                <a:ea typeface="+mj-ea"/>
                <a:cs typeface="Roboto"/>
                <a:sym typeface="Roboto"/>
              </a:rPr>
              <a:t>lock)，</a:t>
            </a:r>
            <a:r>
              <a:rPr lang="en-US" sz="1400" b="0" i="0" u="none" strike="noStrike" dirty="0" err="1">
                <a:solidFill>
                  <a:srgbClr val="555555"/>
                </a:solidFill>
                <a:latin typeface="+mj-ea"/>
                <a:ea typeface="+mj-ea"/>
                <a:cs typeface="Roboto"/>
                <a:sym typeface="Roboto"/>
              </a:rPr>
              <a:t>阻止写入</a:t>
            </a:r>
            <a:r>
              <a:rPr lang="zh-CN" altLang="en-US" dirty="0">
                <a:solidFill>
                  <a:srgbClr val="555555"/>
                </a:solidFill>
                <a:latin typeface="+mj-ea"/>
                <a:ea typeface="+mj-ea"/>
                <a:cs typeface="Roboto"/>
                <a:sym typeface="Roboto"/>
              </a:rPr>
              <a:t>，在对对应</a:t>
            </a:r>
            <a:r>
              <a:rPr lang="en-US" altLang="zh-CN" dirty="0">
                <a:solidFill>
                  <a:srgbClr val="555555"/>
                </a:solidFill>
                <a:latin typeface="+mj-ea"/>
                <a:ea typeface="+mj-ea"/>
                <a:cs typeface="Roboto"/>
                <a:sym typeface="Roboto"/>
              </a:rPr>
              <a:t>Key</a:t>
            </a:r>
            <a:r>
              <a:rPr lang="zh-CN" altLang="en-US" dirty="0">
                <a:solidFill>
                  <a:srgbClr val="555555"/>
                </a:solidFill>
                <a:latin typeface="+mj-ea"/>
                <a:ea typeface="+mj-ea"/>
                <a:cs typeface="Roboto"/>
                <a:sym typeface="Roboto"/>
              </a:rPr>
              <a:t>操作时刻就已经上锁</a:t>
            </a:r>
            <a:endParaRPr lang="en-US" sz="1400" b="0" i="0" u="none" strike="noStrike" dirty="0">
              <a:solidFill>
                <a:srgbClr val="555555"/>
              </a:solidFill>
              <a:latin typeface="+mj-ea"/>
              <a:ea typeface="+mj-ea"/>
              <a:cs typeface="Roboto"/>
              <a:sym typeface="Roboto"/>
            </a:endParaRPr>
          </a:p>
        </p:txBody>
      </p:sp>
      <p:sp>
        <p:nvSpPr>
          <p:cNvPr id="12" name="矩形 11">
            <a:extLst>
              <a:ext uri="{FF2B5EF4-FFF2-40B4-BE49-F238E27FC236}">
                <a16:creationId xmlns:a16="http://schemas.microsoft.com/office/drawing/2014/main" id="{504E7731-0E48-2D27-8933-66C44B55E0D8}"/>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16</a:t>
            </a:r>
            <a:endParaRPr lang="zh-CN" altLang="en-US" dirty="0"/>
          </a:p>
        </p:txBody>
      </p:sp>
    </p:spTree>
    <p:extLst>
      <p:ext uri="{BB962C8B-B14F-4D97-AF65-F5344CB8AC3E}">
        <p14:creationId xmlns:p14="http://schemas.microsoft.com/office/powerpoint/2010/main" val="19499452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C5BD873-ED5C-4F2F-FA7D-893E641B4DF5}"/>
              </a:ext>
            </a:extLst>
          </p:cNvPr>
          <p:cNvSpPr>
            <a:spLocks noGrp="1"/>
          </p:cNvSpPr>
          <p:nvPr>
            <p:ph type="body" sz="quarter" idx="13"/>
          </p:nvPr>
        </p:nvSpPr>
        <p:spPr/>
        <p:txBody>
          <a:bodyPr/>
          <a:lstStyle/>
          <a:p>
            <a:r>
              <a:rPr lang="en-US" altLang="zh-CN" dirty="0">
                <a:latin typeface="+mn-ea"/>
              </a:rPr>
              <a:t>TLA</a:t>
            </a:r>
            <a:r>
              <a:rPr lang="en-US" altLang="zh-CN" baseline="30000" dirty="0">
                <a:latin typeface="+mn-ea"/>
              </a:rPr>
              <a:t>+</a:t>
            </a:r>
            <a:r>
              <a:rPr lang="zh-CN" altLang="en-US" dirty="0">
                <a:latin typeface="+mn-ea"/>
              </a:rPr>
              <a:t>与</a:t>
            </a:r>
            <a:r>
              <a:rPr lang="en-US" altLang="zh-CN" dirty="0">
                <a:latin typeface="+mn-ea"/>
              </a:rPr>
              <a:t>TLC</a:t>
            </a:r>
            <a:endParaRPr lang="zh-CN" altLang="en-US" dirty="0">
              <a:latin typeface="+mn-ea"/>
            </a:endParaRPr>
          </a:p>
        </p:txBody>
      </p:sp>
      <p:pic>
        <p:nvPicPr>
          <p:cNvPr id="3" name="图形 2">
            <a:extLst>
              <a:ext uri="{FF2B5EF4-FFF2-40B4-BE49-F238E27FC236}">
                <a16:creationId xmlns:a16="http://schemas.microsoft.com/office/drawing/2014/main" id="{656C591D-AF39-0F6B-47DD-A85DE11D8C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66184" y="1825080"/>
            <a:ext cx="1303564" cy="1303564"/>
          </a:xfrm>
          <a:prstGeom prst="rect">
            <a:avLst/>
          </a:prstGeom>
        </p:spPr>
      </p:pic>
      <p:sp>
        <p:nvSpPr>
          <p:cNvPr id="4" name="箭头: 右 3">
            <a:extLst>
              <a:ext uri="{FF2B5EF4-FFF2-40B4-BE49-F238E27FC236}">
                <a16:creationId xmlns:a16="http://schemas.microsoft.com/office/drawing/2014/main" id="{F66A5EA2-2432-D22D-DA9B-015FDF256E37}"/>
              </a:ext>
            </a:extLst>
          </p:cNvPr>
          <p:cNvSpPr/>
          <p:nvPr/>
        </p:nvSpPr>
        <p:spPr>
          <a:xfrm rot="985231">
            <a:off x="2334985" y="1817255"/>
            <a:ext cx="2269672" cy="334736"/>
          </a:xfrm>
          <a:prstGeom prst="rightArrow">
            <a:avLst/>
          </a:prstGeom>
          <a:solidFill>
            <a:srgbClr val="700F6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 name="文本框 4">
            <a:extLst>
              <a:ext uri="{FF2B5EF4-FFF2-40B4-BE49-F238E27FC236}">
                <a16:creationId xmlns:a16="http://schemas.microsoft.com/office/drawing/2014/main" id="{5DB93E0C-7BCE-A2A8-2F02-EEE92347521B}"/>
              </a:ext>
            </a:extLst>
          </p:cNvPr>
          <p:cNvSpPr txBox="1"/>
          <p:nvPr/>
        </p:nvSpPr>
        <p:spPr>
          <a:xfrm rot="985231">
            <a:off x="3058219" y="1540435"/>
            <a:ext cx="646331" cy="369332"/>
          </a:xfrm>
          <a:prstGeom prst="rect">
            <a:avLst/>
          </a:prstGeom>
          <a:noFill/>
        </p:spPr>
        <p:txBody>
          <a:bodyPr wrap="none" rtlCol="0">
            <a:spAutoFit/>
          </a:bodyPr>
          <a:lstStyle/>
          <a:p>
            <a:pPr algn="ctr"/>
            <a:r>
              <a:rPr lang="en-US" altLang="zh-CN" dirty="0">
                <a:latin typeface="+mn-ea"/>
              </a:rPr>
              <a:t>Spec</a:t>
            </a:r>
            <a:endParaRPr lang="zh-CN" altLang="en-US" dirty="0">
              <a:latin typeface="+mn-ea"/>
            </a:endParaRPr>
          </a:p>
        </p:txBody>
      </p:sp>
      <p:sp>
        <p:nvSpPr>
          <p:cNvPr id="6" name="箭头: 右 5">
            <a:extLst>
              <a:ext uri="{FF2B5EF4-FFF2-40B4-BE49-F238E27FC236}">
                <a16:creationId xmlns:a16="http://schemas.microsoft.com/office/drawing/2014/main" id="{30E72852-9A74-014E-0934-0DF8513479E5}"/>
              </a:ext>
            </a:extLst>
          </p:cNvPr>
          <p:cNvSpPr/>
          <p:nvPr/>
        </p:nvSpPr>
        <p:spPr>
          <a:xfrm rot="20535294">
            <a:off x="2460659" y="2885344"/>
            <a:ext cx="2269672" cy="334736"/>
          </a:xfrm>
          <a:prstGeom prst="rightArrow">
            <a:avLst/>
          </a:prstGeom>
          <a:solidFill>
            <a:srgbClr val="700F6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7" name="文本框 6">
            <a:extLst>
              <a:ext uri="{FF2B5EF4-FFF2-40B4-BE49-F238E27FC236}">
                <a16:creationId xmlns:a16="http://schemas.microsoft.com/office/drawing/2014/main" id="{295E1C02-C5F3-CD5A-3846-6D5CB440C4E5}"/>
              </a:ext>
            </a:extLst>
          </p:cNvPr>
          <p:cNvSpPr txBox="1"/>
          <p:nvPr/>
        </p:nvSpPr>
        <p:spPr>
          <a:xfrm rot="20535294">
            <a:off x="3180611" y="3204511"/>
            <a:ext cx="527709" cy="369332"/>
          </a:xfrm>
          <a:prstGeom prst="rect">
            <a:avLst/>
          </a:prstGeom>
          <a:noFill/>
        </p:spPr>
        <p:txBody>
          <a:bodyPr wrap="none" rtlCol="0">
            <a:spAutoFit/>
          </a:bodyPr>
          <a:lstStyle/>
          <a:p>
            <a:pPr algn="ctr"/>
            <a:r>
              <a:rPr lang="en-US" altLang="zh-CN" dirty="0" err="1">
                <a:latin typeface="+mn-ea"/>
              </a:rPr>
              <a:t>cfg</a:t>
            </a:r>
            <a:endParaRPr lang="zh-CN" altLang="en-US" dirty="0">
              <a:latin typeface="+mn-ea"/>
            </a:endParaRPr>
          </a:p>
        </p:txBody>
      </p:sp>
      <p:pic>
        <p:nvPicPr>
          <p:cNvPr id="8" name="图片 7">
            <a:extLst>
              <a:ext uri="{FF2B5EF4-FFF2-40B4-BE49-F238E27FC236}">
                <a16:creationId xmlns:a16="http://schemas.microsoft.com/office/drawing/2014/main" id="{D1C2127C-17B5-D1E9-7929-F2C6F5DF93E0}"/>
              </a:ext>
            </a:extLst>
          </p:cNvPr>
          <p:cNvPicPr>
            <a:picLocks noChangeAspect="1"/>
          </p:cNvPicPr>
          <p:nvPr/>
        </p:nvPicPr>
        <p:blipFill>
          <a:blip r:embed="rId4"/>
          <a:stretch>
            <a:fillRect/>
          </a:stretch>
        </p:blipFill>
        <p:spPr>
          <a:xfrm>
            <a:off x="1006675" y="3557996"/>
            <a:ext cx="1775614" cy="563929"/>
          </a:xfrm>
          <a:prstGeom prst="rect">
            <a:avLst/>
          </a:prstGeom>
        </p:spPr>
      </p:pic>
      <p:sp>
        <p:nvSpPr>
          <p:cNvPr id="9" name="箭头: 右 8">
            <a:extLst>
              <a:ext uri="{FF2B5EF4-FFF2-40B4-BE49-F238E27FC236}">
                <a16:creationId xmlns:a16="http://schemas.microsoft.com/office/drawing/2014/main" id="{55BBFD1F-DB10-1DA4-E526-1DA14415FB7C}"/>
              </a:ext>
            </a:extLst>
          </p:cNvPr>
          <p:cNvSpPr/>
          <p:nvPr/>
        </p:nvSpPr>
        <p:spPr>
          <a:xfrm>
            <a:off x="6066064" y="2408464"/>
            <a:ext cx="1036865" cy="253093"/>
          </a:xfrm>
          <a:prstGeom prst="rightArrow">
            <a:avLst/>
          </a:prstGeom>
          <a:solidFill>
            <a:srgbClr val="9420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3ACFD0DF-85D9-4456-6A60-FFAD5E09F146}"/>
                  </a:ext>
                </a:extLst>
              </p:cNvPr>
              <p:cNvSpPr txBox="1"/>
              <p:nvPr/>
            </p:nvSpPr>
            <p:spPr>
              <a:xfrm>
                <a:off x="7296313" y="2362762"/>
                <a:ext cx="310450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mn-ea"/>
                        </a:rPr>
                        <m:t>𝐼𝑁𝐼𝑇</m:t>
                      </m:r>
                      <m:r>
                        <a:rPr lang="en-US" altLang="zh-CN" i="1" dirty="0" smtClean="0">
                          <a:latin typeface="+mn-ea"/>
                        </a:rPr>
                        <m:t> ∧</m:t>
                      </m:r>
                      <m:r>
                        <a:rPr lang="en-US" altLang="zh-CN" i="1" dirty="0" smtClean="0">
                          <a:latin typeface="+mn-ea"/>
                        </a:rPr>
                        <m:t>𝑁𝐸𝑋𝑇</m:t>
                      </m:r>
                      <m:r>
                        <a:rPr lang="en-US" altLang="zh-CN" i="1" dirty="0" smtClean="0">
                          <a:latin typeface="+mn-ea"/>
                        </a:rPr>
                        <m:t>⇒</m:t>
                      </m:r>
                      <m:r>
                        <a:rPr lang="en-US" altLang="zh-CN" i="1" dirty="0">
                          <a:latin typeface="+mn-ea"/>
                        </a:rPr>
                        <m:t>𝐼𝑁𝑉𝑅𝐼𝐴𝑁𝑇</m:t>
                      </m:r>
                    </m:oMath>
                  </m:oMathPara>
                </a14:m>
                <a:endParaRPr lang="zh-CN" altLang="en-US" dirty="0">
                  <a:latin typeface="+mn-ea"/>
                </a:endParaRPr>
              </a:p>
            </p:txBody>
          </p:sp>
        </mc:Choice>
        <mc:Fallback>
          <p:sp>
            <p:nvSpPr>
              <p:cNvPr id="10" name="文本框 9">
                <a:extLst>
                  <a:ext uri="{FF2B5EF4-FFF2-40B4-BE49-F238E27FC236}">
                    <a16:creationId xmlns:a16="http://schemas.microsoft.com/office/drawing/2014/main" id="{3ACFD0DF-85D9-4456-6A60-FFAD5E09F146}"/>
                  </a:ext>
                </a:extLst>
              </p:cNvPr>
              <p:cNvSpPr txBox="1">
                <a:spLocks noRot="1" noChangeAspect="1" noMove="1" noResize="1" noEditPoints="1" noAdjustHandles="1" noChangeArrowheads="1" noChangeShapeType="1" noTextEdit="1"/>
              </p:cNvSpPr>
              <p:nvPr/>
            </p:nvSpPr>
            <p:spPr>
              <a:xfrm>
                <a:off x="7296313" y="2362762"/>
                <a:ext cx="3104503" cy="369332"/>
              </a:xfrm>
              <a:prstGeom prst="rect">
                <a:avLst/>
              </a:prstGeom>
              <a:blipFill>
                <a:blip r:embed="rId5"/>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5793E20-EE5E-34E5-C278-7C78DB4E7A1B}"/>
              </a:ext>
            </a:extLst>
          </p:cNvPr>
          <p:cNvSpPr txBox="1"/>
          <p:nvPr/>
        </p:nvSpPr>
        <p:spPr>
          <a:xfrm rot="538471">
            <a:off x="8781295" y="2245595"/>
            <a:ext cx="338554" cy="584775"/>
          </a:xfrm>
          <a:prstGeom prst="rect">
            <a:avLst/>
          </a:prstGeom>
          <a:noFill/>
        </p:spPr>
        <p:txBody>
          <a:bodyPr wrap="square" rtlCol="0">
            <a:spAutoFit/>
          </a:bodyPr>
          <a:lstStyle/>
          <a:p>
            <a:r>
              <a:rPr lang="en-US" altLang="zh-CN" sz="3200" b="1" dirty="0">
                <a:solidFill>
                  <a:srgbClr val="FF0000"/>
                </a:solidFill>
                <a:latin typeface="+mn-ea"/>
                <a:cs typeface="Times New Roman" panose="02020603050405020304" pitchFamily="18" charset="0"/>
              </a:rPr>
              <a:t>?</a:t>
            </a:r>
            <a:endParaRPr lang="zh-CN" altLang="en-US" sz="3200" b="1" dirty="0">
              <a:solidFill>
                <a:srgbClr val="FF0000"/>
              </a:solidFill>
              <a:latin typeface="+mn-ea"/>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7BCD558B-90E8-DAE9-F37D-DDA9F7D4D7E7}"/>
                  </a:ext>
                </a:extLst>
              </p:cNvPr>
              <p:cNvSpPr txBox="1"/>
              <p:nvPr/>
            </p:nvSpPr>
            <p:spPr>
              <a:xfrm>
                <a:off x="2368064" y="5163137"/>
                <a:ext cx="6543266" cy="369332"/>
              </a:xfrm>
              <a:prstGeom prst="rect">
                <a:avLst/>
              </a:prstGeom>
              <a:noFill/>
            </p:spPr>
            <p:txBody>
              <a:bodyPr wrap="none" rtlCol="0">
                <a:spAutoFit/>
              </a:bodyPr>
              <a:lstStyle/>
              <a:p>
                <a:r>
                  <a:rPr lang="zh-CN" altLang="en-US" dirty="0">
                    <a:latin typeface="+mn-ea"/>
                  </a:rPr>
                  <a:t>将事务的操作写入</a:t>
                </a:r>
                <a14:m>
                  <m:oMath xmlns:m="http://schemas.openxmlformats.org/officeDocument/2006/math">
                    <m:r>
                      <a:rPr lang="en-US" altLang="zh-CN" i="1" dirty="0" smtClean="0">
                        <a:latin typeface="Cambria Math" panose="02040503050406030204" pitchFamily="18" charset="0"/>
                      </a:rPr>
                      <m:t>𝑁𝑒𝑥𝑡</m:t>
                    </m:r>
                  </m:oMath>
                </a14:m>
                <a:r>
                  <a:rPr lang="zh-CN" altLang="en-US" dirty="0">
                    <a:latin typeface="+mn-ea"/>
                  </a:rPr>
                  <a:t>，将事务的一致性要求写入</a:t>
                </a:r>
                <a14:m>
                  <m:oMath xmlns:m="http://schemas.openxmlformats.org/officeDocument/2006/math">
                    <m:r>
                      <a:rPr lang="en-US" altLang="zh-CN" i="1" dirty="0" smtClean="0">
                        <a:latin typeface="Cambria Math" panose="02040503050406030204" pitchFamily="18" charset="0"/>
                      </a:rPr>
                      <m:t>𝐼𝑁𝑉𝐴𝑅𝐼𝐴𝑁𝑇</m:t>
                    </m:r>
                  </m:oMath>
                </a14:m>
                <a:endParaRPr lang="zh-CN" altLang="en-US" dirty="0">
                  <a:latin typeface="+mn-ea"/>
                </a:endParaRPr>
              </a:p>
            </p:txBody>
          </p:sp>
        </mc:Choice>
        <mc:Fallback>
          <p:sp>
            <p:nvSpPr>
              <p:cNvPr id="12" name="文本框 11">
                <a:extLst>
                  <a:ext uri="{FF2B5EF4-FFF2-40B4-BE49-F238E27FC236}">
                    <a16:creationId xmlns:a16="http://schemas.microsoft.com/office/drawing/2014/main" id="{7BCD558B-90E8-DAE9-F37D-DDA9F7D4D7E7}"/>
                  </a:ext>
                </a:extLst>
              </p:cNvPr>
              <p:cNvSpPr txBox="1">
                <a:spLocks noRot="1" noChangeAspect="1" noMove="1" noResize="1" noEditPoints="1" noAdjustHandles="1" noChangeArrowheads="1" noChangeShapeType="1" noTextEdit="1"/>
              </p:cNvSpPr>
              <p:nvPr/>
            </p:nvSpPr>
            <p:spPr>
              <a:xfrm>
                <a:off x="2368064" y="5163137"/>
                <a:ext cx="6543266" cy="369332"/>
              </a:xfrm>
              <a:prstGeom prst="rect">
                <a:avLst/>
              </a:prstGeom>
              <a:blipFill>
                <a:blip r:embed="rId6"/>
                <a:stretch>
                  <a:fillRect l="-745" t="-13115" b="-21311"/>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AA0D4566-AA82-FA5C-EB61-2956C556AA5F}"/>
              </a:ext>
            </a:extLst>
          </p:cNvPr>
          <p:cNvSpPr txBox="1"/>
          <p:nvPr/>
        </p:nvSpPr>
        <p:spPr>
          <a:xfrm>
            <a:off x="4449779" y="3255758"/>
            <a:ext cx="1736374" cy="369332"/>
          </a:xfrm>
          <a:prstGeom prst="rect">
            <a:avLst/>
          </a:prstGeom>
          <a:noFill/>
        </p:spPr>
        <p:txBody>
          <a:bodyPr wrap="none" rtlCol="0">
            <a:spAutoFit/>
          </a:bodyPr>
          <a:lstStyle/>
          <a:p>
            <a:pPr algn="ctr"/>
            <a:r>
              <a:rPr lang="en-US" altLang="zh-CN" dirty="0">
                <a:latin typeface="+mn-ea"/>
              </a:rPr>
              <a:t>TLC</a:t>
            </a:r>
            <a:r>
              <a:rPr lang="zh-CN" altLang="en-US" dirty="0">
                <a:latin typeface="+mn-ea"/>
              </a:rPr>
              <a:t>模型检查器</a:t>
            </a:r>
          </a:p>
        </p:txBody>
      </p:sp>
      <p:sp>
        <p:nvSpPr>
          <p:cNvPr id="14" name="矩形 13">
            <a:extLst>
              <a:ext uri="{FF2B5EF4-FFF2-40B4-BE49-F238E27FC236}">
                <a16:creationId xmlns:a16="http://schemas.microsoft.com/office/drawing/2014/main" id="{0D709E3B-43A0-8477-BE13-241D6131C882}"/>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17</a:t>
            </a:r>
            <a:endParaRPr lang="zh-CN" altLang="en-US" dirty="0"/>
          </a:p>
        </p:txBody>
      </p:sp>
    </p:spTree>
    <p:extLst>
      <p:ext uri="{BB962C8B-B14F-4D97-AF65-F5344CB8AC3E}">
        <p14:creationId xmlns:p14="http://schemas.microsoft.com/office/powerpoint/2010/main" val="12415782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1032184" y="359490"/>
            <a:ext cx="10834208" cy="461665"/>
          </a:xfrm>
        </p:spPr>
        <p:txBody>
          <a:bodyPr/>
          <a:lstStyle/>
          <a:p>
            <a:r>
              <a:rPr kumimoji="1" lang="zh-CN" altLang="en-US" sz="2400">
                <a:sym typeface="+mn-ea"/>
              </a:rPr>
              <a:t>从理论模型到工程实现的映射</a:t>
            </a:r>
            <a:endParaRPr kumimoji="1" lang="zh-CN" altLang="en-US" sz="2400" dirty="0"/>
          </a:p>
        </p:txBody>
      </p:sp>
      <p:sp>
        <p:nvSpPr>
          <p:cNvPr id="11" name="矩形 10"/>
          <p:cNvSpPr/>
          <p:nvPr>
            <p:custDataLst>
              <p:tags r:id="rId1"/>
            </p:custDataLst>
          </p:nvPr>
        </p:nvSpPr>
        <p:spPr>
          <a:xfrm>
            <a:off x="7948892" y="1406064"/>
            <a:ext cx="4032438" cy="3481942"/>
          </a:xfrm>
          <a:prstGeom prst="rect">
            <a:avLst/>
          </a:prstGeom>
          <a:solidFill>
            <a:srgbClr val="ECECEC"/>
          </a:solidFill>
          <a:ln>
            <a:solidFill>
              <a:srgbClr val="6A005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zh-CN" altLang="en-US" sz="1500" b="1">
                <a:solidFill>
                  <a:schemeClr val="tx1"/>
                </a:solidFill>
              </a:rPr>
              <a:t>映射关系</a:t>
            </a:r>
          </a:p>
          <a:p>
            <a:pPr>
              <a:lnSpc>
                <a:spcPct val="150000"/>
              </a:lnSpc>
            </a:pPr>
            <a:r>
              <a:rPr lang="en-US" altLang="zh-CN" sz="1500" b="1">
                <a:solidFill>
                  <a:schemeClr val="tx1"/>
                </a:solidFill>
              </a:rPr>
              <a:t>1. VIS / AR -&gt; </a:t>
            </a:r>
            <a:r>
              <a:rPr lang="zh-CN" altLang="en-US" sz="1500" b="1">
                <a:solidFill>
                  <a:schemeClr val="tx1"/>
                </a:solidFill>
              </a:rPr>
              <a:t>快照时间、版本链与提交顺序。</a:t>
            </a:r>
          </a:p>
          <a:p>
            <a:pPr>
              <a:lnSpc>
                <a:spcPct val="150000"/>
              </a:lnSpc>
            </a:pPr>
            <a:r>
              <a:rPr lang="en-US" altLang="zh-CN" sz="1500" b="1">
                <a:solidFill>
                  <a:schemeClr val="tx1"/>
                </a:solidFill>
              </a:rPr>
              <a:t>2. </a:t>
            </a:r>
            <a:r>
              <a:rPr lang="zh-CN" altLang="en-US" sz="1500" b="1">
                <a:solidFill>
                  <a:schemeClr val="tx1"/>
                </a:solidFill>
              </a:rPr>
              <a:t>抽象执行历史 </a:t>
            </a:r>
            <a:r>
              <a:rPr lang="en-US" altLang="zh-CN" sz="1500" b="1">
                <a:solidFill>
                  <a:schemeClr val="tx1"/>
                </a:solidFill>
              </a:rPr>
              <a:t>-&gt; </a:t>
            </a:r>
            <a:r>
              <a:rPr lang="zh-CN" altLang="en-US" sz="1500" b="1">
                <a:solidFill>
                  <a:schemeClr val="tx1"/>
                </a:solidFill>
              </a:rPr>
              <a:t>事务元数据、操作日志与读写集。</a:t>
            </a:r>
          </a:p>
          <a:p>
            <a:pPr>
              <a:lnSpc>
                <a:spcPct val="150000"/>
              </a:lnSpc>
            </a:pPr>
            <a:r>
              <a:rPr lang="en-US" altLang="zh-CN" sz="1500" b="1">
                <a:solidFill>
                  <a:schemeClr val="tx1"/>
                </a:solidFill>
              </a:rPr>
              <a:t>3. StartTx / ExecuteOp / CommitTx -&gt; Router </a:t>
            </a:r>
            <a:r>
              <a:rPr lang="zh-CN" altLang="en-US" sz="1500" b="1">
                <a:solidFill>
                  <a:schemeClr val="tx1"/>
                </a:solidFill>
              </a:rPr>
              <a:t>与 </a:t>
            </a:r>
            <a:r>
              <a:rPr lang="en-US" altLang="zh-CN" sz="1500" b="1">
                <a:solidFill>
                  <a:schemeClr val="tx1"/>
                </a:solidFill>
              </a:rPr>
              <a:t>Shard </a:t>
            </a:r>
            <a:r>
              <a:rPr lang="zh-CN" altLang="en-US" sz="1500" b="1">
                <a:solidFill>
                  <a:schemeClr val="tx1"/>
                </a:solidFill>
              </a:rPr>
              <a:t>的处理流程。</a:t>
            </a:r>
          </a:p>
          <a:p>
            <a:pPr>
              <a:lnSpc>
                <a:spcPct val="150000"/>
              </a:lnSpc>
            </a:pPr>
            <a:r>
              <a:rPr lang="en-US" altLang="zh-CN" sz="1500" b="1">
                <a:solidFill>
                  <a:schemeClr val="tx1"/>
                </a:solidFill>
              </a:rPr>
              <a:t>4. </a:t>
            </a:r>
            <a:r>
              <a:rPr lang="zh-CN" altLang="en-US" sz="1500" b="1">
                <a:solidFill>
                  <a:schemeClr val="tx1"/>
                </a:solidFill>
              </a:rPr>
              <a:t>原型系统不是独立实现，而是对形式化模型的工程化落地。</a:t>
            </a:r>
            <a:endParaRPr lang="en-US" altLang="zh-CN" sz="1500" dirty="0">
              <a:solidFill>
                <a:schemeClr val="tx1"/>
              </a:solidFill>
            </a:endParaRPr>
          </a:p>
        </p:txBody>
      </p:sp>
      <p:pic>
        <p:nvPicPr>
          <p:cNvPr id="5" name="图片 4">
            <a:extLst>
              <a:ext uri="{FF2B5EF4-FFF2-40B4-BE49-F238E27FC236}">
                <a16:creationId xmlns:a16="http://schemas.microsoft.com/office/drawing/2014/main" id="{4935BDCD-8272-CCEC-49FE-4DAC44F160CC}"/>
              </a:ext>
            </a:extLst>
          </p:cNvPr>
          <p:cNvPicPr>
            <a:picLocks noChangeAspect="1"/>
          </p:cNvPicPr>
          <p:nvPr/>
        </p:nvPicPr>
        <p:blipFill>
          <a:blip r:embed="rId4"/>
          <a:stretch>
            <a:fillRect/>
          </a:stretch>
        </p:blipFill>
        <p:spPr>
          <a:xfrm>
            <a:off x="1171220" y="1114634"/>
            <a:ext cx="5825901" cy="4378910"/>
          </a:xfrm>
          <a:prstGeom prst="rect">
            <a:avLst/>
          </a:prstGeom>
        </p:spPr>
      </p:pic>
      <p:sp>
        <p:nvSpPr>
          <p:cNvPr id="8" name="矩形 7">
            <a:extLst>
              <a:ext uri="{FF2B5EF4-FFF2-40B4-BE49-F238E27FC236}">
                <a16:creationId xmlns:a16="http://schemas.microsoft.com/office/drawing/2014/main" id="{DFFDBD93-7E1F-2605-7339-75EB6EABA2DB}"/>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18</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A3CD3-C096-98D8-082B-D82D4931BA52}"/>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0A33B9B8-95F9-C132-F865-ED04F8D21559}"/>
              </a:ext>
            </a:extLst>
          </p:cNvPr>
          <p:cNvSpPr/>
          <p:nvPr/>
        </p:nvSpPr>
        <p:spPr>
          <a:xfrm>
            <a:off x="1" y="2050256"/>
            <a:ext cx="12192000" cy="2736057"/>
          </a:xfrm>
          <a:prstGeom prst="rect">
            <a:avLst/>
          </a:prstGeom>
          <a:solidFill>
            <a:srgbClr val="700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 descr="https://ese.nju.edu.cn/_upload/tpl/04/32/1074/template1074/htmlRes/logo.png">
            <a:extLst>
              <a:ext uri="{FF2B5EF4-FFF2-40B4-BE49-F238E27FC236}">
                <a16:creationId xmlns:a16="http://schemas.microsoft.com/office/drawing/2014/main" id="{C6BA281E-6287-1F9A-A611-D1DE3C6187C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0458" y="163693"/>
            <a:ext cx="1913640" cy="59026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2EC090DD-80A8-7DC6-41C0-E93FE6FC0F91}"/>
              </a:ext>
            </a:extLst>
          </p:cNvPr>
          <p:cNvSpPr txBox="1"/>
          <p:nvPr/>
        </p:nvSpPr>
        <p:spPr>
          <a:xfrm>
            <a:off x="4295658" y="3013500"/>
            <a:ext cx="6698574" cy="830997"/>
          </a:xfrm>
          <a:prstGeom prst="rect">
            <a:avLst/>
          </a:prstGeom>
          <a:noFill/>
        </p:spPr>
        <p:txBody>
          <a:bodyPr wrap="square" rtlCol="0">
            <a:spAutoFit/>
          </a:bodyPr>
          <a:lstStyle/>
          <a:p>
            <a:pPr algn="ctr"/>
            <a:r>
              <a:rPr lang="zh-CN" altLang="en-US" sz="4800" b="1" dirty="0">
                <a:solidFill>
                  <a:schemeClr val="bg1"/>
                </a:solidFill>
                <a:latin typeface="+mn-ea"/>
              </a:rPr>
              <a:t>原型系统设计与实现</a:t>
            </a:r>
          </a:p>
        </p:txBody>
      </p:sp>
      <p:sp>
        <p:nvSpPr>
          <p:cNvPr id="2" name="Freeform 8">
            <a:extLst>
              <a:ext uri="{FF2B5EF4-FFF2-40B4-BE49-F238E27FC236}">
                <a16:creationId xmlns:a16="http://schemas.microsoft.com/office/drawing/2014/main" id="{A2C15C77-3DDF-BF61-5E4A-2A1F17664A40}"/>
              </a:ext>
            </a:extLst>
          </p:cNvPr>
          <p:cNvSpPr/>
          <p:nvPr/>
        </p:nvSpPr>
        <p:spPr bwMode="auto">
          <a:xfrm>
            <a:off x="1455384" y="1704802"/>
            <a:ext cx="3381639" cy="3378639"/>
          </a:xfrm>
          <a:custGeom>
            <a:avLst/>
            <a:gdLst>
              <a:gd name="T0" fmla="*/ 929 w 1857"/>
              <a:gd name="T1" fmla="*/ 0 h 1855"/>
              <a:gd name="T2" fmla="*/ 1857 w 1857"/>
              <a:gd name="T3" fmla="*/ 928 h 1855"/>
              <a:gd name="T4" fmla="*/ 929 w 1857"/>
              <a:gd name="T5" fmla="*/ 1855 h 1855"/>
              <a:gd name="T6" fmla="*/ 0 w 1857"/>
              <a:gd name="T7" fmla="*/ 928 h 1855"/>
              <a:gd name="T8" fmla="*/ 929 w 1857"/>
              <a:gd name="T9" fmla="*/ 0 h 1855"/>
            </a:gdLst>
            <a:ahLst/>
            <a:cxnLst>
              <a:cxn ang="0">
                <a:pos x="T0" y="T1"/>
              </a:cxn>
              <a:cxn ang="0">
                <a:pos x="T2" y="T3"/>
              </a:cxn>
              <a:cxn ang="0">
                <a:pos x="T4" y="T5"/>
              </a:cxn>
              <a:cxn ang="0">
                <a:pos x="T6" y="T7"/>
              </a:cxn>
              <a:cxn ang="0">
                <a:pos x="T8" y="T9"/>
              </a:cxn>
            </a:cxnLst>
            <a:rect l="0" t="0" r="r" b="b"/>
            <a:pathLst>
              <a:path w="1857" h="1855">
                <a:moveTo>
                  <a:pt x="929" y="0"/>
                </a:moveTo>
                <a:lnTo>
                  <a:pt x="1857" y="928"/>
                </a:lnTo>
                <a:lnTo>
                  <a:pt x="929" y="1855"/>
                </a:lnTo>
                <a:lnTo>
                  <a:pt x="0" y="928"/>
                </a:lnTo>
                <a:lnTo>
                  <a:pt x="929" y="0"/>
                </a:lnTo>
                <a:close/>
              </a:path>
            </a:pathLst>
          </a:custGeom>
          <a:solidFill>
            <a:srgbClr val="6E0F6D"/>
          </a:solidFill>
          <a:ln w="0">
            <a:noFill/>
            <a:prstDash val="solid"/>
            <a:round/>
          </a:ln>
        </p:spPr>
        <p:txBody>
          <a:bodyPr vert="horz" wrap="square" lIns="121890" tIns="60945" rIns="121890" bIns="60945" numCol="1" anchor="t" anchorCtr="0" compatLnSpc="1"/>
          <a:lstStyle/>
          <a:p>
            <a:endParaRPr lang="zh-CN" altLang="en-US"/>
          </a:p>
        </p:txBody>
      </p:sp>
      <p:sp>
        <p:nvSpPr>
          <p:cNvPr id="5" name="文本框 4">
            <a:extLst>
              <a:ext uri="{FF2B5EF4-FFF2-40B4-BE49-F238E27FC236}">
                <a16:creationId xmlns:a16="http://schemas.microsoft.com/office/drawing/2014/main" id="{244048E3-D936-1187-D1F9-EBA51AA725BE}"/>
              </a:ext>
            </a:extLst>
          </p:cNvPr>
          <p:cNvSpPr txBox="1">
            <a:spLocks noChangeArrowheads="1"/>
          </p:cNvSpPr>
          <p:nvPr>
            <p:custDataLst>
              <p:tags r:id="rId1"/>
            </p:custDataLst>
          </p:nvPr>
        </p:nvSpPr>
        <p:spPr bwMode="auto">
          <a:xfrm>
            <a:off x="2342201" y="2645454"/>
            <a:ext cx="1608005" cy="14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04</a:t>
            </a:r>
            <a:endParaRPr lang="zh-CN" altLang="en-US"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6" name="页脚占位符 5">
            <a:extLst>
              <a:ext uri="{FF2B5EF4-FFF2-40B4-BE49-F238E27FC236}">
                <a16:creationId xmlns:a16="http://schemas.microsoft.com/office/drawing/2014/main" id="{94ACAC14-6B51-7CA2-1A18-1266AFFBA09D}"/>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4095276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C334090-22F6-4E98-AD18-7D1A33346294}"/>
              </a:ext>
            </a:extLst>
          </p:cNvPr>
          <p:cNvSpPr>
            <a:spLocks noGrp="1"/>
          </p:cNvSpPr>
          <p:nvPr>
            <p:ph type="body" sz="quarter" idx="13"/>
          </p:nvPr>
        </p:nvSpPr>
        <p:spPr>
          <a:xfrm>
            <a:off x="1032184" y="328713"/>
            <a:ext cx="10834208" cy="523220"/>
          </a:xfrm>
        </p:spPr>
        <p:txBody>
          <a:bodyPr/>
          <a:lstStyle/>
          <a:p>
            <a:r>
              <a:rPr lang="zh-CN" altLang="en-US" dirty="0">
                <a:latin typeface="+mj-ea"/>
                <a:ea typeface="+mj-ea"/>
              </a:rPr>
              <a:t>一致性公理</a:t>
            </a:r>
          </a:p>
        </p:txBody>
      </p:sp>
      <p:sp>
        <p:nvSpPr>
          <p:cNvPr id="3" name="AutoShape 3">
            <a:extLst>
              <a:ext uri="{FF2B5EF4-FFF2-40B4-BE49-F238E27FC236}">
                <a16:creationId xmlns:a16="http://schemas.microsoft.com/office/drawing/2014/main" id="{5E10AC5A-340F-9472-CAC7-36BEB74940ED}"/>
              </a:ext>
            </a:extLst>
          </p:cNvPr>
          <p:cNvSpPr/>
          <p:nvPr/>
        </p:nvSpPr>
        <p:spPr>
          <a:xfrm>
            <a:off x="762000" y="1079500"/>
            <a:ext cx="5143500" cy="2222500"/>
          </a:xfrm>
          <a:prstGeom prst="roundRect">
            <a:avLst>
              <a:gd name="adj" fmla="val 5714"/>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4" name="Picture 4">
            <a:extLst>
              <a:ext uri="{FF2B5EF4-FFF2-40B4-BE49-F238E27FC236}">
                <a16:creationId xmlns:a16="http://schemas.microsoft.com/office/drawing/2014/main" id="{50CC1BA9-E337-1753-B15E-BB4BCE8B06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333500"/>
            <a:ext cx="406400" cy="406400"/>
          </a:xfrm>
          <a:prstGeom prst="rect">
            <a:avLst/>
          </a:prstGeom>
        </p:spPr>
      </p:pic>
      <p:sp>
        <p:nvSpPr>
          <p:cNvPr id="5" name="AutoShape 5">
            <a:extLst>
              <a:ext uri="{FF2B5EF4-FFF2-40B4-BE49-F238E27FC236}">
                <a16:creationId xmlns:a16="http://schemas.microsoft.com/office/drawing/2014/main" id="{712237C5-34F9-9990-6A2D-ABF40E5E637D}"/>
              </a:ext>
            </a:extLst>
          </p:cNvPr>
          <p:cNvSpPr/>
          <p:nvPr/>
        </p:nvSpPr>
        <p:spPr>
          <a:xfrm>
            <a:off x="1524000" y="1270000"/>
            <a:ext cx="41275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333333"/>
                </a:solidFill>
                <a:latin typeface="+mj-ea"/>
                <a:ea typeface="+mj-ea"/>
                <a:cs typeface="Roboto"/>
                <a:sym typeface="Roboto"/>
              </a:rPr>
              <a:t>内部一致性 (Int)</a:t>
            </a:r>
            <a:endParaRPr lang="en-US" sz="1100">
              <a:latin typeface="+mj-ea"/>
              <a:ea typeface="+mj-ea"/>
            </a:endParaRPr>
          </a:p>
        </p:txBody>
      </p:sp>
      <p:sp>
        <p:nvSpPr>
          <p:cNvPr id="6" name="AutoShape 6">
            <a:extLst>
              <a:ext uri="{FF2B5EF4-FFF2-40B4-BE49-F238E27FC236}">
                <a16:creationId xmlns:a16="http://schemas.microsoft.com/office/drawing/2014/main" id="{F372464C-C4E2-EF09-C6C7-8BE25DD3C552}"/>
              </a:ext>
            </a:extLst>
          </p:cNvPr>
          <p:cNvSpPr/>
          <p:nvPr/>
        </p:nvSpPr>
        <p:spPr>
          <a:xfrm>
            <a:off x="1016000" y="1778000"/>
            <a:ext cx="46355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400" b="0" i="0" u="none" strike="noStrike">
                <a:solidFill>
                  <a:srgbClr val="888888"/>
                </a:solidFill>
                <a:latin typeface="+mj-ea"/>
                <a:ea typeface="+mj-ea"/>
                <a:cs typeface="Roboto"/>
                <a:sym typeface="Roboto"/>
              </a:rPr>
              <a:t>保证事务内后续读操作能看到本事务之前对同一数据项的写入结果。这是事务最基本的特性，确保事务内部的数据一致性。</a:t>
            </a:r>
            <a:endParaRPr lang="en-US" sz="1100">
              <a:latin typeface="+mj-ea"/>
              <a:ea typeface="+mj-ea"/>
            </a:endParaRPr>
          </a:p>
        </p:txBody>
      </p:sp>
      <p:sp>
        <p:nvSpPr>
          <p:cNvPr id="7" name="AutoShape 7">
            <a:extLst>
              <a:ext uri="{FF2B5EF4-FFF2-40B4-BE49-F238E27FC236}">
                <a16:creationId xmlns:a16="http://schemas.microsoft.com/office/drawing/2014/main" id="{57926BC2-C45A-4278-631C-1B30B080A76D}"/>
              </a:ext>
            </a:extLst>
          </p:cNvPr>
          <p:cNvSpPr/>
          <p:nvPr/>
        </p:nvSpPr>
        <p:spPr>
          <a:xfrm>
            <a:off x="6286500" y="1079500"/>
            <a:ext cx="5143500" cy="2222500"/>
          </a:xfrm>
          <a:prstGeom prst="roundRect">
            <a:avLst>
              <a:gd name="adj" fmla="val 5714"/>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8" name="Picture 8">
            <a:extLst>
              <a:ext uri="{FF2B5EF4-FFF2-40B4-BE49-F238E27FC236}">
                <a16:creationId xmlns:a16="http://schemas.microsoft.com/office/drawing/2014/main" id="{18A3A6CC-4F80-97C3-6C3C-EE5037E2534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1333500"/>
            <a:ext cx="406400" cy="406400"/>
          </a:xfrm>
          <a:prstGeom prst="rect">
            <a:avLst/>
          </a:prstGeom>
        </p:spPr>
      </p:pic>
      <p:sp>
        <p:nvSpPr>
          <p:cNvPr id="9" name="AutoShape 9">
            <a:extLst>
              <a:ext uri="{FF2B5EF4-FFF2-40B4-BE49-F238E27FC236}">
                <a16:creationId xmlns:a16="http://schemas.microsoft.com/office/drawing/2014/main" id="{F1C346A0-D927-FB15-7AFB-B0FCFE1545E7}"/>
              </a:ext>
            </a:extLst>
          </p:cNvPr>
          <p:cNvSpPr/>
          <p:nvPr/>
        </p:nvSpPr>
        <p:spPr>
          <a:xfrm>
            <a:off x="7048500" y="1270000"/>
            <a:ext cx="41275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333333"/>
                </a:solidFill>
                <a:latin typeface="+mj-ea"/>
                <a:ea typeface="+mj-ea"/>
                <a:cs typeface="Roboto"/>
                <a:sym typeface="Roboto"/>
              </a:rPr>
              <a:t>外部一致性读取规则 (Ext)</a:t>
            </a:r>
            <a:endParaRPr lang="en-US" sz="1100">
              <a:latin typeface="+mj-ea"/>
              <a:ea typeface="+mj-ea"/>
            </a:endParaRPr>
          </a:p>
        </p:txBody>
      </p:sp>
      <p:sp>
        <p:nvSpPr>
          <p:cNvPr id="10" name="AutoShape 10">
            <a:extLst>
              <a:ext uri="{FF2B5EF4-FFF2-40B4-BE49-F238E27FC236}">
                <a16:creationId xmlns:a16="http://schemas.microsoft.com/office/drawing/2014/main" id="{D4B34E97-6955-70A3-E73A-C416F3087ED5}"/>
              </a:ext>
            </a:extLst>
          </p:cNvPr>
          <p:cNvSpPr/>
          <p:nvPr/>
        </p:nvSpPr>
        <p:spPr>
          <a:xfrm>
            <a:off x="6540500" y="1778000"/>
            <a:ext cx="46355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400" b="0" i="0" u="none" strike="noStrike">
                <a:solidFill>
                  <a:srgbClr val="888888"/>
                </a:solidFill>
                <a:latin typeface="+mj-ea"/>
                <a:ea typeface="+mj-ea"/>
                <a:cs typeface="Roboto"/>
                <a:sym typeface="Roboto"/>
              </a:rPr>
              <a:t>保证事务读取到的外部值来自其可见事务中在仲裁顺序下最新的那个写入。此规则确保读取操作能获取到最新的、符合全局顺序的数据版本。</a:t>
            </a:r>
            <a:endParaRPr lang="en-US" sz="1100">
              <a:latin typeface="+mj-ea"/>
              <a:ea typeface="+mj-ea"/>
            </a:endParaRPr>
          </a:p>
        </p:txBody>
      </p:sp>
      <p:sp>
        <p:nvSpPr>
          <p:cNvPr id="11" name="AutoShape 11">
            <a:extLst>
              <a:ext uri="{FF2B5EF4-FFF2-40B4-BE49-F238E27FC236}">
                <a16:creationId xmlns:a16="http://schemas.microsoft.com/office/drawing/2014/main" id="{FEA4324B-B49A-134C-65EE-40E439969062}"/>
              </a:ext>
            </a:extLst>
          </p:cNvPr>
          <p:cNvSpPr/>
          <p:nvPr/>
        </p:nvSpPr>
        <p:spPr>
          <a:xfrm>
            <a:off x="762000" y="3556000"/>
            <a:ext cx="5143500" cy="2222500"/>
          </a:xfrm>
          <a:prstGeom prst="roundRect">
            <a:avLst>
              <a:gd name="adj" fmla="val 5714"/>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12" name="Picture 12">
            <a:extLst>
              <a:ext uri="{FF2B5EF4-FFF2-40B4-BE49-F238E27FC236}">
                <a16:creationId xmlns:a16="http://schemas.microsoft.com/office/drawing/2014/main" id="{6C67FB93-3F9B-5B34-2826-806C70E43C7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810000"/>
            <a:ext cx="406400" cy="406400"/>
          </a:xfrm>
          <a:prstGeom prst="rect">
            <a:avLst/>
          </a:prstGeom>
        </p:spPr>
      </p:pic>
      <p:sp>
        <p:nvSpPr>
          <p:cNvPr id="13" name="AutoShape 13">
            <a:extLst>
              <a:ext uri="{FF2B5EF4-FFF2-40B4-BE49-F238E27FC236}">
                <a16:creationId xmlns:a16="http://schemas.microsoft.com/office/drawing/2014/main" id="{EB007ABA-D5EA-FD29-062D-AD39D737984F}"/>
              </a:ext>
            </a:extLst>
          </p:cNvPr>
          <p:cNvSpPr/>
          <p:nvPr/>
        </p:nvSpPr>
        <p:spPr>
          <a:xfrm>
            <a:off x="1524000" y="3746500"/>
            <a:ext cx="41275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333333"/>
                </a:solidFill>
                <a:latin typeface="+mj-ea"/>
                <a:ea typeface="+mj-ea"/>
                <a:cs typeface="Roboto"/>
                <a:sym typeface="Roboto"/>
              </a:rPr>
              <a:t>会话一致性 (Session)</a:t>
            </a:r>
            <a:endParaRPr lang="en-US" sz="1100">
              <a:latin typeface="+mj-ea"/>
              <a:ea typeface="+mj-ea"/>
            </a:endParaRPr>
          </a:p>
        </p:txBody>
      </p:sp>
      <p:sp>
        <p:nvSpPr>
          <p:cNvPr id="14" name="AutoShape 14">
            <a:extLst>
              <a:ext uri="{FF2B5EF4-FFF2-40B4-BE49-F238E27FC236}">
                <a16:creationId xmlns:a16="http://schemas.microsoft.com/office/drawing/2014/main" id="{CF6DBEC9-44DA-2F04-46D6-C8671B9CF851}"/>
              </a:ext>
            </a:extLst>
          </p:cNvPr>
          <p:cNvSpPr/>
          <p:nvPr/>
        </p:nvSpPr>
        <p:spPr>
          <a:xfrm>
            <a:off x="1016000" y="4254500"/>
            <a:ext cx="46355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400" b="0" i="0" u="none" strike="noStrike">
                <a:solidFill>
                  <a:srgbClr val="888888"/>
                </a:solidFill>
                <a:latin typeface="+mj-ea"/>
                <a:ea typeface="+mj-ea"/>
                <a:cs typeface="Roboto"/>
                <a:sym typeface="Roboto"/>
              </a:rPr>
              <a:t>保证同一会话中较早发生的事务对后续事务始终可见。这为用户提供了连贯的视图，确保在同一个会话中，操作是线性且可预测的。</a:t>
            </a:r>
            <a:endParaRPr lang="en-US" sz="1100">
              <a:latin typeface="+mj-ea"/>
              <a:ea typeface="+mj-ea"/>
            </a:endParaRPr>
          </a:p>
        </p:txBody>
      </p:sp>
      <p:sp>
        <p:nvSpPr>
          <p:cNvPr id="15" name="AutoShape 15">
            <a:extLst>
              <a:ext uri="{FF2B5EF4-FFF2-40B4-BE49-F238E27FC236}">
                <a16:creationId xmlns:a16="http://schemas.microsoft.com/office/drawing/2014/main" id="{B5263C63-334C-9B85-B013-3F7163C8BC25}"/>
              </a:ext>
            </a:extLst>
          </p:cNvPr>
          <p:cNvSpPr/>
          <p:nvPr/>
        </p:nvSpPr>
        <p:spPr>
          <a:xfrm>
            <a:off x="6286500" y="3556000"/>
            <a:ext cx="5143500" cy="2222500"/>
          </a:xfrm>
          <a:prstGeom prst="roundRect">
            <a:avLst>
              <a:gd name="adj" fmla="val 5714"/>
            </a:avLst>
          </a:prstGeom>
          <a:solidFill>
            <a:srgbClr val="F5F7FA">
              <a:alpha val="100000"/>
            </a:srgbClr>
          </a:solidFill>
          <a:ln w="12700" cap="flat" cmpd="sng">
            <a:solidFill>
              <a:srgbClr val="E5E7EB">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latin typeface="+mj-ea"/>
              <a:ea typeface="+mj-ea"/>
            </a:endParaRPr>
          </a:p>
        </p:txBody>
      </p:sp>
      <p:pic>
        <p:nvPicPr>
          <p:cNvPr id="16" name="Picture 16">
            <a:extLst>
              <a:ext uri="{FF2B5EF4-FFF2-40B4-BE49-F238E27FC236}">
                <a16:creationId xmlns:a16="http://schemas.microsoft.com/office/drawing/2014/main" id="{BC6142FA-BD70-37C9-8FBB-A9325A3BC15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3810000"/>
            <a:ext cx="406400" cy="406400"/>
          </a:xfrm>
          <a:prstGeom prst="rect">
            <a:avLst/>
          </a:prstGeom>
        </p:spPr>
      </p:pic>
      <p:sp>
        <p:nvSpPr>
          <p:cNvPr id="17" name="AutoShape 17">
            <a:extLst>
              <a:ext uri="{FF2B5EF4-FFF2-40B4-BE49-F238E27FC236}">
                <a16:creationId xmlns:a16="http://schemas.microsoft.com/office/drawing/2014/main" id="{74A090E8-DAC0-3FE8-6A60-C0E39F38DBC9}"/>
              </a:ext>
            </a:extLst>
          </p:cNvPr>
          <p:cNvSpPr/>
          <p:nvPr/>
        </p:nvSpPr>
        <p:spPr>
          <a:xfrm>
            <a:off x="7048500" y="3746500"/>
            <a:ext cx="41275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en-US" sz="1800" b="1" i="0" u="none" strike="noStrike">
                <a:solidFill>
                  <a:srgbClr val="333333"/>
                </a:solidFill>
                <a:latin typeface="+mj-ea"/>
                <a:ea typeface="+mj-ea"/>
                <a:cs typeface="Roboto"/>
                <a:sym typeface="Roboto"/>
              </a:rPr>
              <a:t>可见性传递 (TransVis)</a:t>
            </a:r>
            <a:endParaRPr lang="en-US" sz="1100">
              <a:latin typeface="+mj-ea"/>
              <a:ea typeface="+mj-ea"/>
            </a:endParaRPr>
          </a:p>
        </p:txBody>
      </p:sp>
      <mc:AlternateContent xmlns:mc="http://schemas.openxmlformats.org/markup-compatibility/2006">
        <mc:Choice xmlns:a14="http://schemas.microsoft.com/office/drawing/2010/main" Requires="a14">
          <p:sp>
            <p:nvSpPr>
              <p:cNvPr id="18" name="AutoShape 18">
                <a:extLst>
                  <a:ext uri="{FF2B5EF4-FFF2-40B4-BE49-F238E27FC236}">
                    <a16:creationId xmlns:a16="http://schemas.microsoft.com/office/drawing/2014/main" id="{DB588193-BFA0-639E-70D8-B44822A0A6AB}"/>
                  </a:ext>
                </a:extLst>
              </p:cNvPr>
              <p:cNvSpPr/>
              <p:nvPr/>
            </p:nvSpPr>
            <p:spPr>
              <a:xfrm>
                <a:off x="6540500" y="4254500"/>
                <a:ext cx="46355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defRPr/>
                </a:pPr>
                <a:r>
                  <a:rPr lang="en-US" sz="1400" b="0" i="0" u="none" strike="noStrike" dirty="0" err="1">
                    <a:solidFill>
                      <a:srgbClr val="888888"/>
                    </a:solidFill>
                    <a:latin typeface="+mj-ea"/>
                    <a:ea typeface="+mj-ea"/>
                    <a:cs typeface="Roboto"/>
                    <a:sym typeface="Roboto"/>
                  </a:rPr>
                  <a:t>保证如果事务</a:t>
                </a:r>
                <a:r>
                  <a:rPr lang="en-US" sz="1400" b="0" i="0" u="none" strike="noStrike" dirty="0">
                    <a:solidFill>
                      <a:srgbClr val="888888"/>
                    </a:solidFill>
                    <a:latin typeface="+mj-ea"/>
                    <a:ea typeface="+mj-ea"/>
                    <a:cs typeface="Roboto"/>
                    <a:sym typeface="Roboto"/>
                  </a:rPr>
                  <a:t> </a:t>
                </a:r>
                <a14:m>
                  <m:oMath xmlns:m="http://schemas.openxmlformats.org/officeDocument/2006/math">
                    <m:sSub>
                      <m:sSubPr>
                        <m:ctrlPr>
                          <a:rPr lang="en-US" i="1" dirty="0" smtClean="0">
                            <a:solidFill>
                              <a:srgbClr val="888888"/>
                            </a:solidFill>
                            <a:latin typeface="Cambria Math" panose="02040503050406030204" pitchFamily="18" charset="0"/>
                            <a:ea typeface="+mj-ea"/>
                            <a:cs typeface="Roboto"/>
                            <a:sym typeface="Roboto"/>
                          </a:rPr>
                        </m:ctrlPr>
                      </m:sSubPr>
                      <m:e>
                        <m:r>
                          <a:rPr lang="en-US" i="1" dirty="0" smtClean="0">
                            <a:solidFill>
                              <a:srgbClr val="888888"/>
                            </a:solidFill>
                            <a:latin typeface="Cambria Math" panose="02040503050406030204" pitchFamily="18" charset="0"/>
                            <a:ea typeface="+mj-ea"/>
                            <a:cs typeface="Roboto"/>
                            <a:sym typeface="Roboto"/>
                          </a:rPr>
                          <m:t>𝑇</m:t>
                        </m:r>
                      </m:e>
                      <m:sub>
                        <m:r>
                          <a:rPr lang="en-US" i="1" dirty="0">
                            <a:solidFill>
                              <a:srgbClr val="888888"/>
                            </a:solidFill>
                            <a:latin typeface="Cambria Math" panose="02040503050406030204" pitchFamily="18" charset="0"/>
                            <a:ea typeface="+mj-ea"/>
                            <a:cs typeface="Roboto"/>
                            <a:sym typeface="Roboto"/>
                          </a:rPr>
                          <m:t>1</m:t>
                        </m:r>
                      </m:sub>
                    </m:sSub>
                  </m:oMath>
                </a14:m>
                <a:r>
                  <a:rPr lang="en-US" sz="1400" b="0" i="0" u="none" strike="noStrike" dirty="0">
                    <a:solidFill>
                      <a:srgbClr val="888888"/>
                    </a:solidFill>
                    <a:latin typeface="+mj-ea"/>
                    <a:ea typeface="+mj-ea"/>
                    <a:cs typeface="Roboto"/>
                    <a:sym typeface="Roboto"/>
                  </a:rPr>
                  <a:t> 对 </a:t>
                </a:r>
                <a14:m>
                  <m:oMath xmlns:m="http://schemas.openxmlformats.org/officeDocument/2006/math">
                    <m:sSub>
                      <m:sSubPr>
                        <m:ctrlPr>
                          <a:rPr lang="en-US" sz="1400" b="0" i="1" u="none" strike="noStrike" dirty="0" smtClean="0">
                            <a:solidFill>
                              <a:srgbClr val="888888"/>
                            </a:solidFill>
                            <a:latin typeface="Cambria Math" panose="02040503050406030204" pitchFamily="18" charset="0"/>
                            <a:ea typeface="+mj-ea"/>
                            <a:cs typeface="Roboto"/>
                            <a:sym typeface="Roboto"/>
                          </a:rPr>
                        </m:ctrlPr>
                      </m:sSubPr>
                      <m:e>
                        <m:r>
                          <a:rPr lang="en-US" sz="1400" b="0" i="1" u="none" strike="noStrike" dirty="0" smtClean="0">
                            <a:solidFill>
                              <a:srgbClr val="888888"/>
                            </a:solidFill>
                            <a:latin typeface="Cambria Math" panose="02040503050406030204" pitchFamily="18" charset="0"/>
                            <a:ea typeface="+mj-ea"/>
                            <a:cs typeface="Roboto"/>
                            <a:sym typeface="Roboto"/>
                          </a:rPr>
                          <m:t>𝑇</m:t>
                        </m:r>
                      </m:e>
                      <m:sub>
                        <m:r>
                          <a:rPr lang="en-US" sz="1400" b="0" i="1" u="none" strike="noStrike" dirty="0" smtClean="0">
                            <a:solidFill>
                              <a:srgbClr val="888888"/>
                            </a:solidFill>
                            <a:latin typeface="Cambria Math" panose="02040503050406030204" pitchFamily="18" charset="0"/>
                            <a:ea typeface="+mj-ea"/>
                            <a:cs typeface="Roboto"/>
                            <a:sym typeface="Roboto"/>
                          </a:rPr>
                          <m:t>2</m:t>
                        </m:r>
                      </m:sub>
                    </m:sSub>
                  </m:oMath>
                </a14:m>
                <a:r>
                  <a:rPr lang="en-US" sz="1400" b="0" i="0" u="none" strike="noStrike" dirty="0">
                    <a:solidFill>
                      <a:srgbClr val="888888"/>
                    </a:solidFill>
                    <a:latin typeface="+mj-ea"/>
                    <a:ea typeface="+mj-ea"/>
                    <a:cs typeface="Roboto"/>
                    <a:sym typeface="Roboto"/>
                  </a:rPr>
                  <a:t>可见、</a:t>
                </a:r>
                <a14:m>
                  <m:oMath xmlns:m="http://schemas.openxmlformats.org/officeDocument/2006/math">
                    <m:sSub>
                      <m:sSubPr>
                        <m:ctrlPr>
                          <a:rPr lang="en-US" sz="1400" b="0" i="1" u="none" strike="noStrike" dirty="0" smtClean="0">
                            <a:solidFill>
                              <a:srgbClr val="888888"/>
                            </a:solidFill>
                            <a:latin typeface="Cambria Math" panose="02040503050406030204" pitchFamily="18" charset="0"/>
                            <a:ea typeface="+mj-ea"/>
                            <a:cs typeface="Roboto"/>
                            <a:sym typeface="Roboto"/>
                          </a:rPr>
                        </m:ctrlPr>
                      </m:sSubPr>
                      <m:e>
                        <m:r>
                          <a:rPr lang="en-US" sz="1400" b="0" i="1" u="none" strike="noStrike" dirty="0" smtClean="0">
                            <a:solidFill>
                              <a:srgbClr val="888888"/>
                            </a:solidFill>
                            <a:latin typeface="Cambria Math" panose="02040503050406030204" pitchFamily="18" charset="0"/>
                            <a:ea typeface="+mj-ea"/>
                            <a:cs typeface="Roboto"/>
                            <a:sym typeface="Roboto"/>
                          </a:rPr>
                          <m:t>𝑇</m:t>
                        </m:r>
                      </m:e>
                      <m:sub>
                        <m:r>
                          <a:rPr lang="en-US" sz="1400" b="0" i="1" u="none" strike="noStrike" dirty="0" smtClean="0">
                            <a:solidFill>
                              <a:srgbClr val="888888"/>
                            </a:solidFill>
                            <a:latin typeface="Cambria Math" panose="02040503050406030204" pitchFamily="18" charset="0"/>
                            <a:ea typeface="+mj-ea"/>
                            <a:cs typeface="Roboto"/>
                            <a:sym typeface="Roboto"/>
                          </a:rPr>
                          <m:t>2</m:t>
                        </m:r>
                      </m:sub>
                    </m:sSub>
                  </m:oMath>
                </a14:m>
                <a:r>
                  <a:rPr lang="en-US" sz="1400" b="0" i="0" u="none" strike="noStrike" dirty="0">
                    <a:solidFill>
                      <a:srgbClr val="888888"/>
                    </a:solidFill>
                    <a:latin typeface="+mj-ea"/>
                    <a:ea typeface="+mj-ea"/>
                    <a:cs typeface="Roboto"/>
                    <a:sym typeface="Roboto"/>
                  </a:rPr>
                  <a:t> </a:t>
                </a:r>
                <a:r>
                  <a:rPr lang="en-US" sz="1400" b="0" i="0" u="none" strike="noStrike" dirty="0" err="1">
                    <a:solidFill>
                      <a:srgbClr val="888888"/>
                    </a:solidFill>
                    <a:latin typeface="+mj-ea"/>
                    <a:ea typeface="+mj-ea"/>
                    <a:cs typeface="Roboto"/>
                    <a:sym typeface="Roboto"/>
                  </a:rPr>
                  <a:t>又对</a:t>
                </a:r>
                <a:r>
                  <a:rPr lang="en-US" sz="1400" b="0" i="0" u="none" strike="noStrike" dirty="0">
                    <a:solidFill>
                      <a:srgbClr val="888888"/>
                    </a:solidFill>
                    <a:latin typeface="+mj-ea"/>
                    <a:ea typeface="+mj-ea"/>
                    <a:cs typeface="Roboto"/>
                    <a:sym typeface="Roboto"/>
                  </a:rPr>
                  <a:t> </a:t>
                </a:r>
                <a14:m>
                  <m:oMath xmlns:m="http://schemas.openxmlformats.org/officeDocument/2006/math">
                    <m:sSub>
                      <m:sSubPr>
                        <m:ctrlPr>
                          <a:rPr lang="en-US" sz="1400" b="0" i="1" u="none" strike="noStrike" dirty="0" smtClean="0">
                            <a:solidFill>
                              <a:srgbClr val="888888"/>
                            </a:solidFill>
                            <a:latin typeface="Cambria Math" panose="02040503050406030204" pitchFamily="18" charset="0"/>
                            <a:ea typeface="+mj-ea"/>
                            <a:cs typeface="Roboto"/>
                            <a:sym typeface="Roboto"/>
                          </a:rPr>
                        </m:ctrlPr>
                      </m:sSubPr>
                      <m:e>
                        <m:r>
                          <a:rPr lang="en-US" sz="1400" b="0" i="1" u="none" strike="noStrike" dirty="0" smtClean="0">
                            <a:solidFill>
                              <a:srgbClr val="888888"/>
                            </a:solidFill>
                            <a:latin typeface="Cambria Math" panose="02040503050406030204" pitchFamily="18" charset="0"/>
                            <a:ea typeface="+mj-ea"/>
                            <a:cs typeface="Roboto"/>
                            <a:sym typeface="Roboto"/>
                          </a:rPr>
                          <m:t>𝑇</m:t>
                        </m:r>
                      </m:e>
                      <m:sub>
                        <m:r>
                          <a:rPr lang="en-US" sz="1400" b="0" i="1" u="none" strike="noStrike" dirty="0" smtClean="0">
                            <a:solidFill>
                              <a:srgbClr val="888888"/>
                            </a:solidFill>
                            <a:latin typeface="Cambria Math" panose="02040503050406030204" pitchFamily="18" charset="0"/>
                            <a:ea typeface="+mj-ea"/>
                            <a:cs typeface="Roboto"/>
                            <a:sym typeface="Roboto"/>
                          </a:rPr>
                          <m:t>3</m:t>
                        </m:r>
                      </m:sub>
                    </m:sSub>
                  </m:oMath>
                </a14:m>
                <a:r>
                  <a:rPr lang="en-US" sz="1400" b="0" i="0" u="none" strike="noStrike" dirty="0">
                    <a:solidFill>
                      <a:srgbClr val="888888"/>
                    </a:solidFill>
                    <a:latin typeface="+mj-ea"/>
                    <a:ea typeface="+mj-ea"/>
                    <a:cs typeface="Roboto"/>
                    <a:sym typeface="Roboto"/>
                  </a:rPr>
                  <a:t> </a:t>
                </a:r>
                <a:r>
                  <a:rPr lang="en-US" sz="1400" b="0" i="0" u="none" strike="noStrike" dirty="0" err="1">
                    <a:solidFill>
                      <a:srgbClr val="888888"/>
                    </a:solidFill>
                    <a:latin typeface="+mj-ea"/>
                    <a:ea typeface="+mj-ea"/>
                    <a:cs typeface="Roboto"/>
                    <a:sym typeface="Roboto"/>
                  </a:rPr>
                  <a:t>可见，那么</a:t>
                </a:r>
                <a:r>
                  <a:rPr lang="en-US" sz="1400" b="0" i="0" u="none" strike="noStrike" dirty="0">
                    <a:solidFill>
                      <a:srgbClr val="888888"/>
                    </a:solidFill>
                    <a:latin typeface="+mj-ea"/>
                    <a:ea typeface="+mj-ea"/>
                    <a:cs typeface="Roboto"/>
                    <a:sym typeface="Roboto"/>
                  </a:rPr>
                  <a:t> </a:t>
                </a:r>
                <a14:m>
                  <m:oMath xmlns:m="http://schemas.openxmlformats.org/officeDocument/2006/math">
                    <m:sSub>
                      <m:sSubPr>
                        <m:ctrlPr>
                          <a:rPr lang="en-US" sz="1400" b="0" i="1" u="none" strike="noStrike" dirty="0" smtClean="0">
                            <a:solidFill>
                              <a:srgbClr val="888888"/>
                            </a:solidFill>
                            <a:latin typeface="Cambria Math" panose="02040503050406030204" pitchFamily="18" charset="0"/>
                            <a:ea typeface="+mj-ea"/>
                            <a:cs typeface="Roboto"/>
                            <a:sym typeface="Roboto"/>
                          </a:rPr>
                        </m:ctrlPr>
                      </m:sSubPr>
                      <m:e>
                        <m:r>
                          <a:rPr lang="en-US" sz="1400" b="0" i="1" u="none" strike="noStrike" dirty="0" smtClean="0">
                            <a:solidFill>
                              <a:srgbClr val="888888"/>
                            </a:solidFill>
                            <a:latin typeface="Cambria Math" panose="02040503050406030204" pitchFamily="18" charset="0"/>
                            <a:ea typeface="+mj-ea"/>
                            <a:cs typeface="Roboto"/>
                            <a:sym typeface="Roboto"/>
                          </a:rPr>
                          <m:t>𝑇</m:t>
                        </m:r>
                      </m:e>
                      <m:sub>
                        <m:r>
                          <a:rPr lang="en-US" sz="1400" b="0" i="1" u="none" strike="noStrike" dirty="0" smtClean="0">
                            <a:solidFill>
                              <a:srgbClr val="888888"/>
                            </a:solidFill>
                            <a:latin typeface="Cambria Math" panose="02040503050406030204" pitchFamily="18" charset="0"/>
                            <a:ea typeface="+mj-ea"/>
                            <a:cs typeface="Roboto"/>
                            <a:sym typeface="Roboto"/>
                          </a:rPr>
                          <m:t>1</m:t>
                        </m:r>
                      </m:sub>
                    </m:sSub>
                  </m:oMath>
                </a14:m>
                <a:r>
                  <a:rPr lang="en-US" sz="1400" b="0" i="0" u="none" strike="noStrike" dirty="0">
                    <a:solidFill>
                      <a:srgbClr val="888888"/>
                    </a:solidFill>
                    <a:latin typeface="+mj-ea"/>
                    <a:ea typeface="+mj-ea"/>
                    <a:cs typeface="Roboto"/>
                    <a:sym typeface="Roboto"/>
                  </a:rPr>
                  <a:t> </a:t>
                </a:r>
                <a:r>
                  <a:rPr lang="en-US" sz="1400" b="0" i="0" u="none" strike="noStrike" dirty="0" err="1">
                    <a:solidFill>
                      <a:srgbClr val="888888"/>
                    </a:solidFill>
                    <a:latin typeface="+mj-ea"/>
                    <a:ea typeface="+mj-ea"/>
                    <a:cs typeface="Roboto"/>
                    <a:sym typeface="Roboto"/>
                  </a:rPr>
                  <a:t>也必须对</a:t>
                </a:r>
                <a:r>
                  <a:rPr lang="en-US" sz="1400" b="0" i="0" u="none" strike="noStrike" dirty="0">
                    <a:solidFill>
                      <a:srgbClr val="888888"/>
                    </a:solidFill>
                    <a:latin typeface="+mj-ea"/>
                    <a:ea typeface="+mj-ea"/>
                    <a:cs typeface="Roboto"/>
                    <a:sym typeface="Roboto"/>
                  </a:rPr>
                  <a:t> </a:t>
                </a:r>
                <a14:m>
                  <m:oMath xmlns:m="http://schemas.openxmlformats.org/officeDocument/2006/math">
                    <m:sSub>
                      <m:sSubPr>
                        <m:ctrlPr>
                          <a:rPr lang="en-US" sz="1400" b="0" i="1" u="none" strike="noStrike" dirty="0" smtClean="0">
                            <a:solidFill>
                              <a:srgbClr val="888888"/>
                            </a:solidFill>
                            <a:latin typeface="Cambria Math" panose="02040503050406030204" pitchFamily="18" charset="0"/>
                            <a:ea typeface="+mj-ea"/>
                            <a:cs typeface="Roboto"/>
                            <a:sym typeface="Roboto"/>
                          </a:rPr>
                        </m:ctrlPr>
                      </m:sSubPr>
                      <m:e>
                        <m:r>
                          <a:rPr lang="en-US" sz="1400" b="0" i="1" u="none" strike="noStrike" dirty="0" smtClean="0">
                            <a:solidFill>
                              <a:srgbClr val="888888"/>
                            </a:solidFill>
                            <a:latin typeface="Cambria Math" panose="02040503050406030204" pitchFamily="18" charset="0"/>
                            <a:ea typeface="+mj-ea"/>
                            <a:cs typeface="Roboto"/>
                            <a:sym typeface="Roboto"/>
                          </a:rPr>
                          <m:t>𝑇</m:t>
                        </m:r>
                      </m:e>
                      <m:sub>
                        <m:r>
                          <a:rPr lang="en-US" sz="1400" b="0" i="1" u="none" strike="noStrike" dirty="0" smtClean="0">
                            <a:solidFill>
                              <a:srgbClr val="888888"/>
                            </a:solidFill>
                            <a:latin typeface="Cambria Math" panose="02040503050406030204" pitchFamily="18" charset="0"/>
                            <a:ea typeface="+mj-ea"/>
                            <a:cs typeface="Roboto"/>
                            <a:sym typeface="Roboto"/>
                          </a:rPr>
                          <m:t>3</m:t>
                        </m:r>
                      </m:sub>
                    </m:sSub>
                  </m:oMath>
                </a14:m>
                <a:r>
                  <a:rPr lang="en-US" sz="1400" b="0" i="0" u="none" strike="noStrike" dirty="0">
                    <a:solidFill>
                      <a:srgbClr val="888888"/>
                    </a:solidFill>
                    <a:latin typeface="+mj-ea"/>
                    <a:ea typeface="+mj-ea"/>
                    <a:cs typeface="Roboto"/>
                    <a:sym typeface="Roboto"/>
                  </a:rPr>
                  <a:t> </a:t>
                </a:r>
                <a:r>
                  <a:rPr lang="en-US" sz="1400" b="0" i="0" u="none" strike="noStrike" dirty="0" err="1">
                    <a:solidFill>
                      <a:srgbClr val="888888"/>
                    </a:solidFill>
                    <a:latin typeface="+mj-ea"/>
                    <a:ea typeface="+mj-ea"/>
                    <a:cs typeface="Roboto"/>
                    <a:sym typeface="Roboto"/>
                  </a:rPr>
                  <a:t>可见。此规则维护了可见性关系的传递性，确保了事务历史的逻辑一致性</a:t>
                </a:r>
                <a:r>
                  <a:rPr lang="en-US" sz="1400" b="0" i="0" u="none" strike="noStrike" dirty="0">
                    <a:solidFill>
                      <a:srgbClr val="888888"/>
                    </a:solidFill>
                    <a:latin typeface="+mj-ea"/>
                    <a:ea typeface="+mj-ea"/>
                    <a:cs typeface="Roboto"/>
                    <a:sym typeface="Roboto"/>
                  </a:rPr>
                  <a:t>。</a:t>
                </a:r>
                <a:endParaRPr lang="en-US" sz="1100" dirty="0">
                  <a:latin typeface="+mj-ea"/>
                  <a:ea typeface="+mj-ea"/>
                </a:endParaRPr>
              </a:p>
            </p:txBody>
          </p:sp>
        </mc:Choice>
        <mc:Fallback>
          <p:sp>
            <p:nvSpPr>
              <p:cNvPr id="18" name="AutoShape 18">
                <a:extLst>
                  <a:ext uri="{FF2B5EF4-FFF2-40B4-BE49-F238E27FC236}">
                    <a16:creationId xmlns:a16="http://schemas.microsoft.com/office/drawing/2014/main" id="{DB588193-BFA0-639E-70D8-B44822A0A6AB}"/>
                  </a:ext>
                </a:extLst>
              </p:cNvPr>
              <p:cNvSpPr>
                <a:spLocks noRot="1" noChangeAspect="1" noMove="1" noResize="1" noEditPoints="1" noAdjustHandles="1" noChangeArrowheads="1" noChangeShapeType="1" noTextEdit="1"/>
              </p:cNvSpPr>
              <p:nvPr/>
            </p:nvSpPr>
            <p:spPr>
              <a:xfrm>
                <a:off x="6540500" y="4254500"/>
                <a:ext cx="4635500" cy="1270000"/>
              </a:xfrm>
              <a:prstGeom prst="rect">
                <a:avLst/>
              </a:prstGeom>
              <a:blipFill>
                <a:blip r:embed="rId10"/>
                <a:stretch>
                  <a:fillRect l="-2368" r="-1579"/>
                </a:stretch>
              </a:blipFill>
              <a:ln w="12700" cap="flat" cmpd="sng">
                <a:noFill/>
                <a:prstDash val="solid"/>
                <a:round/>
              </a:ln>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3558DD42-D5F4-3A65-B1C3-5110012740ED}"/>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20</a:t>
            </a:r>
            <a:endParaRPr lang="zh-CN" altLang="en-US" dirty="0"/>
          </a:p>
        </p:txBody>
      </p:sp>
    </p:spTree>
    <p:extLst>
      <p:ext uri="{BB962C8B-B14F-4D97-AF65-F5344CB8AC3E}">
        <p14:creationId xmlns:p14="http://schemas.microsoft.com/office/powerpoint/2010/main" val="29486062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B426753-6B92-76F6-72A2-A481E8D11B9F}"/>
              </a:ext>
            </a:extLst>
          </p:cNvPr>
          <p:cNvSpPr>
            <a:spLocks noGrp="1"/>
          </p:cNvSpPr>
          <p:nvPr>
            <p:ph type="body" sz="quarter" idx="13"/>
          </p:nvPr>
        </p:nvSpPr>
        <p:spPr/>
        <p:txBody>
          <a:bodyPr/>
          <a:lstStyle/>
          <a:p>
            <a:endParaRPr lang="zh-CN" altLang="en-US"/>
          </a:p>
        </p:txBody>
      </p:sp>
      <p:pic>
        <p:nvPicPr>
          <p:cNvPr id="4" name="图片 3">
            <a:extLst>
              <a:ext uri="{FF2B5EF4-FFF2-40B4-BE49-F238E27FC236}">
                <a16:creationId xmlns:a16="http://schemas.microsoft.com/office/drawing/2014/main" id="{EE4122A7-86F0-8DAE-3ED3-611C2EF5F0A1}"/>
              </a:ext>
            </a:extLst>
          </p:cNvPr>
          <p:cNvPicPr>
            <a:picLocks noChangeAspect="1"/>
          </p:cNvPicPr>
          <p:nvPr/>
        </p:nvPicPr>
        <p:blipFill>
          <a:blip r:embed="rId2"/>
          <a:stretch>
            <a:fillRect/>
          </a:stretch>
        </p:blipFill>
        <p:spPr>
          <a:xfrm>
            <a:off x="2487617" y="1126239"/>
            <a:ext cx="7216765" cy="5403048"/>
          </a:xfrm>
          <a:prstGeom prst="rect">
            <a:avLst/>
          </a:prstGeom>
        </p:spPr>
      </p:pic>
      <p:sp>
        <p:nvSpPr>
          <p:cNvPr id="5" name="矩形 4">
            <a:extLst>
              <a:ext uri="{FF2B5EF4-FFF2-40B4-BE49-F238E27FC236}">
                <a16:creationId xmlns:a16="http://schemas.microsoft.com/office/drawing/2014/main" id="{ED13BB26-D1E7-DEA7-53EA-884CD3D5B24E}"/>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21</a:t>
            </a:r>
            <a:endParaRPr lang="zh-CN" altLang="en-US" dirty="0"/>
          </a:p>
        </p:txBody>
      </p:sp>
    </p:spTree>
    <p:extLst>
      <p:ext uri="{BB962C8B-B14F-4D97-AF65-F5344CB8AC3E}">
        <p14:creationId xmlns:p14="http://schemas.microsoft.com/office/powerpoint/2010/main" val="557786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05CFCB4-CB84-4A04-6A3C-8A17716481AA}"/>
              </a:ext>
            </a:extLst>
          </p:cNvPr>
          <p:cNvSpPr>
            <a:spLocks noGrp="1"/>
          </p:cNvSpPr>
          <p:nvPr>
            <p:ph type="body" sz="quarter" idx="13"/>
          </p:nvPr>
        </p:nvSpPr>
        <p:spPr/>
        <p:txBody>
          <a:bodyPr/>
          <a:lstStyle/>
          <a:p>
            <a:r>
              <a:rPr lang="zh-CN" altLang="en-US" dirty="0"/>
              <a:t>长连接配置同步</a:t>
            </a:r>
          </a:p>
        </p:txBody>
      </p:sp>
      <p:pic>
        <p:nvPicPr>
          <p:cNvPr id="4" name="图片 3">
            <a:extLst>
              <a:ext uri="{FF2B5EF4-FFF2-40B4-BE49-F238E27FC236}">
                <a16:creationId xmlns:a16="http://schemas.microsoft.com/office/drawing/2014/main" id="{B3D79C06-CBD5-64A5-F174-06DD2DE38619}"/>
              </a:ext>
            </a:extLst>
          </p:cNvPr>
          <p:cNvPicPr>
            <a:picLocks noChangeAspect="1"/>
          </p:cNvPicPr>
          <p:nvPr/>
        </p:nvPicPr>
        <p:blipFill>
          <a:blip r:embed="rId2"/>
          <a:stretch>
            <a:fillRect/>
          </a:stretch>
        </p:blipFill>
        <p:spPr>
          <a:xfrm>
            <a:off x="3533619" y="1126339"/>
            <a:ext cx="5124761" cy="5581641"/>
          </a:xfrm>
          <a:prstGeom prst="rect">
            <a:avLst/>
          </a:prstGeom>
        </p:spPr>
      </p:pic>
      <p:sp>
        <p:nvSpPr>
          <p:cNvPr id="5" name="矩形 4">
            <a:extLst>
              <a:ext uri="{FF2B5EF4-FFF2-40B4-BE49-F238E27FC236}">
                <a16:creationId xmlns:a16="http://schemas.microsoft.com/office/drawing/2014/main" id="{E7E5F850-9469-1289-B911-44F6960A1DEF}"/>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22</a:t>
            </a:r>
            <a:endParaRPr lang="zh-CN" altLang="en-US" dirty="0"/>
          </a:p>
        </p:txBody>
      </p:sp>
    </p:spTree>
    <p:extLst>
      <p:ext uri="{BB962C8B-B14F-4D97-AF65-F5344CB8AC3E}">
        <p14:creationId xmlns:p14="http://schemas.microsoft.com/office/powerpoint/2010/main" val="28274100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46B9FE3-8427-767F-B088-6ADE89089CF7}"/>
              </a:ext>
            </a:extLst>
          </p:cNvPr>
          <p:cNvSpPr>
            <a:spLocks noGrp="1"/>
          </p:cNvSpPr>
          <p:nvPr>
            <p:ph type="body" sz="quarter" idx="13"/>
          </p:nvPr>
        </p:nvSpPr>
        <p:spPr/>
        <p:txBody>
          <a:bodyPr/>
          <a:lstStyle/>
          <a:p>
            <a:r>
              <a:rPr lang="en-US" altLang="zh-CN" dirty="0"/>
              <a:t>2PC-Hole</a:t>
            </a:r>
            <a:r>
              <a:rPr lang="zh-CN" altLang="en-US" dirty="0"/>
              <a:t>消除</a:t>
            </a:r>
          </a:p>
        </p:txBody>
      </p:sp>
      <p:pic>
        <p:nvPicPr>
          <p:cNvPr id="4" name="图片 3">
            <a:extLst>
              <a:ext uri="{FF2B5EF4-FFF2-40B4-BE49-F238E27FC236}">
                <a16:creationId xmlns:a16="http://schemas.microsoft.com/office/drawing/2014/main" id="{5A0C9534-4210-F6C0-E4A0-65BE2715808E}"/>
              </a:ext>
            </a:extLst>
          </p:cNvPr>
          <p:cNvPicPr>
            <a:picLocks noChangeAspect="1"/>
          </p:cNvPicPr>
          <p:nvPr/>
        </p:nvPicPr>
        <p:blipFill>
          <a:blip r:embed="rId2"/>
          <a:stretch>
            <a:fillRect/>
          </a:stretch>
        </p:blipFill>
        <p:spPr>
          <a:xfrm>
            <a:off x="3312318" y="1092809"/>
            <a:ext cx="5567364" cy="5186732"/>
          </a:xfrm>
          <a:prstGeom prst="rect">
            <a:avLst/>
          </a:prstGeom>
        </p:spPr>
      </p:pic>
      <p:sp>
        <p:nvSpPr>
          <p:cNvPr id="5" name="矩形 4">
            <a:extLst>
              <a:ext uri="{FF2B5EF4-FFF2-40B4-BE49-F238E27FC236}">
                <a16:creationId xmlns:a16="http://schemas.microsoft.com/office/drawing/2014/main" id="{6708056E-61FC-9E1C-0BB5-D5936C072BD8}"/>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23</a:t>
            </a:r>
            <a:endParaRPr lang="zh-CN" altLang="en-US" dirty="0"/>
          </a:p>
        </p:txBody>
      </p:sp>
    </p:spTree>
    <p:extLst>
      <p:ext uri="{BB962C8B-B14F-4D97-AF65-F5344CB8AC3E}">
        <p14:creationId xmlns:p14="http://schemas.microsoft.com/office/powerpoint/2010/main" val="13102223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38656C9-2BE3-B927-A9AC-A6440ABC2C60}"/>
              </a:ext>
            </a:extLst>
          </p:cNvPr>
          <p:cNvSpPr>
            <a:spLocks noGrp="1"/>
          </p:cNvSpPr>
          <p:nvPr>
            <p:ph type="body" sz="quarter" idx="13"/>
          </p:nvPr>
        </p:nvSpPr>
        <p:spPr/>
        <p:txBody>
          <a:bodyPr/>
          <a:lstStyle/>
          <a:p>
            <a:r>
              <a:rPr lang="zh-CN" altLang="en-US" dirty="0"/>
              <a:t>单片事务快速提交</a:t>
            </a:r>
          </a:p>
        </p:txBody>
      </p:sp>
      <p:pic>
        <p:nvPicPr>
          <p:cNvPr id="4" name="图片 3">
            <a:extLst>
              <a:ext uri="{FF2B5EF4-FFF2-40B4-BE49-F238E27FC236}">
                <a16:creationId xmlns:a16="http://schemas.microsoft.com/office/drawing/2014/main" id="{218623BA-3CF1-FC32-103E-186C024AC8E2}"/>
              </a:ext>
            </a:extLst>
          </p:cNvPr>
          <p:cNvPicPr>
            <a:picLocks noChangeAspect="1"/>
          </p:cNvPicPr>
          <p:nvPr/>
        </p:nvPicPr>
        <p:blipFill>
          <a:blip r:embed="rId2"/>
          <a:stretch>
            <a:fillRect/>
          </a:stretch>
        </p:blipFill>
        <p:spPr>
          <a:xfrm>
            <a:off x="3562349" y="1124655"/>
            <a:ext cx="5067302" cy="5108752"/>
          </a:xfrm>
          <a:prstGeom prst="rect">
            <a:avLst/>
          </a:prstGeom>
        </p:spPr>
      </p:pic>
      <p:sp>
        <p:nvSpPr>
          <p:cNvPr id="5" name="矩形 4">
            <a:extLst>
              <a:ext uri="{FF2B5EF4-FFF2-40B4-BE49-F238E27FC236}">
                <a16:creationId xmlns:a16="http://schemas.microsoft.com/office/drawing/2014/main" id="{E6629622-1A96-7B4C-4FF7-6E6D0426DBCB}"/>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24</a:t>
            </a:r>
            <a:endParaRPr lang="zh-CN" altLang="en-US" dirty="0"/>
          </a:p>
        </p:txBody>
      </p:sp>
    </p:spTree>
    <p:extLst>
      <p:ext uri="{BB962C8B-B14F-4D97-AF65-F5344CB8AC3E}">
        <p14:creationId xmlns:p14="http://schemas.microsoft.com/office/powerpoint/2010/main" val="2560160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C8BB2-B6CF-7BE7-2F1B-7DE7A6ECBC01}"/>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36278609-E31B-E11C-318F-1003AD591F00}"/>
              </a:ext>
            </a:extLst>
          </p:cNvPr>
          <p:cNvSpPr/>
          <p:nvPr/>
        </p:nvSpPr>
        <p:spPr>
          <a:xfrm>
            <a:off x="1" y="2050256"/>
            <a:ext cx="12192000" cy="2736057"/>
          </a:xfrm>
          <a:prstGeom prst="rect">
            <a:avLst/>
          </a:prstGeom>
          <a:solidFill>
            <a:srgbClr val="700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Picture 2" descr="https://ese.nju.edu.cn/_upload/tpl/04/32/1074/template1074/htmlRes/logo.png">
            <a:extLst>
              <a:ext uri="{FF2B5EF4-FFF2-40B4-BE49-F238E27FC236}">
                <a16:creationId xmlns:a16="http://schemas.microsoft.com/office/drawing/2014/main" id="{175E6732-19A2-8071-DAB7-DEBFC0A6AF5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10458" y="163693"/>
            <a:ext cx="1913640" cy="59026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469B6D4E-9CA4-A7EE-8B86-D777A49B5964}"/>
              </a:ext>
            </a:extLst>
          </p:cNvPr>
          <p:cNvSpPr txBox="1"/>
          <p:nvPr/>
        </p:nvSpPr>
        <p:spPr>
          <a:xfrm>
            <a:off x="4295658" y="3013500"/>
            <a:ext cx="6698574" cy="830997"/>
          </a:xfrm>
          <a:prstGeom prst="rect">
            <a:avLst/>
          </a:prstGeom>
          <a:noFill/>
        </p:spPr>
        <p:txBody>
          <a:bodyPr wrap="square" rtlCol="0">
            <a:spAutoFit/>
          </a:bodyPr>
          <a:lstStyle/>
          <a:p>
            <a:pPr algn="ctr"/>
            <a:r>
              <a:rPr lang="zh-CN" altLang="en-US" sz="4800" b="1" dirty="0">
                <a:solidFill>
                  <a:schemeClr val="bg1"/>
                </a:solidFill>
                <a:latin typeface="+mn-ea"/>
              </a:rPr>
              <a:t>实验结果与总结展望</a:t>
            </a:r>
          </a:p>
        </p:txBody>
      </p:sp>
      <p:sp>
        <p:nvSpPr>
          <p:cNvPr id="2" name="Freeform 8">
            <a:extLst>
              <a:ext uri="{FF2B5EF4-FFF2-40B4-BE49-F238E27FC236}">
                <a16:creationId xmlns:a16="http://schemas.microsoft.com/office/drawing/2014/main" id="{BBFFA212-8AA3-4CC4-3F5B-0DCF63A6503B}"/>
              </a:ext>
            </a:extLst>
          </p:cNvPr>
          <p:cNvSpPr/>
          <p:nvPr/>
        </p:nvSpPr>
        <p:spPr bwMode="auto">
          <a:xfrm>
            <a:off x="1455384" y="1704802"/>
            <a:ext cx="3381639" cy="3378639"/>
          </a:xfrm>
          <a:custGeom>
            <a:avLst/>
            <a:gdLst>
              <a:gd name="T0" fmla="*/ 929 w 1857"/>
              <a:gd name="T1" fmla="*/ 0 h 1855"/>
              <a:gd name="T2" fmla="*/ 1857 w 1857"/>
              <a:gd name="T3" fmla="*/ 928 h 1855"/>
              <a:gd name="T4" fmla="*/ 929 w 1857"/>
              <a:gd name="T5" fmla="*/ 1855 h 1855"/>
              <a:gd name="T6" fmla="*/ 0 w 1857"/>
              <a:gd name="T7" fmla="*/ 928 h 1855"/>
              <a:gd name="T8" fmla="*/ 929 w 1857"/>
              <a:gd name="T9" fmla="*/ 0 h 1855"/>
            </a:gdLst>
            <a:ahLst/>
            <a:cxnLst>
              <a:cxn ang="0">
                <a:pos x="T0" y="T1"/>
              </a:cxn>
              <a:cxn ang="0">
                <a:pos x="T2" y="T3"/>
              </a:cxn>
              <a:cxn ang="0">
                <a:pos x="T4" y="T5"/>
              </a:cxn>
              <a:cxn ang="0">
                <a:pos x="T6" y="T7"/>
              </a:cxn>
              <a:cxn ang="0">
                <a:pos x="T8" y="T9"/>
              </a:cxn>
            </a:cxnLst>
            <a:rect l="0" t="0" r="r" b="b"/>
            <a:pathLst>
              <a:path w="1857" h="1855">
                <a:moveTo>
                  <a:pt x="929" y="0"/>
                </a:moveTo>
                <a:lnTo>
                  <a:pt x="1857" y="928"/>
                </a:lnTo>
                <a:lnTo>
                  <a:pt x="929" y="1855"/>
                </a:lnTo>
                <a:lnTo>
                  <a:pt x="0" y="928"/>
                </a:lnTo>
                <a:lnTo>
                  <a:pt x="929" y="0"/>
                </a:lnTo>
                <a:close/>
              </a:path>
            </a:pathLst>
          </a:custGeom>
          <a:solidFill>
            <a:srgbClr val="6E0F6D"/>
          </a:solidFill>
          <a:ln w="0">
            <a:noFill/>
            <a:prstDash val="solid"/>
            <a:round/>
          </a:ln>
        </p:spPr>
        <p:txBody>
          <a:bodyPr vert="horz" wrap="square" lIns="121890" tIns="60945" rIns="121890" bIns="60945" numCol="1" anchor="t" anchorCtr="0" compatLnSpc="1"/>
          <a:lstStyle/>
          <a:p>
            <a:endParaRPr lang="zh-CN" altLang="en-US"/>
          </a:p>
        </p:txBody>
      </p:sp>
      <p:sp>
        <p:nvSpPr>
          <p:cNvPr id="5" name="文本框 4">
            <a:extLst>
              <a:ext uri="{FF2B5EF4-FFF2-40B4-BE49-F238E27FC236}">
                <a16:creationId xmlns:a16="http://schemas.microsoft.com/office/drawing/2014/main" id="{2F11A0B7-33EA-9491-F524-94379DFC6EEC}"/>
              </a:ext>
            </a:extLst>
          </p:cNvPr>
          <p:cNvSpPr txBox="1">
            <a:spLocks noChangeArrowheads="1"/>
          </p:cNvSpPr>
          <p:nvPr>
            <p:custDataLst>
              <p:tags r:id="rId1"/>
            </p:custDataLst>
          </p:nvPr>
        </p:nvSpPr>
        <p:spPr bwMode="auto">
          <a:xfrm>
            <a:off x="2342201" y="2645454"/>
            <a:ext cx="1608005" cy="149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05</a:t>
            </a:r>
            <a:endParaRPr lang="zh-CN" altLang="en-US" sz="973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6" name="页脚占位符 5">
            <a:extLst>
              <a:ext uri="{FF2B5EF4-FFF2-40B4-BE49-F238E27FC236}">
                <a16:creationId xmlns:a16="http://schemas.microsoft.com/office/drawing/2014/main" id="{F4A8D206-6AEB-6F6E-114C-194A9369AFF0}"/>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74217393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CF05F-4B15-CC86-CEDD-D390661B15C1}"/>
            </a:ext>
          </a:extLst>
        </p:cNvPr>
        <p:cNvGrpSpPr/>
        <p:nvPr/>
      </p:nvGrpSpPr>
      <p:grpSpPr>
        <a:xfrm>
          <a:off x="0" y="0"/>
          <a:ext cx="0" cy="0"/>
          <a:chOff x="0" y="0"/>
          <a:chExt cx="0" cy="0"/>
        </a:xfrm>
      </p:grpSpPr>
      <p:sp>
        <p:nvSpPr>
          <p:cNvPr id="3" name="文本占位符 2">
            <a:extLst>
              <a:ext uri="{FF2B5EF4-FFF2-40B4-BE49-F238E27FC236}">
                <a16:creationId xmlns:a16="http://schemas.microsoft.com/office/drawing/2014/main" id="{47A58FD4-1776-9776-5E8B-5D8A9CEDD5A2}"/>
              </a:ext>
            </a:extLst>
          </p:cNvPr>
          <p:cNvSpPr>
            <a:spLocks noGrp="1"/>
          </p:cNvSpPr>
          <p:nvPr>
            <p:ph type="body" sz="quarter" idx="13"/>
          </p:nvPr>
        </p:nvSpPr>
        <p:spPr>
          <a:xfrm>
            <a:off x="1032184" y="359490"/>
            <a:ext cx="10834208" cy="461665"/>
          </a:xfrm>
        </p:spPr>
        <p:txBody>
          <a:bodyPr/>
          <a:lstStyle/>
          <a:p>
            <a:r>
              <a:rPr kumimoji="1" lang="zh-CN" altLang="en-US" sz="2400" dirty="0">
                <a:sym typeface="+mn-ea"/>
              </a:rPr>
              <a:t>实验结果</a:t>
            </a:r>
            <a:endParaRPr kumimoji="1" lang="zh-CN" altLang="en-US" sz="2400" dirty="0"/>
          </a:p>
        </p:txBody>
      </p:sp>
      <p:pic>
        <p:nvPicPr>
          <p:cNvPr id="4" name="图片 3">
            <a:extLst>
              <a:ext uri="{FF2B5EF4-FFF2-40B4-BE49-F238E27FC236}">
                <a16:creationId xmlns:a16="http://schemas.microsoft.com/office/drawing/2014/main" id="{42E31D30-00F4-12F6-DF2D-1714EB8CDB8A}"/>
              </a:ext>
            </a:extLst>
          </p:cNvPr>
          <p:cNvPicPr>
            <a:picLocks noChangeAspect="1"/>
          </p:cNvPicPr>
          <p:nvPr/>
        </p:nvPicPr>
        <p:blipFill>
          <a:blip r:embed="rId3"/>
          <a:stretch>
            <a:fillRect/>
          </a:stretch>
        </p:blipFill>
        <p:spPr>
          <a:xfrm>
            <a:off x="1763654" y="1467599"/>
            <a:ext cx="8664691" cy="4694327"/>
          </a:xfrm>
          <a:prstGeom prst="rect">
            <a:avLst/>
          </a:prstGeom>
        </p:spPr>
      </p:pic>
      <p:sp>
        <p:nvSpPr>
          <p:cNvPr id="5" name="矩形: 圆角 4">
            <a:extLst>
              <a:ext uri="{FF2B5EF4-FFF2-40B4-BE49-F238E27FC236}">
                <a16:creationId xmlns:a16="http://schemas.microsoft.com/office/drawing/2014/main" id="{B872AAD5-075E-26DA-3B6A-91C14D314057}"/>
              </a:ext>
            </a:extLst>
          </p:cNvPr>
          <p:cNvSpPr/>
          <p:nvPr/>
        </p:nvSpPr>
        <p:spPr>
          <a:xfrm>
            <a:off x="4424023" y="2847104"/>
            <a:ext cx="2669721" cy="151772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7030A0"/>
                </a:solidFill>
              </a:rPr>
              <a:t>证明操作语义的正确性</a:t>
            </a:r>
          </a:p>
        </p:txBody>
      </p:sp>
      <p:sp>
        <p:nvSpPr>
          <p:cNvPr id="6" name="矩形 5">
            <a:extLst>
              <a:ext uri="{FF2B5EF4-FFF2-40B4-BE49-F238E27FC236}">
                <a16:creationId xmlns:a16="http://schemas.microsoft.com/office/drawing/2014/main" id="{1462B328-EF74-29BC-CCB1-D51BC4CE3156}"/>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26</a:t>
            </a:r>
            <a:endParaRPr lang="zh-CN" altLang="en-US" dirty="0"/>
          </a:p>
        </p:txBody>
      </p:sp>
    </p:spTree>
    <p:extLst>
      <p:ext uri="{BB962C8B-B14F-4D97-AF65-F5344CB8AC3E}">
        <p14:creationId xmlns:p14="http://schemas.microsoft.com/office/powerpoint/2010/main" val="297773629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1032184" y="359490"/>
            <a:ext cx="10834208" cy="461665"/>
          </a:xfrm>
        </p:spPr>
        <p:txBody>
          <a:bodyPr/>
          <a:lstStyle/>
          <a:p>
            <a:r>
              <a:rPr kumimoji="1" lang="zh-CN" altLang="en-US" sz="2400" dirty="0">
                <a:sym typeface="+mn-ea"/>
              </a:rPr>
              <a:t>实验结果</a:t>
            </a:r>
            <a:endParaRPr kumimoji="1" lang="zh-CN" altLang="en-US" sz="2400" dirty="0"/>
          </a:p>
        </p:txBody>
      </p:sp>
      <p:pic>
        <p:nvPicPr>
          <p:cNvPr id="15" name="图片 14">
            <a:extLst>
              <a:ext uri="{FF2B5EF4-FFF2-40B4-BE49-F238E27FC236}">
                <a16:creationId xmlns:a16="http://schemas.microsoft.com/office/drawing/2014/main" id="{9F12F031-C1BB-15B4-8E7C-89232ACF99E5}"/>
              </a:ext>
            </a:extLst>
          </p:cNvPr>
          <p:cNvPicPr>
            <a:picLocks noChangeAspect="1"/>
          </p:cNvPicPr>
          <p:nvPr/>
        </p:nvPicPr>
        <p:blipFill>
          <a:blip r:embed="rId3"/>
          <a:stretch>
            <a:fillRect/>
          </a:stretch>
        </p:blipFill>
        <p:spPr>
          <a:xfrm>
            <a:off x="6218694" y="1464468"/>
            <a:ext cx="5215437" cy="3303924"/>
          </a:xfrm>
          <a:prstGeom prst="rect">
            <a:avLst/>
          </a:prstGeom>
        </p:spPr>
      </p:pic>
      <p:pic>
        <p:nvPicPr>
          <p:cNvPr id="17" name="图片 16">
            <a:extLst>
              <a:ext uri="{FF2B5EF4-FFF2-40B4-BE49-F238E27FC236}">
                <a16:creationId xmlns:a16="http://schemas.microsoft.com/office/drawing/2014/main" id="{5AA4A175-7145-9B7D-082C-01AC1E04B73B}"/>
              </a:ext>
            </a:extLst>
          </p:cNvPr>
          <p:cNvPicPr>
            <a:picLocks noChangeAspect="1"/>
          </p:cNvPicPr>
          <p:nvPr/>
        </p:nvPicPr>
        <p:blipFill>
          <a:blip r:embed="rId4"/>
          <a:stretch>
            <a:fillRect/>
          </a:stretch>
        </p:blipFill>
        <p:spPr>
          <a:xfrm>
            <a:off x="757868" y="1462833"/>
            <a:ext cx="5215437" cy="3305559"/>
          </a:xfrm>
          <a:prstGeom prst="rect">
            <a:avLst/>
          </a:prstGeom>
        </p:spPr>
      </p:pic>
      <p:sp>
        <p:nvSpPr>
          <p:cNvPr id="19" name="文本框 18">
            <a:extLst>
              <a:ext uri="{FF2B5EF4-FFF2-40B4-BE49-F238E27FC236}">
                <a16:creationId xmlns:a16="http://schemas.microsoft.com/office/drawing/2014/main" id="{7EB64714-6148-C2D4-87BF-7FFDFBD3C34B}"/>
              </a:ext>
            </a:extLst>
          </p:cNvPr>
          <p:cNvSpPr txBox="1"/>
          <p:nvPr/>
        </p:nvSpPr>
        <p:spPr>
          <a:xfrm>
            <a:off x="2144739" y="5071516"/>
            <a:ext cx="2441694" cy="338554"/>
          </a:xfrm>
          <a:prstGeom prst="rect">
            <a:avLst/>
          </a:prstGeom>
          <a:noFill/>
        </p:spPr>
        <p:txBody>
          <a:bodyPr wrap="none" rtlCol="0">
            <a:spAutoFit/>
          </a:bodyPr>
          <a:lstStyle/>
          <a:p>
            <a:pPr algn="ctr"/>
            <a:r>
              <a:rPr lang="zh-CN" altLang="en-US" sz="1600" dirty="0"/>
              <a:t>单一可用区下吞吐率对比</a:t>
            </a:r>
          </a:p>
        </p:txBody>
      </p:sp>
      <p:sp>
        <p:nvSpPr>
          <p:cNvPr id="20" name="文本框 19">
            <a:extLst>
              <a:ext uri="{FF2B5EF4-FFF2-40B4-BE49-F238E27FC236}">
                <a16:creationId xmlns:a16="http://schemas.microsoft.com/office/drawing/2014/main" id="{404D0A79-F1BF-5178-F0F6-BC13EA253D17}"/>
              </a:ext>
            </a:extLst>
          </p:cNvPr>
          <p:cNvSpPr txBox="1"/>
          <p:nvPr/>
        </p:nvSpPr>
        <p:spPr>
          <a:xfrm>
            <a:off x="7708161" y="5071516"/>
            <a:ext cx="2236510" cy="338554"/>
          </a:xfrm>
          <a:prstGeom prst="rect">
            <a:avLst/>
          </a:prstGeom>
          <a:noFill/>
        </p:spPr>
        <p:txBody>
          <a:bodyPr wrap="none" rtlCol="0">
            <a:spAutoFit/>
          </a:bodyPr>
          <a:lstStyle/>
          <a:p>
            <a:pPr algn="ctr"/>
            <a:r>
              <a:rPr lang="zh-CN" altLang="en-US" sz="1600" dirty="0"/>
              <a:t>多可用区下吞吐率对比</a:t>
            </a:r>
          </a:p>
        </p:txBody>
      </p:sp>
      <p:sp>
        <p:nvSpPr>
          <p:cNvPr id="21" name="矩形 20">
            <a:extLst>
              <a:ext uri="{FF2B5EF4-FFF2-40B4-BE49-F238E27FC236}">
                <a16:creationId xmlns:a16="http://schemas.microsoft.com/office/drawing/2014/main" id="{68AF5DBF-6EEF-470A-A5E6-F80862980100}"/>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27</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a:extLst>
              <a:ext uri="{FF2B5EF4-FFF2-40B4-BE49-F238E27FC236}">
                <a16:creationId xmlns:a16="http://schemas.microsoft.com/office/drawing/2014/main" id="{FC7E88E2-A1CD-71FA-F82A-2D112BE4AEB0}"/>
              </a:ext>
            </a:extLst>
          </p:cNvPr>
          <p:cNvSpPr/>
          <p:nvPr/>
        </p:nvSpPr>
        <p:spPr>
          <a:xfrm>
            <a:off x="1438275" y="4199226"/>
            <a:ext cx="9315450" cy="1507331"/>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dirty="0"/>
          </a:p>
        </p:txBody>
      </p:sp>
      <p:sp>
        <p:nvSpPr>
          <p:cNvPr id="3" name="文本占位符 2"/>
          <p:cNvSpPr>
            <a:spLocks noGrp="1"/>
          </p:cNvSpPr>
          <p:nvPr>
            <p:ph type="body" sz="quarter" idx="13"/>
          </p:nvPr>
        </p:nvSpPr>
        <p:spPr>
          <a:xfrm>
            <a:off x="1032184" y="359490"/>
            <a:ext cx="10834208" cy="461665"/>
          </a:xfrm>
        </p:spPr>
        <p:txBody>
          <a:bodyPr/>
          <a:lstStyle/>
          <a:p>
            <a:r>
              <a:rPr kumimoji="1" lang="zh-CN" altLang="en-US" sz="2400" dirty="0">
                <a:sym typeface="+mn-ea"/>
              </a:rPr>
              <a:t>实验结果：整体意义分析</a:t>
            </a:r>
            <a:endParaRPr kumimoji="1" lang="zh-CN" altLang="en-US" sz="2400" dirty="0"/>
          </a:p>
        </p:txBody>
      </p:sp>
      <p:sp>
        <p:nvSpPr>
          <p:cNvPr id="5" name="文本框 4">
            <a:extLst>
              <a:ext uri="{FF2B5EF4-FFF2-40B4-BE49-F238E27FC236}">
                <a16:creationId xmlns:a16="http://schemas.microsoft.com/office/drawing/2014/main" id="{C2584F96-DAA2-1ADD-B9BF-A076AA217528}"/>
              </a:ext>
            </a:extLst>
          </p:cNvPr>
          <p:cNvSpPr txBox="1"/>
          <p:nvPr/>
        </p:nvSpPr>
        <p:spPr>
          <a:xfrm>
            <a:off x="1438275" y="1705451"/>
            <a:ext cx="9315450" cy="2031325"/>
          </a:xfrm>
          <a:prstGeom prst="rect">
            <a:avLst/>
          </a:prstGeom>
          <a:solidFill>
            <a:schemeClr val="bg1">
              <a:lumMod val="85000"/>
            </a:schemeClr>
          </a:solidFill>
        </p:spPr>
        <p:txBody>
          <a:bodyPr wrap="square" rtlCol="0">
            <a:spAutoFit/>
          </a:bodyPr>
          <a:lstStyle/>
          <a:p>
            <a:r>
              <a:rPr lang="zh-CN" altLang="en-US" dirty="0"/>
              <a:t>基于实验数据，可以得到以下结论：</a:t>
            </a:r>
            <a:br>
              <a:rPr lang="en-US" altLang="zh-CN" dirty="0"/>
            </a:br>
            <a:r>
              <a:rPr lang="en-US" altLang="zh-CN" dirty="0"/>
              <a:t>1. </a:t>
            </a:r>
            <a:r>
              <a:rPr lang="zh-CN" altLang="en-US" dirty="0"/>
              <a:t>实验结果表明，经过 </a:t>
            </a:r>
            <a:r>
              <a:rPr lang="en-US" altLang="zh-CN" dirty="0"/>
              <a:t>MIA </a:t>
            </a:r>
            <a:r>
              <a:rPr lang="zh-CN" altLang="en-US" dirty="0"/>
              <a:t>重新分配事务隔离级别后，系统吞吐率显著提升，</a:t>
            </a:r>
            <a:r>
              <a:rPr lang="en-US" altLang="zh-CN" dirty="0"/>
              <a:t>MIAED </a:t>
            </a:r>
            <a:r>
              <a:rPr lang="zh-CN" altLang="en-US" dirty="0"/>
              <a:t>在两种部署方式、三类负载下均取得最优结果。</a:t>
            </a:r>
          </a:p>
          <a:p>
            <a:r>
              <a:rPr lang="en-US" altLang="zh-CN" dirty="0"/>
              <a:t>2. </a:t>
            </a:r>
            <a:r>
              <a:rPr lang="zh-CN" altLang="en-US" dirty="0"/>
              <a:t>在单可用区部署下，</a:t>
            </a:r>
            <a:r>
              <a:rPr lang="en-US" altLang="zh-CN" dirty="0"/>
              <a:t>MIA</a:t>
            </a:r>
            <a:r>
              <a:rPr lang="zh-CN" altLang="en-US" dirty="0"/>
              <a:t>后</a:t>
            </a:r>
            <a:r>
              <a:rPr lang="en-US" altLang="zh-CN" dirty="0"/>
              <a:t> </a:t>
            </a:r>
            <a:r>
              <a:rPr lang="zh-CN" altLang="en-US" dirty="0"/>
              <a:t>的平均吞吐率由 </a:t>
            </a:r>
            <a:r>
              <a:rPr lang="en-US" altLang="zh-CN" dirty="0"/>
              <a:t>SER </a:t>
            </a:r>
            <a:r>
              <a:rPr lang="zh-CN" altLang="en-US" dirty="0"/>
              <a:t>的 </a:t>
            </a:r>
            <a:r>
              <a:rPr lang="en-US" altLang="zh-CN" dirty="0"/>
              <a:t>69.36 </a:t>
            </a:r>
            <a:r>
              <a:rPr lang="en-US" altLang="zh-CN" dirty="0" err="1"/>
              <a:t>tx</a:t>
            </a:r>
            <a:r>
              <a:rPr lang="en-US" altLang="zh-CN" dirty="0"/>
              <a:t>/s </a:t>
            </a:r>
            <a:r>
              <a:rPr lang="zh-CN" altLang="en-US" dirty="0"/>
              <a:t>提升至 </a:t>
            </a:r>
            <a:r>
              <a:rPr lang="en-US" altLang="zh-CN" dirty="0"/>
              <a:t>206.19 </a:t>
            </a:r>
            <a:r>
              <a:rPr lang="en-US" altLang="zh-CN" dirty="0" err="1"/>
              <a:t>tx</a:t>
            </a:r>
            <a:r>
              <a:rPr lang="en-US" altLang="zh-CN" dirty="0"/>
              <a:t>/s</a:t>
            </a:r>
            <a:r>
              <a:rPr lang="zh-CN" altLang="en-US" dirty="0"/>
              <a:t>，增幅约 </a:t>
            </a:r>
            <a:r>
              <a:rPr lang="en-US" altLang="zh-CN" dirty="0"/>
              <a:t>197.28%</a:t>
            </a:r>
            <a:r>
              <a:rPr lang="zh-CN" altLang="en-US" dirty="0"/>
              <a:t>。</a:t>
            </a:r>
          </a:p>
          <a:p>
            <a:r>
              <a:rPr lang="en-US" altLang="zh-CN" dirty="0"/>
              <a:t>3. </a:t>
            </a:r>
            <a:r>
              <a:rPr lang="zh-CN" altLang="en-US" dirty="0"/>
              <a:t>在跨可用区部署下，</a:t>
            </a:r>
            <a:r>
              <a:rPr lang="en-US" altLang="zh-CN" dirty="0"/>
              <a:t>MIA</a:t>
            </a:r>
            <a:r>
              <a:rPr lang="zh-CN" altLang="en-US" dirty="0"/>
              <a:t>后</a:t>
            </a:r>
            <a:r>
              <a:rPr lang="en-US" altLang="zh-CN" dirty="0"/>
              <a:t> </a:t>
            </a:r>
            <a:r>
              <a:rPr lang="zh-CN" altLang="en-US" dirty="0"/>
              <a:t>的平均吞吐率由 </a:t>
            </a:r>
            <a:r>
              <a:rPr lang="en-US" altLang="zh-CN" dirty="0"/>
              <a:t>SER </a:t>
            </a:r>
            <a:r>
              <a:rPr lang="zh-CN" altLang="en-US" dirty="0"/>
              <a:t>的 </a:t>
            </a:r>
            <a:r>
              <a:rPr lang="en-US" altLang="zh-CN" dirty="0"/>
              <a:t>7.13 </a:t>
            </a:r>
            <a:r>
              <a:rPr lang="en-US" altLang="zh-CN" dirty="0" err="1"/>
              <a:t>tx</a:t>
            </a:r>
            <a:r>
              <a:rPr lang="en-US" altLang="zh-CN" dirty="0"/>
              <a:t>/s </a:t>
            </a:r>
            <a:r>
              <a:rPr lang="zh-CN" altLang="en-US" dirty="0"/>
              <a:t>提升至 </a:t>
            </a:r>
            <a:r>
              <a:rPr lang="en-US" altLang="zh-CN" dirty="0"/>
              <a:t>21.17 </a:t>
            </a:r>
            <a:r>
              <a:rPr lang="en-US" altLang="zh-CN" dirty="0" err="1"/>
              <a:t>tx</a:t>
            </a:r>
            <a:r>
              <a:rPr lang="en-US" altLang="zh-CN" dirty="0"/>
              <a:t>/s</a:t>
            </a:r>
            <a:r>
              <a:rPr lang="zh-CN" altLang="en-US" dirty="0"/>
              <a:t>，增幅约 </a:t>
            </a:r>
            <a:r>
              <a:rPr lang="en-US" altLang="zh-CN" dirty="0"/>
              <a:t>196.81%</a:t>
            </a:r>
            <a:r>
              <a:rPr lang="zh-CN" altLang="en-US" dirty="0"/>
              <a:t>，说明该方法在更高协调开销场景下仍具有稳定优势。</a:t>
            </a:r>
            <a:endParaRPr lang="zh-CN" altLang="en-US" dirty="0">
              <a:solidFill>
                <a:srgbClr val="870078"/>
              </a:solidFill>
            </a:endParaRPr>
          </a:p>
        </p:txBody>
      </p:sp>
      <p:sp>
        <p:nvSpPr>
          <p:cNvPr id="10" name="文本框 9">
            <a:extLst>
              <a:ext uri="{FF2B5EF4-FFF2-40B4-BE49-F238E27FC236}">
                <a16:creationId xmlns:a16="http://schemas.microsoft.com/office/drawing/2014/main" id="{37C89175-385C-947D-9BC0-0BF0AA40FCFB}"/>
              </a:ext>
            </a:extLst>
          </p:cNvPr>
          <p:cNvSpPr txBox="1"/>
          <p:nvPr/>
        </p:nvSpPr>
        <p:spPr>
          <a:xfrm>
            <a:off x="1554956" y="4337338"/>
            <a:ext cx="9082088" cy="1231106"/>
          </a:xfrm>
          <a:prstGeom prst="rect">
            <a:avLst/>
          </a:prstGeom>
          <a:noFill/>
        </p:spPr>
        <p:txBody>
          <a:bodyPr wrap="square" rtlCol="0">
            <a:spAutoFit/>
          </a:bodyPr>
          <a:lstStyle/>
          <a:p>
            <a:r>
              <a:rPr lang="zh-CN" altLang="en-US" sz="2000" dirty="0">
                <a:solidFill>
                  <a:srgbClr val="870078"/>
                </a:solidFill>
              </a:rPr>
              <a:t>实验结果表明：</a:t>
            </a:r>
            <a:br>
              <a:rPr lang="en-US" altLang="zh-CN" dirty="0">
                <a:solidFill>
                  <a:srgbClr val="870078"/>
                </a:solidFill>
              </a:rPr>
            </a:br>
            <a:r>
              <a:rPr lang="zh-CN" altLang="en-US" dirty="0">
                <a:solidFill>
                  <a:srgbClr val="870078"/>
                </a:solidFill>
              </a:rPr>
              <a:t>经过 </a:t>
            </a:r>
            <a:r>
              <a:rPr lang="en-US" altLang="zh-CN" dirty="0">
                <a:solidFill>
                  <a:srgbClr val="870078"/>
                </a:solidFill>
              </a:rPr>
              <a:t>MIA </a:t>
            </a:r>
            <a:r>
              <a:rPr lang="zh-CN" altLang="en-US" dirty="0">
                <a:solidFill>
                  <a:srgbClr val="870078"/>
                </a:solidFill>
              </a:rPr>
              <a:t>对事务隔离级别进行重新分配后，</a:t>
            </a:r>
            <a:r>
              <a:rPr lang="zh-CN" altLang="en-US" b="1" dirty="0">
                <a:solidFill>
                  <a:srgbClr val="870078"/>
                </a:solidFill>
              </a:rPr>
              <a:t>系统对事务的吞吐率得到显著提升</a:t>
            </a:r>
            <a:r>
              <a:rPr lang="zh-CN" altLang="en-US" dirty="0">
                <a:solidFill>
                  <a:srgbClr val="870078"/>
                </a:solidFill>
              </a:rPr>
              <a:t>；</a:t>
            </a:r>
            <a:endParaRPr lang="en-US" altLang="zh-CN" dirty="0">
              <a:solidFill>
                <a:srgbClr val="870078"/>
              </a:solidFill>
            </a:endParaRPr>
          </a:p>
          <a:p>
            <a:r>
              <a:rPr lang="zh-CN" altLang="en-US" dirty="0">
                <a:solidFill>
                  <a:srgbClr val="870078"/>
                </a:solidFill>
              </a:rPr>
              <a:t>在单可用区和跨可用区两种部署方式下， </a:t>
            </a:r>
            <a:r>
              <a:rPr lang="en-US" altLang="zh-CN" dirty="0">
                <a:solidFill>
                  <a:srgbClr val="870078"/>
                </a:solidFill>
              </a:rPr>
              <a:t>MIA</a:t>
            </a:r>
            <a:r>
              <a:rPr lang="zh-CN" altLang="en-US" dirty="0">
                <a:solidFill>
                  <a:srgbClr val="870078"/>
                </a:solidFill>
              </a:rPr>
              <a:t>后</a:t>
            </a:r>
            <a:r>
              <a:rPr lang="en-US" altLang="zh-CN" dirty="0">
                <a:solidFill>
                  <a:srgbClr val="870078"/>
                </a:solidFill>
              </a:rPr>
              <a:t> </a:t>
            </a:r>
            <a:r>
              <a:rPr lang="zh-CN" altLang="en-US" dirty="0">
                <a:solidFill>
                  <a:srgbClr val="870078"/>
                </a:solidFill>
              </a:rPr>
              <a:t>相比单一 </a:t>
            </a:r>
            <a:r>
              <a:rPr lang="en-US" altLang="zh-CN" dirty="0">
                <a:solidFill>
                  <a:srgbClr val="870078"/>
                </a:solidFill>
              </a:rPr>
              <a:t>SER </a:t>
            </a:r>
            <a:r>
              <a:rPr lang="zh-CN" altLang="en-US" dirty="0">
                <a:solidFill>
                  <a:srgbClr val="870078"/>
                </a:solidFill>
              </a:rPr>
              <a:t>策略均实现了约 </a:t>
            </a:r>
            <a:r>
              <a:rPr lang="en-US" altLang="zh-CN" dirty="0">
                <a:solidFill>
                  <a:srgbClr val="870078"/>
                </a:solidFill>
              </a:rPr>
              <a:t>2 </a:t>
            </a:r>
            <a:r>
              <a:rPr lang="zh-CN" altLang="en-US" dirty="0">
                <a:solidFill>
                  <a:srgbClr val="870078"/>
                </a:solidFill>
              </a:rPr>
              <a:t>倍以上的吞吐增长，说明按事务需求分配隔离级别能够有效降低不必要的强同步开销。</a:t>
            </a:r>
          </a:p>
        </p:txBody>
      </p:sp>
      <p:sp>
        <p:nvSpPr>
          <p:cNvPr id="11" name="矩形 10">
            <a:extLst>
              <a:ext uri="{FF2B5EF4-FFF2-40B4-BE49-F238E27FC236}">
                <a16:creationId xmlns:a16="http://schemas.microsoft.com/office/drawing/2014/main" id="{9CCE0CD6-176E-EA3E-66AF-7B365EA926AE}"/>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28</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4">
            <a:extLst>
              <a:ext uri="{FF2B5EF4-FFF2-40B4-BE49-F238E27FC236}">
                <a16:creationId xmlns:a16="http://schemas.microsoft.com/office/drawing/2014/main" id="{18A93500-0495-A345-384D-C2E4AF003681}"/>
              </a:ext>
            </a:extLst>
          </p:cNvPr>
          <p:cNvSpPr/>
          <p:nvPr/>
        </p:nvSpPr>
        <p:spPr>
          <a:xfrm>
            <a:off x="4445000" y="1834356"/>
            <a:ext cx="3302000" cy="3048000"/>
          </a:xfrm>
          <a:prstGeom prst="roundRect">
            <a:avLst>
              <a:gd name="adj" fmla="val 4166"/>
            </a:avLst>
          </a:prstGeom>
          <a:solidFill>
            <a:schemeClr val="accent1">
              <a:lumMod val="50000"/>
            </a:schemeClr>
          </a:solidFill>
          <a:ln w="12700" cap="flat" cmpd="sng">
            <a:solidFill>
              <a:srgbClr val="64FFDA">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rgbClr val="870078"/>
              </a:solidFill>
            </a:endParaRPr>
          </a:p>
        </p:txBody>
      </p:sp>
      <p:sp>
        <p:nvSpPr>
          <p:cNvPr id="2" name="文本占位符 1">
            <a:extLst>
              <a:ext uri="{FF2B5EF4-FFF2-40B4-BE49-F238E27FC236}">
                <a16:creationId xmlns:a16="http://schemas.microsoft.com/office/drawing/2014/main" id="{22475C55-5DA8-FD16-F531-025AD326CC86}"/>
              </a:ext>
            </a:extLst>
          </p:cNvPr>
          <p:cNvSpPr>
            <a:spLocks noGrp="1"/>
          </p:cNvSpPr>
          <p:nvPr>
            <p:ph type="body" sz="quarter" idx="13"/>
          </p:nvPr>
        </p:nvSpPr>
        <p:spPr/>
        <p:txBody>
          <a:bodyPr/>
          <a:lstStyle/>
          <a:p>
            <a:r>
              <a:rPr lang="zh-CN" altLang="en-US" dirty="0"/>
              <a:t>本文主要工作</a:t>
            </a:r>
          </a:p>
        </p:txBody>
      </p:sp>
      <p:sp>
        <p:nvSpPr>
          <p:cNvPr id="18" name="AutoShape 4">
            <a:extLst>
              <a:ext uri="{FF2B5EF4-FFF2-40B4-BE49-F238E27FC236}">
                <a16:creationId xmlns:a16="http://schemas.microsoft.com/office/drawing/2014/main" id="{0A390B2D-7C32-B82E-3CF8-21DD82F8E09F}"/>
              </a:ext>
            </a:extLst>
          </p:cNvPr>
          <p:cNvSpPr/>
          <p:nvPr/>
        </p:nvSpPr>
        <p:spPr>
          <a:xfrm>
            <a:off x="762000" y="1838325"/>
            <a:ext cx="3302000" cy="3048000"/>
          </a:xfrm>
          <a:prstGeom prst="roundRect">
            <a:avLst>
              <a:gd name="adj" fmla="val 4166"/>
            </a:avLst>
          </a:prstGeom>
          <a:solidFill>
            <a:schemeClr val="accent1">
              <a:lumMod val="50000"/>
            </a:schemeClr>
          </a:solidFill>
          <a:ln w="12700" cap="flat" cmpd="sng">
            <a:solidFill>
              <a:srgbClr val="64FFDA">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rgbClr val="870078"/>
              </a:solidFill>
            </a:endParaRPr>
          </a:p>
        </p:txBody>
      </p:sp>
      <p:pic>
        <p:nvPicPr>
          <p:cNvPr id="19" name="Picture 5">
            <a:extLst>
              <a:ext uri="{FF2B5EF4-FFF2-40B4-BE49-F238E27FC236}">
                <a16:creationId xmlns:a16="http://schemas.microsoft.com/office/drawing/2014/main" id="{BD7EC584-CB5E-B15F-B6A0-10EEA55C2B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5500" y="2092325"/>
            <a:ext cx="635000" cy="635000"/>
          </a:xfrm>
          <a:prstGeom prst="rect">
            <a:avLst/>
          </a:prstGeom>
        </p:spPr>
      </p:pic>
      <p:sp>
        <p:nvSpPr>
          <p:cNvPr id="20" name="AutoShape 6">
            <a:extLst>
              <a:ext uri="{FF2B5EF4-FFF2-40B4-BE49-F238E27FC236}">
                <a16:creationId xmlns:a16="http://schemas.microsoft.com/office/drawing/2014/main" id="{E219B6F2-018B-3287-F762-6115059C60F4}"/>
              </a:ext>
            </a:extLst>
          </p:cNvPr>
          <p:cNvSpPr/>
          <p:nvPr/>
        </p:nvSpPr>
        <p:spPr>
          <a:xfrm>
            <a:off x="889000" y="2854325"/>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FFFFFF"/>
                </a:solidFill>
                <a:latin typeface="Roboto"/>
                <a:ea typeface="Roboto"/>
                <a:cs typeface="Roboto"/>
                <a:sym typeface="Roboto"/>
              </a:rPr>
              <a:t>统一事务模型与协议</a:t>
            </a:r>
            <a:endParaRPr lang="en-US" sz="1100"/>
          </a:p>
        </p:txBody>
      </p:sp>
      <p:sp>
        <p:nvSpPr>
          <p:cNvPr id="21" name="AutoShape 7">
            <a:extLst>
              <a:ext uri="{FF2B5EF4-FFF2-40B4-BE49-F238E27FC236}">
                <a16:creationId xmlns:a16="http://schemas.microsoft.com/office/drawing/2014/main" id="{DCFBB115-56F4-97F5-C8E1-46DC0E80508C}"/>
              </a:ext>
            </a:extLst>
          </p:cNvPr>
          <p:cNvSpPr/>
          <p:nvPr/>
        </p:nvSpPr>
        <p:spPr>
          <a:xfrm>
            <a:off x="889000" y="3362325"/>
            <a:ext cx="30480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nSpc>
                <a:spcPct val="108333"/>
              </a:lnSpc>
              <a:defRPr/>
            </a:pPr>
            <a:r>
              <a:rPr lang="en-US" sz="1800" dirty="0" err="1">
                <a:solidFill>
                  <a:schemeClr val="bg1"/>
                </a:solidFill>
                <a:latin typeface="+mn-lt"/>
                <a:ea typeface="+mn-ea"/>
                <a:cs typeface="+mn-cs"/>
                <a:sym typeface="Roboto"/>
              </a:rPr>
              <a:t>建立了统一的事务模型，设计了支持多种隔离级别混合运行的并发控制协议，奠定系统核心基础</a:t>
            </a:r>
            <a:r>
              <a:rPr lang="en-US" sz="1800" dirty="0">
                <a:solidFill>
                  <a:schemeClr val="bg1"/>
                </a:solidFill>
                <a:latin typeface="+mn-lt"/>
                <a:ea typeface="+mn-ea"/>
                <a:cs typeface="+mn-cs"/>
                <a:sym typeface="Roboto"/>
              </a:rPr>
              <a:t>。</a:t>
            </a:r>
            <a:endParaRPr lang="en-US" sz="1800" dirty="0">
              <a:solidFill>
                <a:schemeClr val="bg1"/>
              </a:solidFill>
              <a:latin typeface="+mn-lt"/>
              <a:ea typeface="+mn-ea"/>
              <a:cs typeface="+mn-cs"/>
            </a:endParaRPr>
          </a:p>
        </p:txBody>
      </p:sp>
      <p:pic>
        <p:nvPicPr>
          <p:cNvPr id="23" name="Picture 9">
            <a:extLst>
              <a:ext uri="{FF2B5EF4-FFF2-40B4-BE49-F238E27FC236}">
                <a16:creationId xmlns:a16="http://schemas.microsoft.com/office/drawing/2014/main" id="{0899BED3-E5CA-E6CA-4861-EB1EF895D3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78500" y="2092325"/>
            <a:ext cx="635000" cy="635000"/>
          </a:xfrm>
          <a:prstGeom prst="rect">
            <a:avLst/>
          </a:prstGeom>
        </p:spPr>
      </p:pic>
      <p:sp>
        <p:nvSpPr>
          <p:cNvPr id="24" name="AutoShape 10">
            <a:extLst>
              <a:ext uri="{FF2B5EF4-FFF2-40B4-BE49-F238E27FC236}">
                <a16:creationId xmlns:a16="http://schemas.microsoft.com/office/drawing/2014/main" id="{F4773BF4-0D9E-B46D-9F33-F4EE73C88A0A}"/>
              </a:ext>
            </a:extLst>
          </p:cNvPr>
          <p:cNvSpPr/>
          <p:nvPr/>
        </p:nvSpPr>
        <p:spPr>
          <a:xfrm>
            <a:off x="4572000" y="2854325"/>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dirty="0" err="1">
                <a:solidFill>
                  <a:srgbClr val="FFFFFF"/>
                </a:solidFill>
                <a:latin typeface="Roboto"/>
                <a:ea typeface="Roboto"/>
                <a:cs typeface="Roboto"/>
                <a:sym typeface="Roboto"/>
              </a:rPr>
              <a:t>形式化建模与验证</a:t>
            </a:r>
            <a:endParaRPr lang="en-US" sz="1100" dirty="0"/>
          </a:p>
        </p:txBody>
      </p:sp>
      <p:sp>
        <p:nvSpPr>
          <p:cNvPr id="25" name="AutoShape 11">
            <a:extLst>
              <a:ext uri="{FF2B5EF4-FFF2-40B4-BE49-F238E27FC236}">
                <a16:creationId xmlns:a16="http://schemas.microsoft.com/office/drawing/2014/main" id="{8D3DBFA1-B5D8-D547-E157-C66DCCFEC6F5}"/>
              </a:ext>
            </a:extLst>
          </p:cNvPr>
          <p:cNvSpPr/>
          <p:nvPr/>
        </p:nvSpPr>
        <p:spPr>
          <a:xfrm>
            <a:off x="4572000" y="3362325"/>
            <a:ext cx="30480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nSpc>
                <a:spcPct val="108333"/>
              </a:lnSpc>
              <a:defRPr/>
            </a:pPr>
            <a:r>
              <a:rPr lang="en-US" sz="1800" dirty="0" err="1">
                <a:solidFill>
                  <a:schemeClr val="bg1"/>
                </a:solidFill>
                <a:latin typeface="+mn-lt"/>
                <a:ea typeface="+mn-ea"/>
                <a:cs typeface="+mn-cs"/>
                <a:sym typeface="Roboto"/>
              </a:rPr>
              <a:t>基于</a:t>
            </a:r>
            <a:r>
              <a:rPr lang="en-US" sz="1800" dirty="0">
                <a:solidFill>
                  <a:schemeClr val="bg1"/>
                </a:solidFill>
                <a:latin typeface="+mn-lt"/>
                <a:ea typeface="+mn-ea"/>
                <a:cs typeface="+mn-cs"/>
                <a:sym typeface="Roboto"/>
              </a:rPr>
              <a:t> TLA+ </a:t>
            </a:r>
            <a:r>
              <a:rPr lang="en-US" sz="1800" dirty="0" err="1">
                <a:solidFill>
                  <a:schemeClr val="bg1"/>
                </a:solidFill>
                <a:latin typeface="+mn-lt"/>
                <a:ea typeface="+mn-ea"/>
                <a:cs typeface="+mn-cs"/>
                <a:sym typeface="Roboto"/>
              </a:rPr>
              <a:t>对协议进行建模与验证，从理论上严格保证了混合隔离场景下系统的一致性与正确性</a:t>
            </a:r>
            <a:r>
              <a:rPr lang="en-US" sz="1800" dirty="0">
                <a:solidFill>
                  <a:schemeClr val="bg1"/>
                </a:solidFill>
                <a:latin typeface="+mn-lt"/>
                <a:ea typeface="+mn-ea"/>
                <a:cs typeface="+mn-cs"/>
                <a:sym typeface="Roboto"/>
              </a:rPr>
              <a:t>。</a:t>
            </a:r>
            <a:endParaRPr lang="en-US" sz="1800" dirty="0">
              <a:solidFill>
                <a:schemeClr val="bg1"/>
              </a:solidFill>
              <a:latin typeface="+mn-lt"/>
              <a:ea typeface="+mn-ea"/>
              <a:cs typeface="+mn-cs"/>
            </a:endParaRPr>
          </a:p>
        </p:txBody>
      </p:sp>
      <p:sp>
        <p:nvSpPr>
          <p:cNvPr id="26" name="AutoShape 12">
            <a:extLst>
              <a:ext uri="{FF2B5EF4-FFF2-40B4-BE49-F238E27FC236}">
                <a16:creationId xmlns:a16="http://schemas.microsoft.com/office/drawing/2014/main" id="{EEA733BD-ED5C-C0BF-09C0-9C0BCC7FEFEA}"/>
              </a:ext>
            </a:extLst>
          </p:cNvPr>
          <p:cNvSpPr/>
          <p:nvPr/>
        </p:nvSpPr>
        <p:spPr>
          <a:xfrm>
            <a:off x="8128000" y="1838325"/>
            <a:ext cx="3302000" cy="3048000"/>
          </a:xfrm>
          <a:prstGeom prst="roundRect">
            <a:avLst>
              <a:gd name="adj" fmla="val 4166"/>
            </a:avLst>
          </a:prstGeom>
          <a:solidFill>
            <a:schemeClr val="accent1">
              <a:lumMod val="50000"/>
            </a:schemeClr>
          </a:solidFill>
          <a:ln w="12700" cap="flat" cmpd="sng">
            <a:solidFill>
              <a:srgbClr val="64FFDA">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pic>
        <p:nvPicPr>
          <p:cNvPr id="27" name="Picture 13">
            <a:extLst>
              <a:ext uri="{FF2B5EF4-FFF2-40B4-BE49-F238E27FC236}">
                <a16:creationId xmlns:a16="http://schemas.microsoft.com/office/drawing/2014/main" id="{5A52C9C6-573A-8677-B21F-DCBD818E10F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461500" y="2092325"/>
            <a:ext cx="635000" cy="635000"/>
          </a:xfrm>
          <a:prstGeom prst="rect">
            <a:avLst/>
          </a:prstGeom>
        </p:spPr>
      </p:pic>
      <p:sp>
        <p:nvSpPr>
          <p:cNvPr id="28" name="AutoShape 14">
            <a:extLst>
              <a:ext uri="{FF2B5EF4-FFF2-40B4-BE49-F238E27FC236}">
                <a16:creationId xmlns:a16="http://schemas.microsoft.com/office/drawing/2014/main" id="{3E05EEDC-F40B-8862-6B1F-1DCEAB2A6534}"/>
              </a:ext>
            </a:extLst>
          </p:cNvPr>
          <p:cNvSpPr/>
          <p:nvPr/>
        </p:nvSpPr>
        <p:spPr>
          <a:xfrm>
            <a:off x="8255000" y="2854325"/>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FFFFFF"/>
                </a:solidFill>
                <a:latin typeface="Roboto"/>
                <a:ea typeface="Roboto"/>
                <a:cs typeface="Roboto"/>
                <a:sym typeface="Roboto"/>
              </a:rPr>
              <a:t>原型实现与性能验证</a:t>
            </a:r>
            <a:endParaRPr lang="en-US" sz="1100"/>
          </a:p>
        </p:txBody>
      </p:sp>
      <p:sp>
        <p:nvSpPr>
          <p:cNvPr id="29" name="AutoShape 15">
            <a:extLst>
              <a:ext uri="{FF2B5EF4-FFF2-40B4-BE49-F238E27FC236}">
                <a16:creationId xmlns:a16="http://schemas.microsoft.com/office/drawing/2014/main" id="{69FEDBE1-F6F7-1AF9-2F53-E23336B90F1A}"/>
              </a:ext>
            </a:extLst>
          </p:cNvPr>
          <p:cNvSpPr/>
          <p:nvPr/>
        </p:nvSpPr>
        <p:spPr>
          <a:xfrm>
            <a:off x="8255000" y="3362325"/>
            <a:ext cx="3048000" cy="1270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nSpc>
                <a:spcPct val="108333"/>
              </a:lnSpc>
              <a:defRPr/>
            </a:pPr>
            <a:r>
              <a:rPr lang="en-US" sz="1800" dirty="0" err="1">
                <a:solidFill>
                  <a:schemeClr val="bg1"/>
                </a:solidFill>
                <a:latin typeface="+mn-lt"/>
                <a:ea typeface="+mn-ea"/>
                <a:cs typeface="+mn-cs"/>
                <a:sym typeface="Roboto"/>
              </a:rPr>
              <a:t>实现分布式</a:t>
            </a:r>
            <a:r>
              <a:rPr lang="en-US" sz="1800" dirty="0">
                <a:solidFill>
                  <a:schemeClr val="bg1"/>
                </a:solidFill>
                <a:latin typeface="+mn-lt"/>
                <a:ea typeface="+mn-ea"/>
                <a:cs typeface="+mn-cs"/>
                <a:sym typeface="Roboto"/>
              </a:rPr>
              <a:t> KV </a:t>
            </a:r>
            <a:r>
              <a:rPr lang="en-US" sz="1800" dirty="0" err="1">
                <a:solidFill>
                  <a:schemeClr val="bg1"/>
                </a:solidFill>
                <a:latin typeface="+mn-lt"/>
                <a:ea typeface="+mn-ea"/>
                <a:cs typeface="+mn-cs"/>
                <a:sym typeface="Roboto"/>
              </a:rPr>
              <a:t>数据库原型，实验证明混合隔离机制在保证正确性前提下显著提升了系统性能</a:t>
            </a:r>
            <a:r>
              <a:rPr lang="en-US" sz="1800" dirty="0">
                <a:solidFill>
                  <a:schemeClr val="bg1"/>
                </a:solidFill>
                <a:latin typeface="+mn-lt"/>
                <a:ea typeface="+mn-ea"/>
                <a:cs typeface="+mn-cs"/>
                <a:sym typeface="Roboto"/>
              </a:rPr>
              <a:t>。</a:t>
            </a:r>
            <a:endParaRPr lang="en-US" sz="1800" dirty="0">
              <a:solidFill>
                <a:schemeClr val="bg1"/>
              </a:solidFill>
              <a:latin typeface="+mn-lt"/>
              <a:ea typeface="+mn-ea"/>
              <a:cs typeface="+mn-cs"/>
            </a:endParaRPr>
          </a:p>
        </p:txBody>
      </p:sp>
      <p:sp>
        <p:nvSpPr>
          <p:cNvPr id="30" name="AutoShape 16">
            <a:extLst>
              <a:ext uri="{FF2B5EF4-FFF2-40B4-BE49-F238E27FC236}">
                <a16:creationId xmlns:a16="http://schemas.microsoft.com/office/drawing/2014/main" id="{E79140A1-EF0D-5B27-A7AB-C554EF0AFB96}"/>
              </a:ext>
            </a:extLst>
          </p:cNvPr>
          <p:cNvSpPr/>
          <p:nvPr/>
        </p:nvSpPr>
        <p:spPr>
          <a:xfrm>
            <a:off x="762000" y="5394325"/>
            <a:ext cx="10668000" cy="12700"/>
          </a:xfrm>
          <a:prstGeom prst="roundRect">
            <a:avLst>
              <a:gd name="adj" fmla="val 0"/>
            </a:avLst>
          </a:prstGeom>
          <a:solidFill>
            <a:srgbClr val="8892B0">
              <a:alpha val="2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32" name="矩形 31">
            <a:extLst>
              <a:ext uri="{FF2B5EF4-FFF2-40B4-BE49-F238E27FC236}">
                <a16:creationId xmlns:a16="http://schemas.microsoft.com/office/drawing/2014/main" id="{2D0AF300-302F-442E-5C91-35DBCEB255AC}"/>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29</a:t>
            </a:r>
            <a:endParaRPr lang="zh-CN" altLang="en-US" dirty="0"/>
          </a:p>
        </p:txBody>
      </p:sp>
    </p:spTree>
    <p:extLst>
      <p:ext uri="{BB962C8B-B14F-4D97-AF65-F5344CB8AC3E}">
        <p14:creationId xmlns:p14="http://schemas.microsoft.com/office/powerpoint/2010/main" val="3253594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utoShape 4">
            <a:extLst>
              <a:ext uri="{FF2B5EF4-FFF2-40B4-BE49-F238E27FC236}">
                <a16:creationId xmlns:a16="http://schemas.microsoft.com/office/drawing/2014/main" id="{04E71FEE-523A-5A00-FA6C-E60B5F0A53CA}"/>
              </a:ext>
            </a:extLst>
          </p:cNvPr>
          <p:cNvSpPr/>
          <p:nvPr/>
        </p:nvSpPr>
        <p:spPr>
          <a:xfrm>
            <a:off x="8128000" y="1778000"/>
            <a:ext cx="3302000" cy="3048000"/>
          </a:xfrm>
          <a:prstGeom prst="roundRect">
            <a:avLst>
              <a:gd name="adj" fmla="val 4166"/>
            </a:avLst>
          </a:prstGeom>
          <a:solidFill>
            <a:schemeClr val="accent1">
              <a:lumMod val="50000"/>
            </a:schemeClr>
          </a:solidFill>
          <a:ln w="12700" cap="flat" cmpd="sng">
            <a:solidFill>
              <a:srgbClr val="64FFDA">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rgbClr val="870078"/>
              </a:solidFill>
            </a:endParaRPr>
          </a:p>
        </p:txBody>
      </p:sp>
      <p:sp>
        <p:nvSpPr>
          <p:cNvPr id="28" name="AutoShape 4">
            <a:extLst>
              <a:ext uri="{FF2B5EF4-FFF2-40B4-BE49-F238E27FC236}">
                <a16:creationId xmlns:a16="http://schemas.microsoft.com/office/drawing/2014/main" id="{C03DD060-A05A-2ABC-5F0C-ED8C0B8EF189}"/>
              </a:ext>
            </a:extLst>
          </p:cNvPr>
          <p:cNvSpPr/>
          <p:nvPr/>
        </p:nvSpPr>
        <p:spPr>
          <a:xfrm>
            <a:off x="4445000" y="1778000"/>
            <a:ext cx="3302000" cy="3048000"/>
          </a:xfrm>
          <a:prstGeom prst="roundRect">
            <a:avLst>
              <a:gd name="adj" fmla="val 4166"/>
            </a:avLst>
          </a:prstGeom>
          <a:solidFill>
            <a:schemeClr val="accent1">
              <a:lumMod val="50000"/>
            </a:schemeClr>
          </a:solidFill>
          <a:ln w="12700" cap="flat" cmpd="sng">
            <a:solidFill>
              <a:srgbClr val="64FFDA">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rgbClr val="870078"/>
              </a:solidFill>
            </a:endParaRPr>
          </a:p>
        </p:txBody>
      </p:sp>
      <p:sp>
        <p:nvSpPr>
          <p:cNvPr id="27" name="AutoShape 4">
            <a:extLst>
              <a:ext uri="{FF2B5EF4-FFF2-40B4-BE49-F238E27FC236}">
                <a16:creationId xmlns:a16="http://schemas.microsoft.com/office/drawing/2014/main" id="{55F1F9FD-963C-B367-5854-0B435BBD514A}"/>
              </a:ext>
            </a:extLst>
          </p:cNvPr>
          <p:cNvSpPr/>
          <p:nvPr/>
        </p:nvSpPr>
        <p:spPr>
          <a:xfrm>
            <a:off x="762000" y="1838325"/>
            <a:ext cx="3302000" cy="3048000"/>
          </a:xfrm>
          <a:prstGeom prst="roundRect">
            <a:avLst>
              <a:gd name="adj" fmla="val 4166"/>
            </a:avLst>
          </a:prstGeom>
          <a:solidFill>
            <a:schemeClr val="accent1">
              <a:lumMod val="50000"/>
            </a:schemeClr>
          </a:solidFill>
          <a:ln w="12700" cap="flat" cmpd="sng">
            <a:solidFill>
              <a:srgbClr val="64FFDA">
                <a:alpha val="3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solidFill>
                <a:srgbClr val="870078"/>
              </a:solidFill>
            </a:endParaRPr>
          </a:p>
        </p:txBody>
      </p:sp>
      <p:sp>
        <p:nvSpPr>
          <p:cNvPr id="2" name="文本占位符 1">
            <a:extLst>
              <a:ext uri="{FF2B5EF4-FFF2-40B4-BE49-F238E27FC236}">
                <a16:creationId xmlns:a16="http://schemas.microsoft.com/office/drawing/2014/main" id="{21950162-0CF6-BBA0-A90D-BCB949BC4526}"/>
              </a:ext>
            </a:extLst>
          </p:cNvPr>
          <p:cNvSpPr>
            <a:spLocks noGrp="1"/>
          </p:cNvSpPr>
          <p:nvPr>
            <p:ph type="body" sz="quarter" idx="13"/>
          </p:nvPr>
        </p:nvSpPr>
        <p:spPr/>
        <p:txBody>
          <a:bodyPr/>
          <a:lstStyle/>
          <a:p>
            <a:r>
              <a:rPr lang="zh-CN" altLang="en-US" dirty="0"/>
              <a:t>未来展望</a:t>
            </a:r>
          </a:p>
        </p:txBody>
      </p:sp>
      <p:sp>
        <p:nvSpPr>
          <p:cNvPr id="15" name="AutoShape 4">
            <a:extLst>
              <a:ext uri="{FF2B5EF4-FFF2-40B4-BE49-F238E27FC236}">
                <a16:creationId xmlns:a16="http://schemas.microsoft.com/office/drawing/2014/main" id="{D5B4475C-171F-25F6-F87C-88824791C0D9}"/>
              </a:ext>
            </a:extLst>
          </p:cNvPr>
          <p:cNvSpPr/>
          <p:nvPr/>
        </p:nvSpPr>
        <p:spPr>
          <a:xfrm>
            <a:off x="762000" y="1778000"/>
            <a:ext cx="3302000" cy="3302000"/>
          </a:xfrm>
          <a:prstGeom prst="roundRect">
            <a:avLst>
              <a:gd name="adj" fmla="val 3846"/>
            </a:avLst>
          </a:prstGeom>
          <a:solidFill>
            <a:srgbClr val="FFFFFF">
              <a:alpha val="5000"/>
            </a:srgbClr>
          </a:solidFill>
          <a:ln w="12700" cap="flat" cmpd="sng">
            <a:solidFill>
              <a:srgbClr val="64FFDA">
                <a:alpha val="2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pic>
        <p:nvPicPr>
          <p:cNvPr id="16" name="Picture 5">
            <a:extLst>
              <a:ext uri="{FF2B5EF4-FFF2-40B4-BE49-F238E27FC236}">
                <a16:creationId xmlns:a16="http://schemas.microsoft.com/office/drawing/2014/main" id="{32A6ADFA-C23D-1BC6-8879-715E325BF8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95500" y="2032000"/>
            <a:ext cx="635000" cy="635000"/>
          </a:xfrm>
          <a:prstGeom prst="rect">
            <a:avLst/>
          </a:prstGeom>
        </p:spPr>
      </p:pic>
      <p:sp>
        <p:nvSpPr>
          <p:cNvPr id="17" name="AutoShape 6">
            <a:extLst>
              <a:ext uri="{FF2B5EF4-FFF2-40B4-BE49-F238E27FC236}">
                <a16:creationId xmlns:a16="http://schemas.microsoft.com/office/drawing/2014/main" id="{F005FF84-8F3B-A3CC-6143-EAA5516BF046}"/>
              </a:ext>
            </a:extLst>
          </p:cNvPr>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dirty="0" err="1">
                <a:solidFill>
                  <a:srgbClr val="FFFFFF"/>
                </a:solidFill>
                <a:latin typeface="Roboto"/>
                <a:ea typeface="Roboto"/>
                <a:cs typeface="Roboto"/>
                <a:sym typeface="Roboto"/>
              </a:rPr>
              <a:t>系统评测优化</a:t>
            </a:r>
            <a:endParaRPr lang="en-US" sz="1100" dirty="0"/>
          </a:p>
        </p:txBody>
      </p:sp>
      <p:sp>
        <p:nvSpPr>
          <p:cNvPr id="18" name="AutoShape 7">
            <a:extLst>
              <a:ext uri="{FF2B5EF4-FFF2-40B4-BE49-F238E27FC236}">
                <a16:creationId xmlns:a16="http://schemas.microsoft.com/office/drawing/2014/main" id="{AD00BA71-5163-FEAE-E170-A0D03456A5D9}"/>
              </a:ext>
            </a:extLst>
          </p:cNvPr>
          <p:cNvSpPr/>
          <p:nvPr/>
        </p:nvSpPr>
        <p:spPr>
          <a:xfrm>
            <a:off x="889000" y="3238500"/>
            <a:ext cx="3048000" cy="1524000"/>
          </a:xfrm>
          <a:prstGeom prst="rect">
            <a:avLst/>
          </a:prstGeom>
          <a:noFill/>
          <a:ln w="12700" cap="flat" cmpd="sng">
            <a:noFill/>
            <a:prstDash val="solid"/>
            <a:round/>
          </a:ln>
        </p:spPr>
        <p:txBody>
          <a:bodyPr vert="horz" wrap="square" lIns="0" tIns="0" rIns="0" bIns="0" rtlCol="0" anchor="t"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8333"/>
              </a:lnSpc>
              <a:defRPr/>
            </a:pPr>
            <a:r>
              <a:rPr lang="en-US" sz="1800" dirty="0" err="1">
                <a:solidFill>
                  <a:schemeClr val="bg1"/>
                </a:solidFill>
                <a:latin typeface="+mn-lt"/>
                <a:ea typeface="+mn-ea"/>
                <a:cs typeface="+mn-cs"/>
                <a:sym typeface="Roboto"/>
              </a:rPr>
              <a:t>引入</a:t>
            </a:r>
            <a:r>
              <a:rPr lang="en-US" sz="1800" dirty="0">
                <a:solidFill>
                  <a:schemeClr val="bg1"/>
                </a:solidFill>
                <a:latin typeface="+mn-lt"/>
                <a:ea typeface="+mn-ea"/>
                <a:cs typeface="+mn-cs"/>
                <a:sym typeface="Roboto"/>
              </a:rPr>
              <a:t> TPC-C、YCSB </a:t>
            </a:r>
            <a:r>
              <a:rPr lang="en-US" sz="1800" dirty="0" err="1">
                <a:solidFill>
                  <a:schemeClr val="bg1"/>
                </a:solidFill>
                <a:latin typeface="+mn-lt"/>
                <a:ea typeface="+mn-ea"/>
                <a:cs typeface="+mn-cs"/>
                <a:sym typeface="Roboto"/>
              </a:rPr>
              <a:t>等标准工业负载，结合持久化机制，评估真实业务场景下的性能表现</a:t>
            </a:r>
            <a:r>
              <a:rPr lang="en-US" sz="1800" dirty="0">
                <a:solidFill>
                  <a:schemeClr val="bg1"/>
                </a:solidFill>
                <a:latin typeface="+mn-lt"/>
                <a:ea typeface="+mn-ea"/>
                <a:cs typeface="+mn-cs"/>
                <a:sym typeface="Roboto"/>
              </a:rPr>
              <a:t>。</a:t>
            </a:r>
            <a:endParaRPr lang="en-US" sz="1800" dirty="0">
              <a:solidFill>
                <a:schemeClr val="bg1"/>
              </a:solidFill>
              <a:latin typeface="+mn-lt"/>
              <a:ea typeface="+mn-ea"/>
              <a:cs typeface="+mn-cs"/>
            </a:endParaRPr>
          </a:p>
        </p:txBody>
      </p:sp>
      <p:pic>
        <p:nvPicPr>
          <p:cNvPr id="20" name="Picture 9">
            <a:extLst>
              <a:ext uri="{FF2B5EF4-FFF2-40B4-BE49-F238E27FC236}">
                <a16:creationId xmlns:a16="http://schemas.microsoft.com/office/drawing/2014/main" id="{4B967DA7-BA3F-BBEA-7C1A-905CC7A25BA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78500" y="2032000"/>
            <a:ext cx="635000" cy="635000"/>
          </a:xfrm>
          <a:prstGeom prst="rect">
            <a:avLst/>
          </a:prstGeom>
        </p:spPr>
      </p:pic>
      <p:sp>
        <p:nvSpPr>
          <p:cNvPr id="21" name="AutoShape 10">
            <a:extLst>
              <a:ext uri="{FF2B5EF4-FFF2-40B4-BE49-F238E27FC236}">
                <a16:creationId xmlns:a16="http://schemas.microsoft.com/office/drawing/2014/main" id="{435BE25A-B3C6-ADFA-F97A-09C7EC31ECE5}"/>
              </a:ext>
            </a:extLst>
          </p:cNvPr>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dirty="0" err="1">
                <a:solidFill>
                  <a:srgbClr val="FFFFFF"/>
                </a:solidFill>
                <a:latin typeface="Roboto"/>
                <a:ea typeface="Roboto"/>
                <a:cs typeface="Roboto"/>
                <a:sym typeface="Roboto"/>
              </a:rPr>
              <a:t>工程实现完善</a:t>
            </a:r>
            <a:endParaRPr lang="en-US" sz="1100" dirty="0"/>
          </a:p>
        </p:txBody>
      </p:sp>
      <p:sp>
        <p:nvSpPr>
          <p:cNvPr id="22" name="AutoShape 11">
            <a:extLst>
              <a:ext uri="{FF2B5EF4-FFF2-40B4-BE49-F238E27FC236}">
                <a16:creationId xmlns:a16="http://schemas.microsoft.com/office/drawing/2014/main" id="{D2D09AEE-04C0-6797-1062-86ACF4E2F321}"/>
              </a:ext>
            </a:extLst>
          </p:cNvPr>
          <p:cNvSpPr/>
          <p:nvPr/>
        </p:nvSpPr>
        <p:spPr>
          <a:xfrm>
            <a:off x="4572000" y="3238500"/>
            <a:ext cx="3048000" cy="1524000"/>
          </a:xfrm>
          <a:prstGeom prst="rect">
            <a:avLst/>
          </a:prstGeom>
          <a:noFill/>
          <a:ln w="12700" cap="flat" cmpd="sng">
            <a:noFill/>
            <a:prstDash val="solid"/>
            <a:round/>
          </a:ln>
        </p:spPr>
        <p:txBody>
          <a:bodyPr vert="horz" wrap="square" lIns="0" tIns="0" rIns="0" bIns="0" rtlCol="0" anchor="t"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8333"/>
              </a:lnSpc>
              <a:defRPr/>
            </a:pPr>
            <a:r>
              <a:rPr lang="en-US" sz="1800" dirty="0">
                <a:solidFill>
                  <a:schemeClr val="bg1"/>
                </a:solidFill>
                <a:latin typeface="+mn-lt"/>
                <a:ea typeface="+mn-ea"/>
                <a:cs typeface="+mn-cs"/>
                <a:sym typeface="Roboto"/>
              </a:rPr>
              <a:t>完善底层存储与集群能力，引入成熟持久化架构提升可靠性，支持动态扩缩容增强弹性。</a:t>
            </a:r>
            <a:endParaRPr lang="en-US" sz="1800" dirty="0">
              <a:solidFill>
                <a:schemeClr val="bg1"/>
              </a:solidFill>
              <a:latin typeface="+mn-lt"/>
              <a:ea typeface="+mn-ea"/>
              <a:cs typeface="+mn-cs"/>
            </a:endParaRPr>
          </a:p>
        </p:txBody>
      </p:sp>
      <p:pic>
        <p:nvPicPr>
          <p:cNvPr id="24" name="Picture 13">
            <a:extLst>
              <a:ext uri="{FF2B5EF4-FFF2-40B4-BE49-F238E27FC236}">
                <a16:creationId xmlns:a16="http://schemas.microsoft.com/office/drawing/2014/main" id="{6521941E-63C9-D04C-C986-E4F87C9851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61500" y="2032000"/>
            <a:ext cx="635000" cy="635000"/>
          </a:xfrm>
          <a:prstGeom prst="rect">
            <a:avLst/>
          </a:prstGeom>
        </p:spPr>
      </p:pic>
      <p:sp>
        <p:nvSpPr>
          <p:cNvPr id="25" name="AutoShape 14">
            <a:extLst>
              <a:ext uri="{FF2B5EF4-FFF2-40B4-BE49-F238E27FC236}">
                <a16:creationId xmlns:a16="http://schemas.microsoft.com/office/drawing/2014/main" id="{522E1473-FE38-D4BA-7585-1FD8BC0AEBEA}"/>
              </a:ext>
            </a:extLst>
          </p:cNvPr>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000" b="1" i="0" u="none" strike="noStrike">
                <a:solidFill>
                  <a:srgbClr val="FFFFFF"/>
                </a:solidFill>
                <a:latin typeface="Roboto"/>
                <a:ea typeface="Roboto"/>
                <a:cs typeface="Roboto"/>
                <a:sym typeface="Roboto"/>
              </a:rPr>
              <a:t>研究方向拓展</a:t>
            </a:r>
            <a:endParaRPr lang="en-US" sz="1100"/>
          </a:p>
        </p:txBody>
      </p:sp>
      <p:sp>
        <p:nvSpPr>
          <p:cNvPr id="26" name="AutoShape 15">
            <a:extLst>
              <a:ext uri="{FF2B5EF4-FFF2-40B4-BE49-F238E27FC236}">
                <a16:creationId xmlns:a16="http://schemas.microsoft.com/office/drawing/2014/main" id="{4B62A678-3FFF-6654-093A-E3B8AC35509C}"/>
              </a:ext>
            </a:extLst>
          </p:cNvPr>
          <p:cNvSpPr/>
          <p:nvPr/>
        </p:nvSpPr>
        <p:spPr>
          <a:xfrm>
            <a:off x="8255000" y="3238500"/>
            <a:ext cx="3048000" cy="1524000"/>
          </a:xfrm>
          <a:prstGeom prst="rect">
            <a:avLst/>
          </a:prstGeom>
          <a:noFill/>
          <a:ln w="12700" cap="flat" cmpd="sng">
            <a:noFill/>
            <a:prstDash val="solid"/>
            <a:round/>
          </a:ln>
        </p:spPr>
        <p:txBody>
          <a:bodyPr vert="horz" wrap="square" lIns="0" tIns="0" rIns="0" bIns="0" rtlCol="0" anchor="t"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8333"/>
              </a:lnSpc>
              <a:defRPr/>
            </a:pPr>
            <a:r>
              <a:rPr lang="en-US" sz="1800" dirty="0" err="1">
                <a:solidFill>
                  <a:schemeClr val="bg1"/>
                </a:solidFill>
                <a:latin typeface="+mn-lt"/>
                <a:ea typeface="+mn-ea"/>
                <a:cs typeface="+mn-cs"/>
                <a:sym typeface="Roboto"/>
              </a:rPr>
              <a:t>探索替代</a:t>
            </a:r>
            <a:r>
              <a:rPr lang="en-US" sz="1800" dirty="0">
                <a:solidFill>
                  <a:schemeClr val="bg1"/>
                </a:solidFill>
                <a:latin typeface="+mn-lt"/>
                <a:ea typeface="+mn-ea"/>
                <a:cs typeface="+mn-cs"/>
                <a:sym typeface="Roboto"/>
              </a:rPr>
              <a:t> 2PC </a:t>
            </a:r>
            <a:r>
              <a:rPr lang="en-US" sz="1800" dirty="0" err="1">
                <a:solidFill>
                  <a:schemeClr val="bg1"/>
                </a:solidFill>
                <a:latin typeface="+mn-lt"/>
                <a:ea typeface="+mn-ea"/>
                <a:cs typeface="+mn-cs"/>
                <a:sym typeface="Roboto"/>
              </a:rPr>
              <a:t>的高效跨分片提交协议，推进基于业务需求的隔离级别智能分配方法</a:t>
            </a:r>
            <a:r>
              <a:rPr lang="en-US" sz="1800" dirty="0">
                <a:solidFill>
                  <a:schemeClr val="bg1"/>
                </a:solidFill>
                <a:latin typeface="+mn-lt"/>
                <a:ea typeface="+mn-ea"/>
                <a:cs typeface="+mn-cs"/>
                <a:sym typeface="Roboto"/>
              </a:rPr>
              <a:t>。</a:t>
            </a:r>
            <a:endParaRPr lang="en-US" sz="1800" dirty="0">
              <a:solidFill>
                <a:schemeClr val="bg1"/>
              </a:solidFill>
              <a:latin typeface="+mn-lt"/>
              <a:ea typeface="+mn-ea"/>
              <a:cs typeface="+mn-cs"/>
            </a:endParaRPr>
          </a:p>
        </p:txBody>
      </p:sp>
      <p:sp>
        <p:nvSpPr>
          <p:cNvPr id="31" name="AutoShape 16">
            <a:extLst>
              <a:ext uri="{FF2B5EF4-FFF2-40B4-BE49-F238E27FC236}">
                <a16:creationId xmlns:a16="http://schemas.microsoft.com/office/drawing/2014/main" id="{B8B2E3A9-CD9A-BE80-8611-02CED38083D6}"/>
              </a:ext>
            </a:extLst>
          </p:cNvPr>
          <p:cNvSpPr/>
          <p:nvPr/>
        </p:nvSpPr>
        <p:spPr>
          <a:xfrm>
            <a:off x="765175" y="5334000"/>
            <a:ext cx="10668000" cy="508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1800" b="0" i="1" u="none" strike="noStrike" dirty="0">
                <a:solidFill>
                  <a:srgbClr val="7030A0"/>
                </a:solidFill>
                <a:highlight>
                  <a:srgbClr val="FFFF00"/>
                </a:highlight>
                <a:latin typeface="Roboto"/>
                <a:ea typeface="Roboto"/>
                <a:cs typeface="Roboto"/>
                <a:sym typeface="Roboto"/>
              </a:rPr>
              <a:t>“</a:t>
            </a:r>
            <a:r>
              <a:rPr lang="en-US" sz="1800" b="0" i="1" u="none" strike="noStrike" dirty="0" err="1">
                <a:solidFill>
                  <a:srgbClr val="7030A0"/>
                </a:solidFill>
                <a:highlight>
                  <a:srgbClr val="FFFF00"/>
                </a:highlight>
                <a:latin typeface="Roboto"/>
                <a:ea typeface="Roboto"/>
                <a:cs typeface="Roboto"/>
                <a:sym typeface="Roboto"/>
              </a:rPr>
              <a:t>持续优化，探索无限可能</a:t>
            </a:r>
            <a:r>
              <a:rPr lang="en-US" sz="1800" b="0" i="1" u="none" strike="noStrike" dirty="0">
                <a:solidFill>
                  <a:srgbClr val="7030A0"/>
                </a:solidFill>
                <a:highlight>
                  <a:srgbClr val="FFFF00"/>
                </a:highlight>
                <a:latin typeface="Roboto"/>
                <a:ea typeface="Roboto"/>
                <a:cs typeface="Roboto"/>
                <a:sym typeface="Roboto"/>
              </a:rPr>
              <a:t>”</a:t>
            </a:r>
            <a:endParaRPr lang="en-US" sz="1100" dirty="0">
              <a:solidFill>
                <a:srgbClr val="7030A0"/>
              </a:solidFill>
              <a:highlight>
                <a:srgbClr val="FFFF00"/>
              </a:highlight>
            </a:endParaRPr>
          </a:p>
        </p:txBody>
      </p:sp>
      <p:sp>
        <p:nvSpPr>
          <p:cNvPr id="32" name="矩形 31">
            <a:extLst>
              <a:ext uri="{FF2B5EF4-FFF2-40B4-BE49-F238E27FC236}">
                <a16:creationId xmlns:a16="http://schemas.microsoft.com/office/drawing/2014/main" id="{8EA29C37-F4AA-528B-01AE-BE8F196483B6}"/>
              </a:ext>
            </a:extLst>
          </p:cNvPr>
          <p:cNvSpPr/>
          <p:nvPr/>
        </p:nvSpPr>
        <p:spPr>
          <a:xfrm>
            <a:off x="11079956" y="6422231"/>
            <a:ext cx="435769" cy="435769"/>
          </a:xfrm>
          <a:prstGeom prst="rect">
            <a:avLst/>
          </a:prstGeom>
          <a:solidFill>
            <a:srgbClr val="87007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30</a:t>
            </a:r>
            <a:endParaRPr lang="zh-CN" altLang="en-US" dirty="0"/>
          </a:p>
        </p:txBody>
      </p:sp>
    </p:spTree>
    <p:extLst>
      <p:ext uri="{BB962C8B-B14F-4D97-AF65-F5344CB8AC3E}">
        <p14:creationId xmlns:p14="http://schemas.microsoft.com/office/powerpoint/2010/main" val="41039625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2.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3.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ags/tag6.xml><?xml version="1.0" encoding="utf-8"?>
<p:tagLst xmlns:a="http://schemas.openxmlformats.org/drawingml/2006/main" xmlns:r="http://schemas.openxmlformats.org/officeDocument/2006/relationships" xmlns:p="http://schemas.openxmlformats.org/presentationml/2006/main">
  <p:tag name="MH" val="20161022204031"/>
  <p:tag name="MH_LIBRARY" val="GRAPHIC"/>
  <p:tag name="MH_ORDER" val="文本框 2"/>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1699</TotalTime>
  <Words>1297</Words>
  <Application>Microsoft Office PowerPoint</Application>
  <PresentationFormat>宽屏</PresentationFormat>
  <Paragraphs>205</Paragraphs>
  <Slides>31</Slides>
  <Notes>17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31</vt:i4>
      </vt:variant>
    </vt:vector>
  </HeadingPairs>
  <TitlesOfParts>
    <vt:vector size="39" baseType="lpstr">
      <vt:lpstr>等线</vt:lpstr>
      <vt:lpstr>黑体</vt:lpstr>
      <vt:lpstr>宋体</vt:lpstr>
      <vt:lpstr>Arial</vt:lpstr>
      <vt:lpstr>Calibri</vt:lpstr>
      <vt:lpstr>Cambria Math</vt:lpstr>
      <vt:lpstr>Roboto</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Fang</dc:creator>
  <cp:lastModifiedBy>Jihua Zhang</cp:lastModifiedBy>
  <cp:revision>200</cp:revision>
  <dcterms:created xsi:type="dcterms:W3CDTF">2024-03-31T07:17:00Z</dcterms:created>
  <dcterms:modified xsi:type="dcterms:W3CDTF">2026-04-05T14:54:11Z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B2588779497C7BA0160E09660AF6FDF4_43</vt:lpwstr>
  </property>
</Properties>
</file>