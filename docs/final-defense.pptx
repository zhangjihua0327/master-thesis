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notesSlides/notesSlide17.xml" ContentType="application/vnd.openxmlformats-officedocument.presentationml.notesSlide+xml"/>
  <Override PartName="/ppt/tags/tag12.xml" ContentType="application/vnd.openxmlformats-officedocument.presentationml.tags+xml"/>
  <Override PartName="/ppt/notesSlides/notesSlide18.xml" ContentType="application/vnd.openxmlformats-officedocument.presentationml.notesSlide+xml"/>
  <Override PartName="/ppt/tags/tag13.xml" ContentType="application/vnd.openxmlformats-officedocument.presentationml.tags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84" r:id="rId3"/>
    <p:sldId id="308" r:id="rId4"/>
    <p:sldId id="260" r:id="rId5"/>
    <p:sldId id="261" r:id="rId6"/>
    <p:sldId id="264" r:id="rId7"/>
    <p:sldId id="271" r:id="rId8"/>
    <p:sldId id="304" r:id="rId9"/>
    <p:sldId id="305" r:id="rId10"/>
    <p:sldId id="265" r:id="rId11"/>
    <p:sldId id="300" r:id="rId12"/>
    <p:sldId id="303" r:id="rId13"/>
    <p:sldId id="301" r:id="rId14"/>
    <p:sldId id="302" r:id="rId15"/>
    <p:sldId id="307" r:id="rId16"/>
    <p:sldId id="310" r:id="rId17"/>
    <p:sldId id="311" r:id="rId18"/>
    <p:sldId id="312" r:id="rId19"/>
    <p:sldId id="313" r:id="rId20"/>
    <p:sldId id="314" r:id="rId21"/>
    <p:sldId id="315" r:id="rId22"/>
    <p:sldId id="259" r:id="rId2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Garcia" initials="S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07" d="100"/>
          <a:sy n="107" d="100"/>
        </p:scale>
        <p:origin x="1157" y="77"/>
      </p:cViewPr>
      <p:guideLst>
        <p:guide orient="horz" pos="2187"/>
        <p:guide pos="38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D742A-9E91-468C-B0BA-D6E0DC1356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2697654"/>
            <a:ext cx="12192000" cy="1462692"/>
            <a:chOff x="0" y="2878638"/>
            <a:chExt cx="9144000" cy="1034852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2878638"/>
              <a:ext cx="9144000" cy="729343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934299" y="1892024"/>
            <a:ext cx="693020" cy="653562"/>
            <a:chOff x="10920675" y="2008140"/>
            <a:chExt cx="576000" cy="576000"/>
          </a:xfrm>
        </p:grpSpPr>
        <p:sp>
          <p:nvSpPr>
            <p:cNvPr id="11" name="矩形 10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11026467" y="2954360"/>
            <a:ext cx="600852" cy="516114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" y="2429346"/>
            <a:ext cx="1596121" cy="1999307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2587484" y="2695225"/>
            <a:ext cx="8438981" cy="10308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1"/>
          </p:nvPr>
        </p:nvSpPr>
        <p:spPr>
          <a:xfrm>
            <a:off x="2587484" y="3738042"/>
            <a:ext cx="8438981" cy="42230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>
          <a:xfrm>
            <a:off x="6658709" y="4846566"/>
            <a:ext cx="5148903" cy="91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11208694" y="6320412"/>
            <a:ext cx="575959" cy="537587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49" y="6406644"/>
            <a:ext cx="1390651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0768" y="120576"/>
            <a:ext cx="657379" cy="653562"/>
            <a:chOff x="10920675" y="2008140"/>
            <a:chExt cx="576000" cy="576000"/>
          </a:xfrm>
        </p:grpSpPr>
        <p:sp>
          <p:nvSpPr>
            <p:cNvPr id="14" name="矩形 13"/>
            <p:cNvSpPr/>
            <p:nvPr/>
          </p:nvSpPr>
          <p:spPr>
            <a:xfrm>
              <a:off x="11172675" y="2260140"/>
              <a:ext cx="324000" cy="324000"/>
            </a:xfrm>
            <a:prstGeom prst="rect">
              <a:avLst/>
            </a:prstGeom>
            <a:solidFill>
              <a:srgbClr val="870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920675" y="2008140"/>
              <a:ext cx="252000" cy="252000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032184" y="328713"/>
            <a:ext cx="10834208" cy="523220"/>
          </a:xfr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i="0" baseline="0"/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9" y="6406643"/>
            <a:ext cx="1147156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851038"/>
            <a:ext cx="12192000" cy="875445"/>
            <a:chOff x="0" y="3019996"/>
            <a:chExt cx="9144000" cy="893494"/>
          </a:xfrm>
        </p:grpSpPr>
        <p:sp>
          <p:nvSpPr>
            <p:cNvPr id="7" name="矩形 6"/>
            <p:cNvSpPr/>
            <p:nvPr/>
          </p:nvSpPr>
          <p:spPr>
            <a:xfrm>
              <a:off x="0" y="3607982"/>
              <a:ext cx="9144000" cy="305508"/>
            </a:xfrm>
            <a:prstGeom prst="rect">
              <a:avLst/>
            </a:prstGeom>
            <a:solidFill>
              <a:srgbClr val="453D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019996"/>
              <a:ext cx="9144000" cy="587986"/>
            </a:xfrm>
            <a:prstGeom prst="rect">
              <a:avLst/>
            </a:prstGeom>
            <a:solidFill>
              <a:srgbClr val="6A00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9" y="629102"/>
            <a:ext cx="1051611" cy="132178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054413" y="2828835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>
                <a:solidFill>
                  <a:srgbClr val="6A005F"/>
                </a:solidFill>
              </a:rPr>
              <a:t>THANKS</a:t>
            </a:r>
            <a:endParaRPr lang="zh-CN" altLang="en-US" sz="7200" b="1" dirty="0">
              <a:solidFill>
                <a:srgbClr val="6A005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27" y="6036473"/>
            <a:ext cx="1508760" cy="47798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7" y="5943183"/>
            <a:ext cx="2629267" cy="724001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1875440" y="851037"/>
            <a:ext cx="9844611" cy="57610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1875440" y="1427146"/>
            <a:ext cx="9844611" cy="29933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i="0" baseline="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/>
          </p:nvPr>
        </p:nvSpPr>
        <p:spPr>
          <a:xfrm>
            <a:off x="3373886" y="4589847"/>
            <a:ext cx="5444225" cy="10833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6A005F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zh-CN" altLang="en-US" sz="2600" dirty="0"/>
              <a:t>支持混合隔离级别的分布式</a:t>
            </a:r>
            <a:r>
              <a:rPr lang="en-US" altLang="zh-CN" sz="2600" dirty="0"/>
              <a:t>KV</a:t>
            </a:r>
          </a:p>
          <a:p>
            <a:r>
              <a:rPr lang="zh-CN" altLang="en-US" sz="2600" dirty="0"/>
              <a:t>数据库原型的设计与实现</a:t>
            </a:r>
            <a:endParaRPr sz="2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200275" y="4451350"/>
            <a:ext cx="8439150" cy="1391920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答辩人：张继华</a:t>
            </a:r>
          </a:p>
          <a:p>
            <a:r>
              <a:rPr lang="zh-CN" altLang="en-US" sz="2000" b="1" dirty="0">
                <a:solidFill>
                  <a:schemeClr val="tx1"/>
                </a:solidFill>
              </a:rPr>
              <a:t>学号：</a:t>
            </a:r>
            <a:r>
              <a:rPr lang="en-US" altLang="zh-CN" sz="2000" b="1" dirty="0">
                <a:solidFill>
                  <a:schemeClr val="tx1"/>
                </a:solidFill>
              </a:rPr>
              <a:t>522024320201</a:t>
            </a:r>
          </a:p>
          <a:p>
            <a:r>
              <a:rPr lang="zh-CN" altLang="en-US" sz="2000" b="1" dirty="0">
                <a:solidFill>
                  <a:schemeClr val="tx1"/>
                </a:solidFill>
              </a:rPr>
              <a:t>专业：电子信息（软件工程）</a:t>
            </a:r>
          </a:p>
          <a:p>
            <a:r>
              <a:rPr lang="zh-CN" altLang="en-US" sz="2000" b="1" dirty="0">
                <a:solidFill>
                  <a:schemeClr val="tx1"/>
                </a:solidFill>
              </a:rPr>
              <a:t>导师：魏恒峰 副教授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2026 </a:t>
            </a:r>
            <a:r>
              <a:rPr lang="zh-CN" altLang="en-US" sz="2000" b="1" dirty="0">
                <a:solidFill>
                  <a:schemeClr val="tx1"/>
                </a:solidFill>
              </a:rPr>
              <a:t>年 </a:t>
            </a:r>
            <a:r>
              <a:rPr lang="en-US" altLang="zh-CN" sz="2000" b="1" dirty="0">
                <a:solidFill>
                  <a:schemeClr val="tx1"/>
                </a:solidFill>
              </a:rPr>
              <a:t>5 </a:t>
            </a:r>
            <a:r>
              <a:rPr lang="zh-CN" altLang="en-US" sz="2000" b="1" dirty="0">
                <a:solidFill>
                  <a:schemeClr val="tx1"/>
                </a:solidFill>
              </a:rPr>
              <a:t>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79834" y="1462084"/>
            <a:ext cx="2725425" cy="90810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800" b="1"/>
              <a:t>研究背景与目标</a:t>
            </a:r>
            <a:endParaRPr lang="en-US" altLang="zh-CN" sz="1800" b="1" dirty="0"/>
          </a:p>
        </p:txBody>
      </p:sp>
      <p:sp>
        <p:nvSpPr>
          <p:cNvPr id="6" name="矩形 5"/>
          <p:cNvSpPr/>
          <p:nvPr/>
        </p:nvSpPr>
        <p:spPr>
          <a:xfrm>
            <a:off x="0" y="10260"/>
            <a:ext cx="12192000" cy="908109"/>
          </a:xfrm>
          <a:prstGeom prst="rect">
            <a:avLst/>
          </a:prstGeom>
          <a:solidFill>
            <a:srgbClr val="6B0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487551" y="3063754"/>
            <a:ext cx="1516020" cy="1474318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25813" y="3370029"/>
            <a:ext cx="143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汇报目录</a:t>
            </a:r>
            <a:endParaRPr lang="zh-CN" altLang="en-US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41668" y="3877106"/>
            <a:ext cx="2407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798409" y="1619364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98409" y="1619364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79834" y="1942475"/>
            <a:ext cx="2182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>
                    <a:lumMod val="75000"/>
                  </a:schemeClr>
                </a:solidFill>
              </a:rPr>
              <a:t>Background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6379834" y="2529807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800" b="1"/>
              <a:t>一致性语义与抽象执行</a:t>
            </a:r>
            <a:endParaRPr lang="en-US" altLang="zh-CN" sz="1800" b="1" dirty="0"/>
          </a:p>
        </p:txBody>
      </p:sp>
      <p:sp>
        <p:nvSpPr>
          <p:cNvPr id="21" name="椭圆 20"/>
          <p:cNvSpPr/>
          <p:nvPr/>
        </p:nvSpPr>
        <p:spPr>
          <a:xfrm>
            <a:off x="5798409" y="2687087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5798409" y="2687087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9834" y="3065485"/>
            <a:ext cx="2014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>
                    <a:lumMod val="75000"/>
                  </a:schemeClr>
                </a:solidFill>
              </a:rPr>
              <a:t>Semantics</a:t>
            </a:r>
            <a:endParaRPr lang="en-US" altLang="zh-CN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4" name="副标题 2"/>
          <p:cNvSpPr txBox="1"/>
          <p:nvPr/>
        </p:nvSpPr>
        <p:spPr>
          <a:xfrm>
            <a:off x="6379834" y="352189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800" b="1"/>
              <a:t>操作语义与 </a:t>
            </a:r>
            <a:r>
              <a:rPr lang="en-US" altLang="zh-CN" sz="1800" b="1"/>
              <a:t>TLA+ </a:t>
            </a:r>
            <a:r>
              <a:rPr lang="zh-CN" altLang="en-US" sz="1800" b="1"/>
              <a:t>验证</a:t>
            </a:r>
            <a:endParaRPr lang="en-US" altLang="zh-CN" sz="1800" b="1" dirty="0"/>
          </a:p>
        </p:txBody>
      </p:sp>
      <p:sp>
        <p:nvSpPr>
          <p:cNvPr id="25" name="椭圆 24"/>
          <p:cNvSpPr/>
          <p:nvPr/>
        </p:nvSpPr>
        <p:spPr>
          <a:xfrm>
            <a:off x="5798409" y="367917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798409" y="367917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79834" y="4002281"/>
            <a:ext cx="2601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>
                    <a:lumMod val="75000"/>
                  </a:schemeClr>
                </a:solidFill>
              </a:rPr>
              <a:t>TLA+</a:t>
            </a:r>
            <a:endParaRPr lang="en-US" altLang="zh-CN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副标题 2"/>
          <p:cNvSpPr txBox="1"/>
          <p:nvPr/>
        </p:nvSpPr>
        <p:spPr>
          <a:xfrm>
            <a:off x="6379834" y="4512760"/>
            <a:ext cx="2424239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800" b="1"/>
              <a:t>原型系统设计与实现</a:t>
            </a:r>
            <a:endParaRPr lang="en-US" altLang="zh-CN" sz="1800" b="1" dirty="0"/>
          </a:p>
        </p:txBody>
      </p:sp>
      <p:sp>
        <p:nvSpPr>
          <p:cNvPr id="29" name="椭圆 28"/>
          <p:cNvSpPr/>
          <p:nvPr/>
        </p:nvSpPr>
        <p:spPr>
          <a:xfrm>
            <a:off x="5798409" y="4670040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798409" y="4670040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14692" y="5077327"/>
            <a:ext cx="2205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>
                    <a:lumMod val="75000"/>
                  </a:schemeClr>
                </a:solidFill>
              </a:rPr>
              <a:t>Prototype</a:t>
            </a:r>
            <a:endParaRPr lang="en-US" altLang="zh-CN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" y="53759"/>
            <a:ext cx="2866867" cy="864610"/>
          </a:xfrm>
          <a:prstGeom prst="rect">
            <a:avLst/>
          </a:prstGeom>
        </p:spPr>
      </p:pic>
      <p:sp>
        <p:nvSpPr>
          <p:cNvPr id="2" name="副标题 2"/>
          <p:cNvSpPr txBox="1"/>
          <p:nvPr/>
        </p:nvSpPr>
        <p:spPr>
          <a:xfrm>
            <a:off x="6379834" y="5578111"/>
            <a:ext cx="3201196" cy="908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800" b="1"/>
              <a:t>实验结果与总结展望</a:t>
            </a:r>
            <a:endParaRPr lang="en-US" altLang="zh-CN" sz="1800" b="1" dirty="0"/>
          </a:p>
        </p:txBody>
      </p:sp>
      <p:sp>
        <p:nvSpPr>
          <p:cNvPr id="4" name="椭圆 3"/>
          <p:cNvSpPr/>
          <p:nvPr/>
        </p:nvSpPr>
        <p:spPr>
          <a:xfrm>
            <a:off x="5798410" y="5735391"/>
            <a:ext cx="421626" cy="429719"/>
          </a:xfrm>
          <a:prstGeom prst="ellipse">
            <a:avLst/>
          </a:prstGeom>
          <a:solidFill>
            <a:srgbClr val="6B0060"/>
          </a:solidFill>
          <a:ln>
            <a:solidFill>
              <a:srgbClr val="6B0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98410" y="5735391"/>
            <a:ext cx="421626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4693" y="6142678"/>
            <a:ext cx="3018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lang="en-US" altLang="zh-CN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/>
              <a:t>研究背景</a:t>
            </a:r>
            <a:endParaRPr kumimoji="1" lang="zh-CN" altLang="en-US" sz="2400" dirty="0"/>
          </a:p>
        </p:txBody>
      </p:sp>
      <p:sp>
        <p:nvSpPr>
          <p:cNvPr id="4" name="椭圆 29"/>
          <p:cNvSpPr/>
          <p:nvPr/>
        </p:nvSpPr>
        <p:spPr bwMode="auto">
          <a:xfrm>
            <a:off x="4391760" y="3021607"/>
            <a:ext cx="3085729" cy="3085728"/>
          </a:xfrm>
          <a:prstGeom prst="ellipse">
            <a:avLst/>
          </a:prstGeom>
          <a:noFill/>
          <a:ln w="44450" cap="flat">
            <a:solidFill>
              <a:srgbClr val="6B006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 err="1">
              <a:solidFill>
                <a:schemeClr val="accent1"/>
              </a:solidFill>
              <a:latin typeface="等线" panose="02010600030101010101" pitchFamily="2" charset="-122"/>
              <a:sym typeface="等线" panose="02010600030101010101" pitchFamily="2" charset="-122"/>
            </a:endParaRPr>
          </a:p>
        </p:txBody>
      </p:sp>
      <p:sp>
        <p:nvSpPr>
          <p:cNvPr id="6" name="文本框 28"/>
          <p:cNvSpPr txBox="1"/>
          <p:nvPr/>
        </p:nvSpPr>
        <p:spPr>
          <a:xfrm>
            <a:off x="5216479" y="4290410"/>
            <a:ext cx="143629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项目背景</a:t>
            </a:r>
            <a:endParaRPr lang="en-US" sz="2800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8" name="组合 209"/>
          <p:cNvGrpSpPr>
            <a:grpSpLocks noChangeAspect="1"/>
          </p:cNvGrpSpPr>
          <p:nvPr/>
        </p:nvGrpSpPr>
        <p:grpSpPr>
          <a:xfrm>
            <a:off x="5331120" y="2470249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1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 dirty="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13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14" name="组合 4"/>
          <p:cNvGrpSpPr>
            <a:grpSpLocks noChangeAspect="1"/>
          </p:cNvGrpSpPr>
          <p:nvPr/>
        </p:nvGrpSpPr>
        <p:grpSpPr bwMode="auto">
          <a:xfrm>
            <a:off x="5670267" y="2798708"/>
            <a:ext cx="549275" cy="547687"/>
            <a:chOff x="3483" y="1309"/>
            <a:chExt cx="346" cy="345"/>
          </a:xfrm>
          <a:solidFill>
            <a:schemeClr val="bg1"/>
          </a:solidFill>
        </p:grpSpPr>
        <p:sp>
          <p:nvSpPr>
            <p:cNvPr id="15" name="Freeform 5"/>
            <p:cNvSpPr/>
            <p:nvPr/>
          </p:nvSpPr>
          <p:spPr bwMode="auto">
            <a:xfrm>
              <a:off x="3606" y="1432"/>
              <a:ext cx="99" cy="99"/>
            </a:xfrm>
            <a:custGeom>
              <a:avLst/>
              <a:gdLst>
                <a:gd name="T0" fmla="*/ 74 w 107"/>
                <a:gd name="T1" fmla="*/ 4 h 107"/>
                <a:gd name="T2" fmla="*/ 74 w 107"/>
                <a:gd name="T3" fmla="*/ 4 h 107"/>
                <a:gd name="T4" fmla="*/ 54 w 107"/>
                <a:gd name="T5" fmla="*/ 0 h 107"/>
                <a:gd name="T6" fmla="*/ 33 w 107"/>
                <a:gd name="T7" fmla="*/ 4 h 107"/>
                <a:gd name="T8" fmla="*/ 16 w 107"/>
                <a:gd name="T9" fmla="*/ 16 h 107"/>
                <a:gd name="T10" fmla="*/ 5 w 107"/>
                <a:gd name="T11" fmla="*/ 33 h 107"/>
                <a:gd name="T12" fmla="*/ 0 w 107"/>
                <a:gd name="T13" fmla="*/ 53 h 107"/>
                <a:gd name="T14" fmla="*/ 5 w 107"/>
                <a:gd name="T15" fmla="*/ 74 h 107"/>
                <a:gd name="T16" fmla="*/ 16 w 107"/>
                <a:gd name="T17" fmla="*/ 91 h 107"/>
                <a:gd name="T18" fmla="*/ 33 w 107"/>
                <a:gd name="T19" fmla="*/ 102 h 107"/>
                <a:gd name="T20" fmla="*/ 54 w 107"/>
                <a:gd name="T21" fmla="*/ 107 h 107"/>
                <a:gd name="T22" fmla="*/ 74 w 107"/>
                <a:gd name="T23" fmla="*/ 102 h 107"/>
                <a:gd name="T24" fmla="*/ 91 w 107"/>
                <a:gd name="T25" fmla="*/ 91 h 107"/>
                <a:gd name="T26" fmla="*/ 103 w 107"/>
                <a:gd name="T27" fmla="*/ 74 h 107"/>
                <a:gd name="T28" fmla="*/ 107 w 107"/>
                <a:gd name="T29" fmla="*/ 53 h 107"/>
                <a:gd name="T30" fmla="*/ 103 w 107"/>
                <a:gd name="T31" fmla="*/ 33 h 107"/>
                <a:gd name="T32" fmla="*/ 91 w 107"/>
                <a:gd name="T33" fmla="*/ 16 h 107"/>
                <a:gd name="T34" fmla="*/ 74 w 107"/>
                <a:gd name="T35" fmla="*/ 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7" h="107">
                  <a:moveTo>
                    <a:pt x="74" y="4"/>
                  </a:moveTo>
                  <a:lnTo>
                    <a:pt x="74" y="4"/>
                  </a:lnTo>
                  <a:cubicBezTo>
                    <a:pt x="68" y="1"/>
                    <a:pt x="61" y="0"/>
                    <a:pt x="54" y="0"/>
                  </a:cubicBezTo>
                  <a:cubicBezTo>
                    <a:pt x="46" y="0"/>
                    <a:pt x="40" y="1"/>
                    <a:pt x="33" y="4"/>
                  </a:cubicBezTo>
                  <a:cubicBezTo>
                    <a:pt x="27" y="7"/>
                    <a:pt x="21" y="11"/>
                    <a:pt x="16" y="16"/>
                  </a:cubicBezTo>
                  <a:cubicBezTo>
                    <a:pt x="11" y="20"/>
                    <a:pt x="8" y="26"/>
                    <a:pt x="5" y="33"/>
                  </a:cubicBezTo>
                  <a:cubicBezTo>
                    <a:pt x="2" y="39"/>
                    <a:pt x="0" y="46"/>
                    <a:pt x="0" y="53"/>
                  </a:cubicBezTo>
                  <a:cubicBezTo>
                    <a:pt x="0" y="61"/>
                    <a:pt x="2" y="67"/>
                    <a:pt x="5" y="74"/>
                  </a:cubicBezTo>
                  <a:cubicBezTo>
                    <a:pt x="8" y="80"/>
                    <a:pt x="11" y="86"/>
                    <a:pt x="16" y="91"/>
                  </a:cubicBezTo>
                  <a:cubicBezTo>
                    <a:pt x="21" y="96"/>
                    <a:pt x="27" y="99"/>
                    <a:pt x="33" y="102"/>
                  </a:cubicBezTo>
                  <a:cubicBezTo>
                    <a:pt x="40" y="105"/>
                    <a:pt x="46" y="107"/>
                    <a:pt x="54" y="107"/>
                  </a:cubicBezTo>
                  <a:cubicBezTo>
                    <a:pt x="61" y="107"/>
                    <a:pt x="68" y="105"/>
                    <a:pt x="74" y="102"/>
                  </a:cubicBezTo>
                  <a:cubicBezTo>
                    <a:pt x="81" y="99"/>
                    <a:pt x="87" y="96"/>
                    <a:pt x="91" y="91"/>
                  </a:cubicBezTo>
                  <a:cubicBezTo>
                    <a:pt x="96" y="86"/>
                    <a:pt x="100" y="80"/>
                    <a:pt x="103" y="74"/>
                  </a:cubicBezTo>
                  <a:cubicBezTo>
                    <a:pt x="106" y="67"/>
                    <a:pt x="107" y="61"/>
                    <a:pt x="107" y="53"/>
                  </a:cubicBezTo>
                  <a:cubicBezTo>
                    <a:pt x="107" y="46"/>
                    <a:pt x="106" y="39"/>
                    <a:pt x="103" y="33"/>
                  </a:cubicBezTo>
                  <a:cubicBezTo>
                    <a:pt x="100" y="26"/>
                    <a:pt x="96" y="20"/>
                    <a:pt x="91" y="16"/>
                  </a:cubicBezTo>
                  <a:cubicBezTo>
                    <a:pt x="87" y="11"/>
                    <a:pt x="81" y="7"/>
                    <a:pt x="74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6" name="Freeform 6"/>
            <p:cNvSpPr/>
            <p:nvPr/>
          </p:nvSpPr>
          <p:spPr bwMode="auto">
            <a:xfrm>
              <a:off x="3719" y="1432"/>
              <a:ext cx="110" cy="152"/>
            </a:xfrm>
            <a:custGeom>
              <a:avLst/>
              <a:gdLst>
                <a:gd name="T0" fmla="*/ 111 w 119"/>
                <a:gd name="T1" fmla="*/ 0 h 164"/>
                <a:gd name="T2" fmla="*/ 111 w 119"/>
                <a:gd name="T3" fmla="*/ 0 h 164"/>
                <a:gd name="T4" fmla="*/ 0 w 119"/>
                <a:gd name="T5" fmla="*/ 0 h 164"/>
                <a:gd name="T6" fmla="*/ 82 w 119"/>
                <a:gd name="T7" fmla="*/ 164 h 164"/>
                <a:gd name="T8" fmla="*/ 109 w 119"/>
                <a:gd name="T9" fmla="*/ 111 h 164"/>
                <a:gd name="T10" fmla="*/ 119 w 119"/>
                <a:gd name="T11" fmla="*/ 53 h 164"/>
                <a:gd name="T12" fmla="*/ 111 w 119"/>
                <a:gd name="T1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4">
                  <a:moveTo>
                    <a:pt x="111" y="0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82" y="164"/>
                  </a:lnTo>
                  <a:cubicBezTo>
                    <a:pt x="94" y="148"/>
                    <a:pt x="103" y="130"/>
                    <a:pt x="109" y="111"/>
                  </a:cubicBezTo>
                  <a:cubicBezTo>
                    <a:pt x="115" y="92"/>
                    <a:pt x="119" y="73"/>
                    <a:pt x="119" y="53"/>
                  </a:cubicBezTo>
                  <a:cubicBezTo>
                    <a:pt x="119" y="35"/>
                    <a:pt x="116" y="17"/>
                    <a:pt x="11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483" y="1380"/>
              <a:ext cx="110" cy="150"/>
            </a:xfrm>
            <a:custGeom>
              <a:avLst/>
              <a:gdLst>
                <a:gd name="T0" fmla="*/ 37 w 119"/>
                <a:gd name="T1" fmla="*/ 0 h 163"/>
                <a:gd name="T2" fmla="*/ 37 w 119"/>
                <a:gd name="T3" fmla="*/ 0 h 163"/>
                <a:gd name="T4" fmla="*/ 10 w 119"/>
                <a:gd name="T5" fmla="*/ 52 h 163"/>
                <a:gd name="T6" fmla="*/ 0 w 119"/>
                <a:gd name="T7" fmla="*/ 110 h 163"/>
                <a:gd name="T8" fmla="*/ 8 w 119"/>
                <a:gd name="T9" fmla="*/ 163 h 163"/>
                <a:gd name="T10" fmla="*/ 119 w 119"/>
                <a:gd name="T11" fmla="*/ 163 h 163"/>
                <a:gd name="T12" fmla="*/ 37 w 119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63">
                  <a:moveTo>
                    <a:pt x="37" y="0"/>
                  </a:moveTo>
                  <a:lnTo>
                    <a:pt x="37" y="0"/>
                  </a:lnTo>
                  <a:cubicBezTo>
                    <a:pt x="25" y="16"/>
                    <a:pt x="16" y="33"/>
                    <a:pt x="10" y="52"/>
                  </a:cubicBezTo>
                  <a:cubicBezTo>
                    <a:pt x="3" y="71"/>
                    <a:pt x="0" y="90"/>
                    <a:pt x="0" y="110"/>
                  </a:cubicBezTo>
                  <a:cubicBezTo>
                    <a:pt x="0" y="128"/>
                    <a:pt x="3" y="146"/>
                    <a:pt x="8" y="163"/>
                  </a:cubicBezTo>
                  <a:lnTo>
                    <a:pt x="119" y="163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630" y="1311"/>
              <a:ext cx="181" cy="101"/>
            </a:xfrm>
            <a:custGeom>
              <a:avLst/>
              <a:gdLst>
                <a:gd name="T0" fmla="*/ 14 w 196"/>
                <a:gd name="T1" fmla="*/ 106 h 109"/>
                <a:gd name="T2" fmla="*/ 14 w 196"/>
                <a:gd name="T3" fmla="*/ 106 h 109"/>
                <a:gd name="T4" fmla="*/ 28 w 196"/>
                <a:gd name="T5" fmla="*/ 104 h 109"/>
                <a:gd name="T6" fmla="*/ 196 w 196"/>
                <a:gd name="T7" fmla="*/ 104 h 109"/>
                <a:gd name="T8" fmla="*/ 171 w 196"/>
                <a:gd name="T9" fmla="*/ 66 h 109"/>
                <a:gd name="T10" fmla="*/ 139 w 196"/>
                <a:gd name="T11" fmla="*/ 34 h 109"/>
                <a:gd name="T12" fmla="*/ 99 w 196"/>
                <a:gd name="T13" fmla="*/ 12 h 109"/>
                <a:gd name="T14" fmla="*/ 55 w 196"/>
                <a:gd name="T15" fmla="*/ 0 h 109"/>
                <a:gd name="T16" fmla="*/ 0 w 196"/>
                <a:gd name="T17" fmla="*/ 109 h 109"/>
                <a:gd name="T18" fmla="*/ 14 w 196"/>
                <a:gd name="T19" fmla="*/ 10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09">
                  <a:moveTo>
                    <a:pt x="14" y="106"/>
                  </a:moveTo>
                  <a:lnTo>
                    <a:pt x="14" y="106"/>
                  </a:lnTo>
                  <a:cubicBezTo>
                    <a:pt x="18" y="105"/>
                    <a:pt x="23" y="104"/>
                    <a:pt x="28" y="104"/>
                  </a:cubicBezTo>
                  <a:lnTo>
                    <a:pt x="196" y="104"/>
                  </a:lnTo>
                  <a:cubicBezTo>
                    <a:pt x="190" y="90"/>
                    <a:pt x="181" y="77"/>
                    <a:pt x="171" y="66"/>
                  </a:cubicBezTo>
                  <a:cubicBezTo>
                    <a:pt x="162" y="54"/>
                    <a:pt x="151" y="43"/>
                    <a:pt x="139" y="34"/>
                  </a:cubicBezTo>
                  <a:cubicBezTo>
                    <a:pt x="126" y="25"/>
                    <a:pt x="113" y="18"/>
                    <a:pt x="99" y="12"/>
                  </a:cubicBezTo>
                  <a:cubicBezTo>
                    <a:pt x="85" y="6"/>
                    <a:pt x="70" y="2"/>
                    <a:pt x="55" y="0"/>
                  </a:cubicBezTo>
                  <a:lnTo>
                    <a:pt x="0" y="109"/>
                  </a:lnTo>
                  <a:cubicBezTo>
                    <a:pt x="5" y="108"/>
                    <a:pt x="9" y="106"/>
                    <a:pt x="14" y="1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535" y="1309"/>
              <a:ext cx="119" cy="144"/>
            </a:xfrm>
            <a:custGeom>
              <a:avLst/>
              <a:gdLst>
                <a:gd name="T0" fmla="*/ 129 w 129"/>
                <a:gd name="T1" fmla="*/ 0 h 156"/>
                <a:gd name="T2" fmla="*/ 129 w 129"/>
                <a:gd name="T3" fmla="*/ 0 h 156"/>
                <a:gd name="T4" fmla="*/ 59 w 129"/>
                <a:gd name="T5" fmla="*/ 14 h 156"/>
                <a:gd name="T6" fmla="*/ 0 w 129"/>
                <a:gd name="T7" fmla="*/ 54 h 156"/>
                <a:gd name="T8" fmla="*/ 51 w 129"/>
                <a:gd name="T9" fmla="*/ 156 h 156"/>
                <a:gd name="T10" fmla="*/ 129 w 129"/>
                <a:gd name="T1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156">
                  <a:moveTo>
                    <a:pt x="129" y="0"/>
                  </a:moveTo>
                  <a:lnTo>
                    <a:pt x="129" y="0"/>
                  </a:lnTo>
                  <a:cubicBezTo>
                    <a:pt x="105" y="0"/>
                    <a:pt x="82" y="5"/>
                    <a:pt x="59" y="14"/>
                  </a:cubicBezTo>
                  <a:cubicBezTo>
                    <a:pt x="37" y="23"/>
                    <a:pt x="17" y="36"/>
                    <a:pt x="0" y="54"/>
                  </a:cubicBezTo>
                  <a:lnTo>
                    <a:pt x="51" y="156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0" name="Freeform 10"/>
            <p:cNvSpPr/>
            <p:nvPr/>
          </p:nvSpPr>
          <p:spPr bwMode="auto">
            <a:xfrm>
              <a:off x="3500" y="1550"/>
              <a:ext cx="182" cy="102"/>
            </a:xfrm>
            <a:custGeom>
              <a:avLst/>
              <a:gdLst>
                <a:gd name="T0" fmla="*/ 183 w 197"/>
                <a:gd name="T1" fmla="*/ 4 h 110"/>
                <a:gd name="T2" fmla="*/ 183 w 197"/>
                <a:gd name="T3" fmla="*/ 4 h 110"/>
                <a:gd name="T4" fmla="*/ 169 w 197"/>
                <a:gd name="T5" fmla="*/ 5 h 110"/>
                <a:gd name="T6" fmla="*/ 0 w 197"/>
                <a:gd name="T7" fmla="*/ 5 h 110"/>
                <a:gd name="T8" fmla="*/ 25 w 197"/>
                <a:gd name="T9" fmla="*/ 44 h 110"/>
                <a:gd name="T10" fmla="*/ 58 w 197"/>
                <a:gd name="T11" fmla="*/ 75 h 110"/>
                <a:gd name="T12" fmla="*/ 98 w 197"/>
                <a:gd name="T13" fmla="*/ 97 h 110"/>
                <a:gd name="T14" fmla="*/ 142 w 197"/>
                <a:gd name="T15" fmla="*/ 110 h 110"/>
                <a:gd name="T16" fmla="*/ 197 w 197"/>
                <a:gd name="T17" fmla="*/ 0 h 110"/>
                <a:gd name="T18" fmla="*/ 183 w 197"/>
                <a:gd name="T19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7" h="110">
                  <a:moveTo>
                    <a:pt x="183" y="4"/>
                  </a:moveTo>
                  <a:lnTo>
                    <a:pt x="183" y="4"/>
                  </a:lnTo>
                  <a:cubicBezTo>
                    <a:pt x="178" y="5"/>
                    <a:pt x="174" y="5"/>
                    <a:pt x="169" y="5"/>
                  </a:cubicBezTo>
                  <a:lnTo>
                    <a:pt x="0" y="5"/>
                  </a:lnTo>
                  <a:cubicBezTo>
                    <a:pt x="7" y="19"/>
                    <a:pt x="15" y="32"/>
                    <a:pt x="25" y="44"/>
                  </a:cubicBezTo>
                  <a:cubicBezTo>
                    <a:pt x="35" y="56"/>
                    <a:pt x="46" y="66"/>
                    <a:pt x="58" y="75"/>
                  </a:cubicBezTo>
                  <a:cubicBezTo>
                    <a:pt x="70" y="84"/>
                    <a:pt x="83" y="91"/>
                    <a:pt x="98" y="97"/>
                  </a:cubicBezTo>
                  <a:cubicBezTo>
                    <a:pt x="112" y="103"/>
                    <a:pt x="126" y="107"/>
                    <a:pt x="142" y="110"/>
                  </a:cubicBezTo>
                  <a:lnTo>
                    <a:pt x="197" y="0"/>
                  </a:lnTo>
                  <a:cubicBezTo>
                    <a:pt x="192" y="2"/>
                    <a:pt x="188" y="3"/>
                    <a:pt x="183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3657" y="1509"/>
              <a:ext cx="120" cy="145"/>
            </a:xfrm>
            <a:custGeom>
              <a:avLst/>
              <a:gdLst>
                <a:gd name="T0" fmla="*/ 0 w 130"/>
                <a:gd name="T1" fmla="*/ 157 h 157"/>
                <a:gd name="T2" fmla="*/ 0 w 130"/>
                <a:gd name="T3" fmla="*/ 157 h 157"/>
                <a:gd name="T4" fmla="*/ 70 w 130"/>
                <a:gd name="T5" fmla="*/ 142 h 157"/>
                <a:gd name="T6" fmla="*/ 130 w 130"/>
                <a:gd name="T7" fmla="*/ 103 h 157"/>
                <a:gd name="T8" fmla="*/ 79 w 130"/>
                <a:gd name="T9" fmla="*/ 0 h 157"/>
                <a:gd name="T10" fmla="*/ 0 w 130"/>
                <a:gd name="T11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57">
                  <a:moveTo>
                    <a:pt x="0" y="157"/>
                  </a:moveTo>
                  <a:lnTo>
                    <a:pt x="0" y="157"/>
                  </a:lnTo>
                  <a:cubicBezTo>
                    <a:pt x="25" y="157"/>
                    <a:pt x="48" y="152"/>
                    <a:pt x="70" y="142"/>
                  </a:cubicBezTo>
                  <a:cubicBezTo>
                    <a:pt x="93" y="133"/>
                    <a:pt x="113" y="120"/>
                    <a:pt x="130" y="103"/>
                  </a:cubicBezTo>
                  <a:lnTo>
                    <a:pt x="79" y="0"/>
                  </a:lnTo>
                  <a:lnTo>
                    <a:pt x="0" y="15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22" name="文本框 78"/>
          <p:cNvSpPr txBox="1"/>
          <p:nvPr/>
        </p:nvSpPr>
        <p:spPr>
          <a:xfrm>
            <a:off x="5489359" y="2138757"/>
            <a:ext cx="9297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应用背景</a:t>
            </a:r>
            <a:endParaRPr lang="zh-CN" altLang="en-US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grpSp>
        <p:nvGrpSpPr>
          <p:cNvPr id="23" name="组合 209"/>
          <p:cNvGrpSpPr>
            <a:grpSpLocks noChangeAspect="1"/>
          </p:cNvGrpSpPr>
          <p:nvPr/>
        </p:nvGrpSpPr>
        <p:grpSpPr>
          <a:xfrm>
            <a:off x="4009473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4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25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6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27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28" name="组合 209"/>
          <p:cNvGrpSpPr>
            <a:grpSpLocks noChangeAspect="1"/>
          </p:cNvGrpSpPr>
          <p:nvPr/>
        </p:nvGrpSpPr>
        <p:grpSpPr>
          <a:xfrm>
            <a:off x="6698784" y="4633681"/>
            <a:ext cx="1207008" cy="1207008"/>
            <a:chOff x="5466464" y="1399081"/>
            <a:chExt cx="1207008" cy="1207008"/>
          </a:xfr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grpSpPr>
        <p:sp useBgFill="1">
          <p:nvSpPr>
            <p:cNvPr id="29" name="椭圆 210"/>
            <p:cNvSpPr/>
            <p:nvPr/>
          </p:nvSpPr>
          <p:spPr bwMode="auto">
            <a:xfrm>
              <a:off x="5466464" y="1399081"/>
              <a:ext cx="1207008" cy="1207008"/>
            </a:xfrm>
            <a:prstGeom prst="ellipse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2805" rIns="0" bIns="42805" numCol="1" rtlCol="0" anchor="ctr" anchorCtr="0" compatLnSpc="1"/>
            <a:lstStyle/>
            <a:p>
              <a:pPr algn="ctr" defTabSz="855345" fontAlgn="base">
                <a:spcBef>
                  <a:spcPct val="0"/>
                </a:spcBef>
                <a:spcAft>
                  <a:spcPct val="0"/>
                </a:spcAft>
              </a:pPr>
              <a:endParaRPr lang="en-US" sz="1470" dirty="0">
                <a:gradFill>
                  <a:gsLst>
                    <a:gs pos="40075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 useBgFill="1">
          <p:nvSpPr>
            <p:cNvPr id="30" name="椭圆 211"/>
            <p:cNvSpPr/>
            <p:nvPr/>
          </p:nvSpPr>
          <p:spPr bwMode="auto">
            <a:xfrm>
              <a:off x="5512476" y="1445094"/>
              <a:ext cx="1114984" cy="111498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blurRad="241300" dist="114300" dir="2700000" sx="101000" sy="101000" algn="tl" rotWithShape="0">
                <a:schemeClr val="accent1">
                  <a:alpha val="26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1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solidFill>
              <a:srgbClr val="6B0060">
                <a:alpha val="88000"/>
              </a:srgbClr>
            </a:solidFill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noFill/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  <p:sp>
          <p:nvSpPr>
            <p:cNvPr id="32" name="椭圆 102"/>
            <p:cNvSpPr>
              <a:spLocks noChangeArrowheads="1"/>
            </p:cNvSpPr>
            <p:nvPr/>
          </p:nvSpPr>
          <p:spPr bwMode="auto">
            <a:xfrm>
              <a:off x="5512478" y="1445094"/>
              <a:ext cx="1114980" cy="1114982"/>
            </a:xfrm>
            <a:prstGeom prst="ellipse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82880" tIns="146304" rIns="182880" bIns="146304" numCol="1" spcCol="0" rtlCol="0" fromWordArt="0" anchor="ctr" anchorCtr="0" forceAA="0" compatLnSpc="1">
              <a:noAutofit/>
            </a:bodyPr>
            <a:lstStyle/>
            <a:p>
              <a:pPr defTabSz="932180" fontAlgn="base">
                <a:spcBef>
                  <a:spcPct val="0"/>
                </a:spcBef>
                <a:spcAft>
                  <a:spcPct val="0"/>
                </a:spcAft>
              </a:pPr>
              <a:endParaRPr lang="de-DE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等线" panose="02010600030101010101" pitchFamily="2" charset="-122"/>
                <a:cs typeface="Segoe UI" panose="020B0502040204020203" pitchFamily="34" charset="0"/>
                <a:sym typeface="等线" panose="02010600030101010101" pitchFamily="2" charset="-122"/>
              </a:endParaRPr>
            </a:p>
          </p:txBody>
        </p:sp>
      </p:grpSp>
      <p:grpSp>
        <p:nvGrpSpPr>
          <p:cNvPr id="33" name="组合 14"/>
          <p:cNvGrpSpPr>
            <a:grpSpLocks noChangeAspect="1"/>
          </p:cNvGrpSpPr>
          <p:nvPr/>
        </p:nvGrpSpPr>
        <p:grpSpPr bwMode="auto">
          <a:xfrm>
            <a:off x="4415333" y="4987539"/>
            <a:ext cx="395287" cy="496887"/>
            <a:chOff x="5064" y="1460"/>
            <a:chExt cx="249" cy="313"/>
          </a:xfrm>
          <a:solidFill>
            <a:srgbClr val="FFFFFF"/>
          </a:solidFill>
        </p:grpSpPr>
        <p:sp>
          <p:nvSpPr>
            <p:cNvPr id="34" name="Freeform 15"/>
            <p:cNvSpPr/>
            <p:nvPr/>
          </p:nvSpPr>
          <p:spPr bwMode="auto">
            <a:xfrm>
              <a:off x="5064" y="1460"/>
              <a:ext cx="202" cy="246"/>
            </a:xfrm>
            <a:custGeom>
              <a:avLst/>
              <a:gdLst>
                <a:gd name="T0" fmla="*/ 140 w 240"/>
                <a:gd name="T1" fmla="*/ 220 h 293"/>
                <a:gd name="T2" fmla="*/ 140 w 240"/>
                <a:gd name="T3" fmla="*/ 220 h 293"/>
                <a:gd name="T4" fmla="*/ 33 w 240"/>
                <a:gd name="T5" fmla="*/ 113 h 293"/>
                <a:gd name="T6" fmla="*/ 89 w 240"/>
                <a:gd name="T7" fmla="*/ 57 h 293"/>
                <a:gd name="T8" fmla="*/ 140 w 240"/>
                <a:gd name="T9" fmla="*/ 107 h 293"/>
                <a:gd name="T10" fmla="*/ 208 w 240"/>
                <a:gd name="T11" fmla="*/ 39 h 293"/>
                <a:gd name="T12" fmla="*/ 205 w 240"/>
                <a:gd name="T13" fmla="*/ 35 h 293"/>
                <a:gd name="T14" fmla="*/ 167 w 240"/>
                <a:gd name="T15" fmla="*/ 9 h 293"/>
                <a:gd name="T16" fmla="*/ 120 w 240"/>
                <a:gd name="T17" fmla="*/ 0 h 293"/>
                <a:gd name="T18" fmla="*/ 73 w 240"/>
                <a:gd name="T19" fmla="*/ 9 h 293"/>
                <a:gd name="T20" fmla="*/ 35 w 240"/>
                <a:gd name="T21" fmla="*/ 35 h 293"/>
                <a:gd name="T22" fmla="*/ 9 w 240"/>
                <a:gd name="T23" fmla="*/ 73 h 293"/>
                <a:gd name="T24" fmla="*/ 0 w 240"/>
                <a:gd name="T25" fmla="*/ 120 h 293"/>
                <a:gd name="T26" fmla="*/ 9 w 240"/>
                <a:gd name="T27" fmla="*/ 165 h 293"/>
                <a:gd name="T28" fmla="*/ 36 w 240"/>
                <a:gd name="T29" fmla="*/ 203 h 293"/>
                <a:gd name="T30" fmla="*/ 66 w 240"/>
                <a:gd name="T31" fmla="*/ 244 h 293"/>
                <a:gd name="T32" fmla="*/ 79 w 240"/>
                <a:gd name="T33" fmla="*/ 293 h 293"/>
                <a:gd name="T34" fmla="*/ 161 w 240"/>
                <a:gd name="T35" fmla="*/ 293 h 293"/>
                <a:gd name="T36" fmla="*/ 174 w 240"/>
                <a:gd name="T37" fmla="*/ 244 h 293"/>
                <a:gd name="T38" fmla="*/ 204 w 240"/>
                <a:gd name="T39" fmla="*/ 203 h 293"/>
                <a:gd name="T40" fmla="*/ 231 w 240"/>
                <a:gd name="T41" fmla="*/ 165 h 293"/>
                <a:gd name="T42" fmla="*/ 240 w 240"/>
                <a:gd name="T43" fmla="*/ 120 h 293"/>
                <a:gd name="T44" fmla="*/ 140 w 240"/>
                <a:gd name="T45" fmla="*/ 22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0" h="293">
                  <a:moveTo>
                    <a:pt x="140" y="220"/>
                  </a:moveTo>
                  <a:lnTo>
                    <a:pt x="140" y="220"/>
                  </a:lnTo>
                  <a:lnTo>
                    <a:pt x="33" y="113"/>
                  </a:lnTo>
                  <a:lnTo>
                    <a:pt x="89" y="57"/>
                  </a:lnTo>
                  <a:lnTo>
                    <a:pt x="140" y="107"/>
                  </a:lnTo>
                  <a:lnTo>
                    <a:pt x="208" y="39"/>
                  </a:lnTo>
                  <a:cubicBezTo>
                    <a:pt x="207" y="37"/>
                    <a:pt x="206" y="36"/>
                    <a:pt x="205" y="35"/>
                  </a:cubicBezTo>
                  <a:cubicBezTo>
                    <a:pt x="194" y="24"/>
                    <a:pt x="181" y="15"/>
                    <a:pt x="167" y="9"/>
                  </a:cubicBezTo>
                  <a:cubicBezTo>
                    <a:pt x="152" y="3"/>
                    <a:pt x="137" y="0"/>
                    <a:pt x="120" y="0"/>
                  </a:cubicBezTo>
                  <a:cubicBezTo>
                    <a:pt x="103" y="0"/>
                    <a:pt x="88" y="3"/>
                    <a:pt x="73" y="9"/>
                  </a:cubicBezTo>
                  <a:cubicBezTo>
                    <a:pt x="59" y="15"/>
                    <a:pt x="46" y="24"/>
                    <a:pt x="35" y="35"/>
                  </a:cubicBezTo>
                  <a:cubicBezTo>
                    <a:pt x="24" y="46"/>
                    <a:pt x="16" y="58"/>
                    <a:pt x="9" y="73"/>
                  </a:cubicBezTo>
                  <a:cubicBezTo>
                    <a:pt x="3" y="87"/>
                    <a:pt x="0" y="103"/>
                    <a:pt x="0" y="120"/>
                  </a:cubicBezTo>
                  <a:cubicBezTo>
                    <a:pt x="0" y="136"/>
                    <a:pt x="3" y="151"/>
                    <a:pt x="9" y="165"/>
                  </a:cubicBezTo>
                  <a:cubicBezTo>
                    <a:pt x="15" y="179"/>
                    <a:pt x="24" y="192"/>
                    <a:pt x="36" y="203"/>
                  </a:cubicBezTo>
                  <a:cubicBezTo>
                    <a:pt x="48" y="216"/>
                    <a:pt x="58" y="230"/>
                    <a:pt x="66" y="244"/>
                  </a:cubicBezTo>
                  <a:cubicBezTo>
                    <a:pt x="73" y="259"/>
                    <a:pt x="78" y="275"/>
                    <a:pt x="79" y="293"/>
                  </a:cubicBezTo>
                  <a:lnTo>
                    <a:pt x="161" y="293"/>
                  </a:lnTo>
                  <a:cubicBezTo>
                    <a:pt x="162" y="275"/>
                    <a:pt x="167" y="259"/>
                    <a:pt x="174" y="244"/>
                  </a:cubicBezTo>
                  <a:cubicBezTo>
                    <a:pt x="182" y="230"/>
                    <a:pt x="192" y="216"/>
                    <a:pt x="204" y="203"/>
                  </a:cubicBezTo>
                  <a:cubicBezTo>
                    <a:pt x="216" y="192"/>
                    <a:pt x="225" y="179"/>
                    <a:pt x="231" y="165"/>
                  </a:cubicBezTo>
                  <a:cubicBezTo>
                    <a:pt x="237" y="151"/>
                    <a:pt x="240" y="136"/>
                    <a:pt x="240" y="120"/>
                  </a:cubicBezTo>
                  <a:lnTo>
                    <a:pt x="140" y="22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5" name="Freeform 16"/>
            <p:cNvSpPr/>
            <p:nvPr/>
          </p:nvSpPr>
          <p:spPr bwMode="auto">
            <a:xfrm>
              <a:off x="5131" y="1729"/>
              <a:ext cx="67" cy="44"/>
            </a:xfrm>
            <a:custGeom>
              <a:avLst/>
              <a:gdLst>
                <a:gd name="T0" fmla="*/ 0 w 80"/>
                <a:gd name="T1" fmla="*/ 40 h 53"/>
                <a:gd name="T2" fmla="*/ 0 w 80"/>
                <a:gd name="T3" fmla="*/ 40 h 53"/>
                <a:gd name="T4" fmla="*/ 4 w 80"/>
                <a:gd name="T5" fmla="*/ 49 h 53"/>
                <a:gd name="T6" fmla="*/ 13 w 80"/>
                <a:gd name="T7" fmla="*/ 53 h 53"/>
                <a:gd name="T8" fmla="*/ 67 w 80"/>
                <a:gd name="T9" fmla="*/ 53 h 53"/>
                <a:gd name="T10" fmla="*/ 76 w 80"/>
                <a:gd name="T11" fmla="*/ 49 h 53"/>
                <a:gd name="T12" fmla="*/ 80 w 80"/>
                <a:gd name="T13" fmla="*/ 40 h 53"/>
                <a:gd name="T14" fmla="*/ 80 w 80"/>
                <a:gd name="T15" fmla="*/ 0 h 53"/>
                <a:gd name="T16" fmla="*/ 0 w 80"/>
                <a:gd name="T17" fmla="*/ 0 h 53"/>
                <a:gd name="T18" fmla="*/ 0 w 80"/>
                <a:gd name="T19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3">
                  <a:moveTo>
                    <a:pt x="0" y="40"/>
                  </a:moveTo>
                  <a:lnTo>
                    <a:pt x="0" y="40"/>
                  </a:lnTo>
                  <a:cubicBezTo>
                    <a:pt x="0" y="43"/>
                    <a:pt x="1" y="46"/>
                    <a:pt x="4" y="49"/>
                  </a:cubicBezTo>
                  <a:cubicBezTo>
                    <a:pt x="7" y="52"/>
                    <a:pt x="10" y="53"/>
                    <a:pt x="13" y="53"/>
                  </a:cubicBezTo>
                  <a:lnTo>
                    <a:pt x="67" y="53"/>
                  </a:lnTo>
                  <a:cubicBezTo>
                    <a:pt x="70" y="53"/>
                    <a:pt x="73" y="52"/>
                    <a:pt x="76" y="49"/>
                  </a:cubicBezTo>
                  <a:cubicBezTo>
                    <a:pt x="79" y="46"/>
                    <a:pt x="80" y="43"/>
                    <a:pt x="80" y="40"/>
                  </a:cubicBezTo>
                  <a:lnTo>
                    <a:pt x="8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6" name="Freeform 17"/>
            <p:cNvSpPr/>
            <p:nvPr/>
          </p:nvSpPr>
          <p:spPr bwMode="auto">
            <a:xfrm>
              <a:off x="5123" y="1466"/>
              <a:ext cx="190" cy="147"/>
            </a:xfrm>
            <a:custGeom>
              <a:avLst/>
              <a:gdLst>
                <a:gd name="T0" fmla="*/ 207 w 226"/>
                <a:gd name="T1" fmla="*/ 0 h 174"/>
                <a:gd name="T2" fmla="*/ 207 w 226"/>
                <a:gd name="T3" fmla="*/ 0 h 174"/>
                <a:gd name="T4" fmla="*/ 154 w 226"/>
                <a:gd name="T5" fmla="*/ 52 h 174"/>
                <a:gd name="T6" fmla="*/ 70 w 226"/>
                <a:gd name="T7" fmla="*/ 137 h 174"/>
                <a:gd name="T8" fmla="*/ 19 w 226"/>
                <a:gd name="T9" fmla="*/ 86 h 174"/>
                <a:gd name="T10" fmla="*/ 0 w 226"/>
                <a:gd name="T11" fmla="*/ 105 h 174"/>
                <a:gd name="T12" fmla="*/ 70 w 226"/>
                <a:gd name="T13" fmla="*/ 174 h 174"/>
                <a:gd name="T14" fmla="*/ 165 w 226"/>
                <a:gd name="T15" fmla="*/ 79 h 174"/>
                <a:gd name="T16" fmla="*/ 226 w 226"/>
                <a:gd name="T17" fmla="*/ 18 h 174"/>
                <a:gd name="T18" fmla="*/ 207 w 226"/>
                <a:gd name="T1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174">
                  <a:moveTo>
                    <a:pt x="207" y="0"/>
                  </a:moveTo>
                  <a:lnTo>
                    <a:pt x="207" y="0"/>
                  </a:lnTo>
                  <a:lnTo>
                    <a:pt x="154" y="52"/>
                  </a:lnTo>
                  <a:lnTo>
                    <a:pt x="70" y="137"/>
                  </a:lnTo>
                  <a:lnTo>
                    <a:pt x="19" y="86"/>
                  </a:lnTo>
                  <a:lnTo>
                    <a:pt x="0" y="105"/>
                  </a:lnTo>
                  <a:lnTo>
                    <a:pt x="70" y="174"/>
                  </a:lnTo>
                  <a:lnTo>
                    <a:pt x="165" y="79"/>
                  </a:lnTo>
                  <a:lnTo>
                    <a:pt x="226" y="18"/>
                  </a:lnTo>
                  <a:lnTo>
                    <a:pt x="20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grpSp>
        <p:nvGrpSpPr>
          <p:cNvPr id="37" name="组合 20"/>
          <p:cNvGrpSpPr>
            <a:grpSpLocks noChangeAspect="1"/>
          </p:cNvGrpSpPr>
          <p:nvPr/>
        </p:nvGrpSpPr>
        <p:grpSpPr bwMode="auto">
          <a:xfrm>
            <a:off x="7096707" y="4947851"/>
            <a:ext cx="411162" cy="536575"/>
            <a:chOff x="5245" y="2879"/>
            <a:chExt cx="259" cy="338"/>
          </a:xfrm>
          <a:solidFill>
            <a:schemeClr val="bg1"/>
          </a:solidFill>
        </p:grpSpPr>
        <p:sp>
          <p:nvSpPr>
            <p:cNvPr id="38" name="Freeform 21"/>
            <p:cNvSpPr/>
            <p:nvPr/>
          </p:nvSpPr>
          <p:spPr bwMode="auto">
            <a:xfrm>
              <a:off x="5284" y="2879"/>
              <a:ext cx="179" cy="88"/>
            </a:xfrm>
            <a:custGeom>
              <a:avLst/>
              <a:gdLst>
                <a:gd name="T0" fmla="*/ 33 w 213"/>
                <a:gd name="T1" fmla="*/ 77 h 105"/>
                <a:gd name="T2" fmla="*/ 33 w 213"/>
                <a:gd name="T3" fmla="*/ 77 h 105"/>
                <a:gd name="T4" fmla="*/ 50 w 213"/>
                <a:gd name="T5" fmla="*/ 51 h 105"/>
                <a:gd name="T6" fmla="*/ 75 w 213"/>
                <a:gd name="T7" fmla="*/ 33 h 105"/>
                <a:gd name="T8" fmla="*/ 107 w 213"/>
                <a:gd name="T9" fmla="*/ 27 h 105"/>
                <a:gd name="T10" fmla="*/ 139 w 213"/>
                <a:gd name="T11" fmla="*/ 33 h 105"/>
                <a:gd name="T12" fmla="*/ 164 w 213"/>
                <a:gd name="T13" fmla="*/ 51 h 105"/>
                <a:gd name="T14" fmla="*/ 181 w 213"/>
                <a:gd name="T15" fmla="*/ 77 h 105"/>
                <a:gd name="T16" fmla="*/ 187 w 213"/>
                <a:gd name="T17" fmla="*/ 105 h 105"/>
                <a:gd name="T18" fmla="*/ 213 w 213"/>
                <a:gd name="T19" fmla="*/ 105 h 105"/>
                <a:gd name="T20" fmla="*/ 205 w 213"/>
                <a:gd name="T21" fmla="*/ 66 h 105"/>
                <a:gd name="T22" fmla="*/ 183 w 213"/>
                <a:gd name="T23" fmla="*/ 32 h 105"/>
                <a:gd name="T24" fmla="*/ 149 w 213"/>
                <a:gd name="T25" fmla="*/ 8 h 105"/>
                <a:gd name="T26" fmla="*/ 107 w 213"/>
                <a:gd name="T27" fmla="*/ 0 h 105"/>
                <a:gd name="T28" fmla="*/ 65 w 213"/>
                <a:gd name="T29" fmla="*/ 8 h 105"/>
                <a:gd name="T30" fmla="*/ 31 w 213"/>
                <a:gd name="T31" fmla="*/ 32 h 105"/>
                <a:gd name="T32" fmla="*/ 8 w 213"/>
                <a:gd name="T33" fmla="*/ 66 h 105"/>
                <a:gd name="T34" fmla="*/ 0 w 213"/>
                <a:gd name="T35" fmla="*/ 105 h 105"/>
                <a:gd name="T36" fmla="*/ 27 w 213"/>
                <a:gd name="T37" fmla="*/ 105 h 105"/>
                <a:gd name="T38" fmla="*/ 33 w 213"/>
                <a:gd name="T39" fmla="*/ 77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3" h="105">
                  <a:moveTo>
                    <a:pt x="33" y="77"/>
                  </a:moveTo>
                  <a:lnTo>
                    <a:pt x="33" y="77"/>
                  </a:lnTo>
                  <a:cubicBezTo>
                    <a:pt x="37" y="67"/>
                    <a:pt x="43" y="58"/>
                    <a:pt x="50" y="51"/>
                  </a:cubicBezTo>
                  <a:cubicBezTo>
                    <a:pt x="57" y="43"/>
                    <a:pt x="65" y="37"/>
                    <a:pt x="75" y="33"/>
                  </a:cubicBezTo>
                  <a:cubicBezTo>
                    <a:pt x="85" y="29"/>
                    <a:pt x="95" y="27"/>
                    <a:pt x="107" y="27"/>
                  </a:cubicBezTo>
                  <a:cubicBezTo>
                    <a:pt x="118" y="27"/>
                    <a:pt x="129" y="29"/>
                    <a:pt x="139" y="33"/>
                  </a:cubicBezTo>
                  <a:cubicBezTo>
                    <a:pt x="148" y="37"/>
                    <a:pt x="157" y="43"/>
                    <a:pt x="164" y="51"/>
                  </a:cubicBezTo>
                  <a:cubicBezTo>
                    <a:pt x="171" y="58"/>
                    <a:pt x="177" y="67"/>
                    <a:pt x="181" y="77"/>
                  </a:cubicBezTo>
                  <a:cubicBezTo>
                    <a:pt x="184" y="86"/>
                    <a:pt x="186" y="95"/>
                    <a:pt x="187" y="105"/>
                  </a:cubicBezTo>
                  <a:lnTo>
                    <a:pt x="213" y="105"/>
                  </a:lnTo>
                  <a:cubicBezTo>
                    <a:pt x="213" y="91"/>
                    <a:pt x="210" y="78"/>
                    <a:pt x="205" y="66"/>
                  </a:cubicBezTo>
                  <a:cubicBezTo>
                    <a:pt x="200" y="53"/>
                    <a:pt x="192" y="42"/>
                    <a:pt x="183" y="32"/>
                  </a:cubicBezTo>
                  <a:cubicBezTo>
                    <a:pt x="173" y="22"/>
                    <a:pt x="162" y="14"/>
                    <a:pt x="149" y="8"/>
                  </a:cubicBezTo>
                  <a:cubicBezTo>
                    <a:pt x="136" y="3"/>
                    <a:pt x="122" y="0"/>
                    <a:pt x="107" y="0"/>
                  </a:cubicBezTo>
                  <a:cubicBezTo>
                    <a:pt x="92" y="0"/>
                    <a:pt x="78" y="3"/>
                    <a:pt x="65" y="8"/>
                  </a:cubicBezTo>
                  <a:cubicBezTo>
                    <a:pt x="52" y="14"/>
                    <a:pt x="40" y="22"/>
                    <a:pt x="31" y="32"/>
                  </a:cubicBezTo>
                  <a:cubicBezTo>
                    <a:pt x="21" y="42"/>
                    <a:pt x="14" y="53"/>
                    <a:pt x="8" y="66"/>
                  </a:cubicBezTo>
                  <a:cubicBezTo>
                    <a:pt x="3" y="78"/>
                    <a:pt x="1" y="91"/>
                    <a:pt x="0" y="105"/>
                  </a:cubicBezTo>
                  <a:lnTo>
                    <a:pt x="27" y="105"/>
                  </a:lnTo>
                  <a:cubicBezTo>
                    <a:pt x="28" y="95"/>
                    <a:pt x="29" y="86"/>
                    <a:pt x="33" y="7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39" name="Freeform 22"/>
            <p:cNvSpPr>
              <a:spLocks noEditPoints="1"/>
            </p:cNvSpPr>
            <p:nvPr/>
          </p:nvSpPr>
          <p:spPr bwMode="auto">
            <a:xfrm>
              <a:off x="5245" y="2967"/>
              <a:ext cx="259" cy="227"/>
            </a:xfrm>
            <a:custGeom>
              <a:avLst/>
              <a:gdLst>
                <a:gd name="T0" fmla="*/ 70 w 308"/>
                <a:gd name="T1" fmla="*/ 51 h 270"/>
                <a:gd name="T2" fmla="*/ 70 w 308"/>
                <a:gd name="T3" fmla="*/ 51 h 270"/>
                <a:gd name="T4" fmla="*/ 61 w 308"/>
                <a:gd name="T5" fmla="*/ 55 h 270"/>
                <a:gd name="T6" fmla="*/ 51 w 308"/>
                <a:gd name="T7" fmla="*/ 51 h 270"/>
                <a:gd name="T8" fmla="*/ 47 w 308"/>
                <a:gd name="T9" fmla="*/ 42 h 270"/>
                <a:gd name="T10" fmla="*/ 51 w 308"/>
                <a:gd name="T11" fmla="*/ 32 h 270"/>
                <a:gd name="T12" fmla="*/ 61 w 308"/>
                <a:gd name="T13" fmla="*/ 28 h 270"/>
                <a:gd name="T14" fmla="*/ 70 w 308"/>
                <a:gd name="T15" fmla="*/ 32 h 270"/>
                <a:gd name="T16" fmla="*/ 74 w 308"/>
                <a:gd name="T17" fmla="*/ 42 h 270"/>
                <a:gd name="T18" fmla="*/ 70 w 308"/>
                <a:gd name="T19" fmla="*/ 51 h 270"/>
                <a:gd name="T20" fmla="*/ 238 w 308"/>
                <a:gd name="T21" fmla="*/ 32 h 270"/>
                <a:gd name="T22" fmla="*/ 238 w 308"/>
                <a:gd name="T23" fmla="*/ 32 h 270"/>
                <a:gd name="T24" fmla="*/ 247 w 308"/>
                <a:gd name="T25" fmla="*/ 28 h 270"/>
                <a:gd name="T26" fmla="*/ 257 w 308"/>
                <a:gd name="T27" fmla="*/ 32 h 270"/>
                <a:gd name="T28" fmla="*/ 261 w 308"/>
                <a:gd name="T29" fmla="*/ 42 h 270"/>
                <a:gd name="T30" fmla="*/ 257 w 308"/>
                <a:gd name="T31" fmla="*/ 51 h 270"/>
                <a:gd name="T32" fmla="*/ 247 w 308"/>
                <a:gd name="T33" fmla="*/ 55 h 270"/>
                <a:gd name="T34" fmla="*/ 238 w 308"/>
                <a:gd name="T35" fmla="*/ 51 h 270"/>
                <a:gd name="T36" fmla="*/ 234 w 308"/>
                <a:gd name="T37" fmla="*/ 42 h 270"/>
                <a:gd name="T38" fmla="*/ 238 w 308"/>
                <a:gd name="T39" fmla="*/ 32 h 270"/>
                <a:gd name="T40" fmla="*/ 154 w 308"/>
                <a:gd name="T41" fmla="*/ 197 h 270"/>
                <a:gd name="T42" fmla="*/ 154 w 308"/>
                <a:gd name="T43" fmla="*/ 197 h 270"/>
                <a:gd name="T44" fmla="*/ 165 w 308"/>
                <a:gd name="T45" fmla="*/ 202 h 270"/>
                <a:gd name="T46" fmla="*/ 308 w 308"/>
                <a:gd name="T47" fmla="*/ 270 h 270"/>
                <a:gd name="T48" fmla="*/ 308 w 308"/>
                <a:gd name="T49" fmla="*/ 82 h 270"/>
                <a:gd name="T50" fmla="*/ 308 w 308"/>
                <a:gd name="T51" fmla="*/ 0 h 270"/>
                <a:gd name="T52" fmla="*/ 260 w 308"/>
                <a:gd name="T53" fmla="*/ 0 h 270"/>
                <a:gd name="T54" fmla="*/ 234 w 308"/>
                <a:gd name="T55" fmla="*/ 0 h 270"/>
                <a:gd name="T56" fmla="*/ 74 w 308"/>
                <a:gd name="T57" fmla="*/ 0 h 270"/>
                <a:gd name="T58" fmla="*/ 47 w 308"/>
                <a:gd name="T59" fmla="*/ 0 h 270"/>
                <a:gd name="T60" fmla="*/ 0 w 308"/>
                <a:gd name="T61" fmla="*/ 0 h 270"/>
                <a:gd name="T62" fmla="*/ 0 w 308"/>
                <a:gd name="T63" fmla="*/ 82 h 270"/>
                <a:gd name="T64" fmla="*/ 0 w 308"/>
                <a:gd name="T65" fmla="*/ 270 h 270"/>
                <a:gd name="T66" fmla="*/ 143 w 308"/>
                <a:gd name="T67" fmla="*/ 202 h 270"/>
                <a:gd name="T68" fmla="*/ 154 w 308"/>
                <a:gd name="T69" fmla="*/ 19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8" h="270">
                  <a:moveTo>
                    <a:pt x="70" y="51"/>
                  </a:moveTo>
                  <a:lnTo>
                    <a:pt x="70" y="51"/>
                  </a:lnTo>
                  <a:cubicBezTo>
                    <a:pt x="67" y="54"/>
                    <a:pt x="64" y="55"/>
                    <a:pt x="61" y="55"/>
                  </a:cubicBezTo>
                  <a:cubicBezTo>
                    <a:pt x="57" y="55"/>
                    <a:pt x="54" y="54"/>
                    <a:pt x="51" y="51"/>
                  </a:cubicBezTo>
                  <a:cubicBezTo>
                    <a:pt x="48" y="48"/>
                    <a:pt x="47" y="45"/>
                    <a:pt x="47" y="42"/>
                  </a:cubicBezTo>
                  <a:cubicBezTo>
                    <a:pt x="47" y="38"/>
                    <a:pt x="48" y="35"/>
                    <a:pt x="51" y="32"/>
                  </a:cubicBezTo>
                  <a:cubicBezTo>
                    <a:pt x="54" y="30"/>
                    <a:pt x="57" y="28"/>
                    <a:pt x="61" y="28"/>
                  </a:cubicBezTo>
                  <a:cubicBezTo>
                    <a:pt x="64" y="28"/>
                    <a:pt x="67" y="30"/>
                    <a:pt x="70" y="32"/>
                  </a:cubicBezTo>
                  <a:cubicBezTo>
                    <a:pt x="73" y="35"/>
                    <a:pt x="74" y="38"/>
                    <a:pt x="74" y="42"/>
                  </a:cubicBezTo>
                  <a:cubicBezTo>
                    <a:pt x="74" y="45"/>
                    <a:pt x="73" y="48"/>
                    <a:pt x="70" y="51"/>
                  </a:cubicBezTo>
                  <a:close/>
                  <a:moveTo>
                    <a:pt x="238" y="32"/>
                  </a:moveTo>
                  <a:lnTo>
                    <a:pt x="238" y="32"/>
                  </a:lnTo>
                  <a:cubicBezTo>
                    <a:pt x="240" y="30"/>
                    <a:pt x="244" y="28"/>
                    <a:pt x="247" y="28"/>
                  </a:cubicBezTo>
                  <a:cubicBezTo>
                    <a:pt x="251" y="28"/>
                    <a:pt x="254" y="30"/>
                    <a:pt x="257" y="32"/>
                  </a:cubicBezTo>
                  <a:cubicBezTo>
                    <a:pt x="259" y="35"/>
                    <a:pt x="261" y="38"/>
                    <a:pt x="261" y="42"/>
                  </a:cubicBezTo>
                  <a:cubicBezTo>
                    <a:pt x="261" y="45"/>
                    <a:pt x="259" y="48"/>
                    <a:pt x="257" y="51"/>
                  </a:cubicBezTo>
                  <a:cubicBezTo>
                    <a:pt x="254" y="54"/>
                    <a:pt x="251" y="55"/>
                    <a:pt x="247" y="55"/>
                  </a:cubicBezTo>
                  <a:cubicBezTo>
                    <a:pt x="244" y="55"/>
                    <a:pt x="240" y="54"/>
                    <a:pt x="238" y="51"/>
                  </a:cubicBezTo>
                  <a:cubicBezTo>
                    <a:pt x="235" y="48"/>
                    <a:pt x="234" y="45"/>
                    <a:pt x="234" y="42"/>
                  </a:cubicBezTo>
                  <a:cubicBezTo>
                    <a:pt x="234" y="38"/>
                    <a:pt x="235" y="35"/>
                    <a:pt x="238" y="32"/>
                  </a:cubicBezTo>
                  <a:close/>
                  <a:moveTo>
                    <a:pt x="154" y="197"/>
                  </a:moveTo>
                  <a:lnTo>
                    <a:pt x="154" y="197"/>
                  </a:lnTo>
                  <a:lnTo>
                    <a:pt x="165" y="202"/>
                  </a:lnTo>
                  <a:lnTo>
                    <a:pt x="308" y="270"/>
                  </a:lnTo>
                  <a:lnTo>
                    <a:pt x="308" y="82"/>
                  </a:lnTo>
                  <a:lnTo>
                    <a:pt x="308" y="0"/>
                  </a:lnTo>
                  <a:lnTo>
                    <a:pt x="260" y="0"/>
                  </a:lnTo>
                  <a:lnTo>
                    <a:pt x="234" y="0"/>
                  </a:lnTo>
                  <a:lnTo>
                    <a:pt x="74" y="0"/>
                  </a:lnTo>
                  <a:lnTo>
                    <a:pt x="47" y="0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270"/>
                  </a:lnTo>
                  <a:lnTo>
                    <a:pt x="143" y="202"/>
                  </a:lnTo>
                  <a:lnTo>
                    <a:pt x="154" y="19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5284" y="2991"/>
              <a:ext cx="23" cy="23"/>
            </a:xfrm>
            <a:custGeom>
              <a:avLst/>
              <a:gdLst>
                <a:gd name="T0" fmla="*/ 13 w 27"/>
                <a:gd name="T1" fmla="*/ 0 h 27"/>
                <a:gd name="T2" fmla="*/ 13 w 27"/>
                <a:gd name="T3" fmla="*/ 0 h 27"/>
                <a:gd name="T4" fmla="*/ 4 w 27"/>
                <a:gd name="T5" fmla="*/ 4 h 27"/>
                <a:gd name="T6" fmla="*/ 0 w 27"/>
                <a:gd name="T7" fmla="*/ 14 h 27"/>
                <a:gd name="T8" fmla="*/ 4 w 27"/>
                <a:gd name="T9" fmla="*/ 23 h 27"/>
                <a:gd name="T10" fmla="*/ 13 w 27"/>
                <a:gd name="T11" fmla="*/ 27 h 27"/>
                <a:gd name="T12" fmla="*/ 23 w 27"/>
                <a:gd name="T13" fmla="*/ 23 h 27"/>
                <a:gd name="T14" fmla="*/ 27 w 27"/>
                <a:gd name="T15" fmla="*/ 14 h 27"/>
                <a:gd name="T16" fmla="*/ 23 w 27"/>
                <a:gd name="T17" fmla="*/ 4 h 27"/>
                <a:gd name="T18" fmla="*/ 13 w 27"/>
                <a:gd name="T1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7">
                  <a:moveTo>
                    <a:pt x="13" y="0"/>
                  </a:moveTo>
                  <a:lnTo>
                    <a:pt x="13" y="0"/>
                  </a:lnTo>
                  <a:cubicBezTo>
                    <a:pt x="10" y="0"/>
                    <a:pt x="7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7" y="26"/>
                    <a:pt x="10" y="27"/>
                    <a:pt x="13" y="27"/>
                  </a:cubicBez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7" y="17"/>
                    <a:pt x="27" y="14"/>
                  </a:cubicBezTo>
                  <a:cubicBezTo>
                    <a:pt x="27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1" name="Freeform 24"/>
            <p:cNvSpPr/>
            <p:nvPr/>
          </p:nvSpPr>
          <p:spPr bwMode="auto">
            <a:xfrm>
              <a:off x="5442" y="2991"/>
              <a:ext cx="21" cy="23"/>
            </a:xfrm>
            <a:custGeom>
              <a:avLst/>
              <a:gdLst>
                <a:gd name="T0" fmla="*/ 13 w 26"/>
                <a:gd name="T1" fmla="*/ 27 h 27"/>
                <a:gd name="T2" fmla="*/ 13 w 26"/>
                <a:gd name="T3" fmla="*/ 27 h 27"/>
                <a:gd name="T4" fmla="*/ 23 w 26"/>
                <a:gd name="T5" fmla="*/ 23 h 27"/>
                <a:gd name="T6" fmla="*/ 26 w 26"/>
                <a:gd name="T7" fmla="*/ 14 h 27"/>
                <a:gd name="T8" fmla="*/ 23 w 26"/>
                <a:gd name="T9" fmla="*/ 4 h 27"/>
                <a:gd name="T10" fmla="*/ 13 w 26"/>
                <a:gd name="T11" fmla="*/ 0 h 27"/>
                <a:gd name="T12" fmla="*/ 4 w 26"/>
                <a:gd name="T13" fmla="*/ 4 h 27"/>
                <a:gd name="T14" fmla="*/ 0 w 26"/>
                <a:gd name="T15" fmla="*/ 14 h 27"/>
                <a:gd name="T16" fmla="*/ 4 w 26"/>
                <a:gd name="T17" fmla="*/ 23 h 27"/>
                <a:gd name="T18" fmla="*/ 13 w 26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7">
                  <a:moveTo>
                    <a:pt x="13" y="27"/>
                  </a:moveTo>
                  <a:lnTo>
                    <a:pt x="13" y="27"/>
                  </a:lnTo>
                  <a:cubicBezTo>
                    <a:pt x="17" y="27"/>
                    <a:pt x="20" y="26"/>
                    <a:pt x="23" y="23"/>
                  </a:cubicBezTo>
                  <a:cubicBezTo>
                    <a:pt x="25" y="20"/>
                    <a:pt x="26" y="17"/>
                    <a:pt x="26" y="14"/>
                  </a:cubicBezTo>
                  <a:cubicBezTo>
                    <a:pt x="26" y="10"/>
                    <a:pt x="25" y="7"/>
                    <a:pt x="23" y="4"/>
                  </a:cubicBezTo>
                  <a:cubicBezTo>
                    <a:pt x="20" y="2"/>
                    <a:pt x="17" y="0"/>
                    <a:pt x="13" y="0"/>
                  </a:cubicBezTo>
                  <a:cubicBezTo>
                    <a:pt x="10" y="0"/>
                    <a:pt x="6" y="2"/>
                    <a:pt x="4" y="4"/>
                  </a:cubicBezTo>
                  <a:cubicBezTo>
                    <a:pt x="1" y="7"/>
                    <a:pt x="0" y="10"/>
                    <a:pt x="0" y="14"/>
                  </a:cubicBezTo>
                  <a:cubicBezTo>
                    <a:pt x="0" y="17"/>
                    <a:pt x="1" y="20"/>
                    <a:pt x="4" y="23"/>
                  </a:cubicBezTo>
                  <a:cubicBezTo>
                    <a:pt x="6" y="26"/>
                    <a:pt x="10" y="27"/>
                    <a:pt x="13" y="27"/>
                  </a:cubicBez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5246" y="3157"/>
              <a:ext cx="256" cy="60"/>
            </a:xfrm>
            <a:custGeom>
              <a:avLst/>
              <a:gdLst>
                <a:gd name="T0" fmla="*/ 153 w 305"/>
                <a:gd name="T1" fmla="*/ 0 h 72"/>
                <a:gd name="T2" fmla="*/ 153 w 305"/>
                <a:gd name="T3" fmla="*/ 0 h 72"/>
                <a:gd name="T4" fmla="*/ 0 w 305"/>
                <a:gd name="T5" fmla="*/ 72 h 72"/>
                <a:gd name="T6" fmla="*/ 153 w 305"/>
                <a:gd name="T7" fmla="*/ 72 h 72"/>
                <a:gd name="T8" fmla="*/ 305 w 305"/>
                <a:gd name="T9" fmla="*/ 72 h 72"/>
                <a:gd name="T10" fmla="*/ 153 w 305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72">
                  <a:moveTo>
                    <a:pt x="153" y="0"/>
                  </a:moveTo>
                  <a:lnTo>
                    <a:pt x="153" y="0"/>
                  </a:lnTo>
                  <a:lnTo>
                    <a:pt x="0" y="72"/>
                  </a:lnTo>
                  <a:lnTo>
                    <a:pt x="153" y="72"/>
                  </a:lnTo>
                  <a:lnTo>
                    <a:pt x="305" y="72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等线" panose="02010600030101010101" pitchFamily="2" charset="-122"/>
                <a:sym typeface="等线" panose="02010600030101010101" pitchFamily="2" charset="-122"/>
              </a:endParaRPr>
            </a:p>
          </p:txBody>
        </p:sp>
      </p:grpSp>
      <p:sp>
        <p:nvSpPr>
          <p:cNvPr id="43" name="文本框 78"/>
          <p:cNvSpPr txBox="1"/>
          <p:nvPr/>
        </p:nvSpPr>
        <p:spPr>
          <a:xfrm>
            <a:off x="3758753" y="5870348"/>
            <a:ext cx="9297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核心矛盾</a:t>
            </a:r>
            <a:endParaRPr lang="en-US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4" name="文本框 78"/>
          <p:cNvSpPr txBox="1"/>
          <p:nvPr/>
        </p:nvSpPr>
        <p:spPr>
          <a:xfrm>
            <a:off x="7470842" y="5861114"/>
            <a:ext cx="9297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研究挑战</a:t>
            </a:r>
            <a:endParaRPr lang="zh-CN" altLang="en-US" b="1" dirty="0">
              <a:solidFill>
                <a:srgbClr val="6B0060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5" name="对话气泡: 矩形 44"/>
          <p:cNvSpPr/>
          <p:nvPr/>
        </p:nvSpPr>
        <p:spPr>
          <a:xfrm>
            <a:off x="53789" y="3370858"/>
            <a:ext cx="3485624" cy="2875302"/>
          </a:xfrm>
          <a:prstGeom prst="wedgeRectCallout">
            <a:avLst>
              <a:gd name="adj1" fmla="val 80203"/>
              <a:gd name="adj2" fmla="val 9296"/>
            </a:avLst>
          </a:prstGeom>
          <a:solidFill>
            <a:srgbClr val="E7ABDC">
              <a:alpha val="20000"/>
            </a:srgb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1. </a:t>
            </a:r>
            <a:r>
              <a:rPr lang="zh-CN" altLang="en-US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单一强隔离级别可以保证严格正确性，但在高并发下协调成本高。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2. </a:t>
            </a:r>
            <a:r>
              <a:rPr lang="zh-CN" altLang="en-US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单一弱隔离级别虽然更高效，却难以满足核心事务的一致性要求。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3. </a:t>
            </a:r>
            <a:r>
              <a:rPr lang="zh-CN" altLang="en-US" sz="1500" b="1" dirty="0">
                <a:solidFill>
                  <a:schemeClr val="tx1"/>
                </a:solidFill>
                <a:latin typeface="+mn-ea"/>
                <a:sym typeface="等线" panose="02010600030101010101" pitchFamily="2" charset="-122"/>
              </a:rPr>
              <a:t>一致性与效率之间长期存在系统级权衡。</a:t>
            </a:r>
            <a:endParaRPr lang="en-US" altLang="zh-CN" sz="1500" dirty="0">
              <a:solidFill>
                <a:schemeClr val="tx1"/>
              </a:solidFill>
              <a:latin typeface="+mn-ea"/>
              <a:sym typeface="等线" panose="02010600030101010101" pitchFamily="2" charset="-122"/>
            </a:endParaRPr>
          </a:p>
        </p:txBody>
      </p:sp>
      <p:sp>
        <p:nvSpPr>
          <p:cNvPr id="46" name="对话气泡: 矩形 45"/>
          <p:cNvSpPr/>
          <p:nvPr/>
        </p:nvSpPr>
        <p:spPr>
          <a:xfrm>
            <a:off x="53789" y="878945"/>
            <a:ext cx="4779435" cy="2464275"/>
          </a:xfrm>
          <a:prstGeom prst="wedgeRectCallout">
            <a:avLst>
              <a:gd name="adj1" fmla="val 80206"/>
              <a:gd name="adj2" fmla="val 41512"/>
            </a:avLst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1.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分布式数据库已成为高并发业务与云原生系统的核心基础设施。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2.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不同事务类型对一致性、吞吐和延迟的诉求并不相同。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3.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业务系统希望既保证关键事务正确性，又避免所有请求都走最重协调路径。</a:t>
            </a:r>
            <a:endParaRPr lang="zh-CN" altLang="en-US" sz="15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  <p:sp>
        <p:nvSpPr>
          <p:cNvPr id="47" name="对话气泡: 矩形 46"/>
          <p:cNvSpPr/>
          <p:nvPr/>
        </p:nvSpPr>
        <p:spPr>
          <a:xfrm>
            <a:off x="8515582" y="2225488"/>
            <a:ext cx="3705860" cy="3644860"/>
          </a:xfrm>
          <a:prstGeom prst="wedgeRectCallout">
            <a:avLst>
              <a:gd name="adj1" fmla="val -67236"/>
              <a:gd name="adj2" fmla="val 4389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1.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如何统一刻画多种隔离级别及其差异？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2.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如何给出可实现、可验证的混合隔离操作语义？</a:t>
            </a:r>
          </a:p>
          <a:p>
            <a:pPr>
              <a:lnSpc>
                <a:spcPct val="130000"/>
              </a:lnSpc>
            </a:pPr>
            <a:r>
              <a:rPr lang="en-US" altLang="zh-CN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3. </a:t>
            </a:r>
            <a:r>
              <a:rPr lang="zh-CN" altLang="en-US" sz="1500" b="1" dirty="0">
                <a:solidFill>
                  <a:srgbClr val="6B0060"/>
                </a:solidFill>
                <a:latin typeface="+mn-ea"/>
                <a:sym typeface="等线" panose="02010600030101010101" pitchFamily="2" charset="-122"/>
              </a:rPr>
              <a:t>如何通过原型与实验说明混合隔离的性能意义？</a:t>
            </a:r>
            <a:endParaRPr lang="zh-CN" altLang="en-US" sz="1500" dirty="0">
              <a:solidFill>
                <a:schemeClr val="tx1"/>
              </a:solidFill>
              <a:sym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/>
              <a:t>问题动机与研究目标</a:t>
            </a:r>
            <a:endParaRPr kumimoji="1" lang="zh-CN" altLang="en-US" sz="2400" dirty="0"/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500495" y="851534"/>
            <a:ext cx="4902835" cy="5434965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500">
                <a:solidFill>
                  <a:schemeClr val="tx1"/>
                </a:solidFill>
              </a:rPr>
              <a:t>问题动机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solidFill>
                  <a:schemeClr val="tx1"/>
                </a:solidFill>
              </a:rPr>
              <a:t>1. </a:t>
            </a:r>
            <a:r>
              <a:rPr lang="zh-CN" altLang="en-US" sz="1500">
                <a:solidFill>
                  <a:schemeClr val="tx1"/>
                </a:solidFill>
              </a:rPr>
              <a:t>核心链路更关注正确性，分析类事务更关注吞吐与延迟。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solidFill>
                  <a:schemeClr val="tx1"/>
                </a:solidFill>
              </a:rPr>
              <a:t>2. </a:t>
            </a:r>
            <a:r>
              <a:rPr lang="zh-CN" altLang="en-US" sz="1500">
                <a:solidFill>
                  <a:schemeClr val="tx1"/>
                </a:solidFill>
              </a:rPr>
              <a:t>因此，统一采用单一隔离级别并不是最优选择。</a:t>
            </a:r>
          </a:p>
          <a:p>
            <a:pPr>
              <a:lnSpc>
                <a:spcPct val="150000"/>
              </a:lnSpc>
            </a:pPr>
            <a:endParaRPr lang="zh-CN" altLang="en-US" sz="15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500">
                <a:solidFill>
                  <a:schemeClr val="tx1"/>
                </a:solidFill>
              </a:rPr>
              <a:t>研究目标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solidFill>
                  <a:schemeClr val="tx1"/>
                </a:solidFill>
              </a:rPr>
              <a:t>1. </a:t>
            </a:r>
            <a:r>
              <a:rPr lang="zh-CN" altLang="en-US" sz="1500">
                <a:solidFill>
                  <a:schemeClr val="tx1"/>
                </a:solidFill>
              </a:rPr>
              <a:t>建立统一的一致性语义框架。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solidFill>
                  <a:schemeClr val="tx1"/>
                </a:solidFill>
              </a:rPr>
              <a:t>2. </a:t>
            </a:r>
            <a:r>
              <a:rPr lang="zh-CN" altLang="en-US" sz="1500">
                <a:solidFill>
                  <a:schemeClr val="tx1"/>
                </a:solidFill>
              </a:rPr>
              <a:t>给出支持混合隔离级别的分布式操作语义。</a:t>
            </a:r>
          </a:p>
          <a:p>
            <a:pPr>
              <a:lnSpc>
                <a:spcPct val="150000"/>
              </a:lnSpc>
            </a:pPr>
            <a:r>
              <a:rPr lang="en-US" altLang="zh-CN" sz="1500">
                <a:solidFill>
                  <a:schemeClr val="tx1"/>
                </a:solidFill>
              </a:rPr>
              <a:t>3. </a:t>
            </a:r>
            <a:r>
              <a:rPr lang="zh-CN" altLang="en-US" sz="1500">
                <a:solidFill>
                  <a:schemeClr val="tx1"/>
                </a:solidFill>
              </a:rPr>
              <a:t>通过原型与实验验证该设计的可行性与收益。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14" y="966507"/>
            <a:ext cx="5302998" cy="4749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40541" y="5862221"/>
            <a:ext cx="3133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图：隔离级别与一致性强度关系</a:t>
            </a:r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/>
              <a:t>论文总体思路与主要贡献</a:t>
            </a:r>
            <a:endParaRPr kumimoji="1" lang="zh-CN" altLang="en-US" sz="2400" dirty="0"/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63557" y="1156448"/>
            <a:ext cx="4902835" cy="452493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500" b="1">
                <a:solidFill>
                  <a:schemeClr val="tx1"/>
                </a:solidFill>
              </a:rPr>
              <a:t>总体思路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1. </a:t>
            </a:r>
            <a:r>
              <a:rPr lang="zh-CN" altLang="en-US" sz="1500" b="1">
                <a:solidFill>
                  <a:schemeClr val="tx1"/>
                </a:solidFill>
              </a:rPr>
              <a:t>从一致性语义出发统一描述隔离级别。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2. </a:t>
            </a:r>
            <a:r>
              <a:rPr lang="zh-CN" altLang="en-US" sz="1500" b="1">
                <a:solidFill>
                  <a:schemeClr val="tx1"/>
                </a:solidFill>
              </a:rPr>
              <a:t>以抽象执行为桥梁构造面向实现的操作语义。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3. </a:t>
            </a:r>
            <a:r>
              <a:rPr lang="zh-CN" altLang="en-US" sz="1500" b="1">
                <a:solidFill>
                  <a:schemeClr val="tx1"/>
                </a:solidFill>
              </a:rPr>
              <a:t>使用 </a:t>
            </a:r>
            <a:r>
              <a:rPr lang="en-US" altLang="zh-CN" sz="1500" b="1">
                <a:solidFill>
                  <a:schemeClr val="tx1"/>
                </a:solidFill>
              </a:rPr>
              <a:t>TLA+ </a:t>
            </a:r>
            <a:r>
              <a:rPr lang="zh-CN" altLang="en-US" sz="1500" b="1">
                <a:solidFill>
                  <a:schemeClr val="tx1"/>
                </a:solidFill>
              </a:rPr>
              <a:t>验证关键状态转移与安全性质。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4. </a:t>
            </a:r>
            <a:r>
              <a:rPr lang="zh-CN" altLang="en-US" sz="1500" b="1">
                <a:solidFill>
                  <a:schemeClr val="tx1"/>
                </a:solidFill>
              </a:rPr>
              <a:t>设计并实现分布式 </a:t>
            </a:r>
            <a:r>
              <a:rPr lang="en-US" altLang="zh-CN" sz="1500" b="1">
                <a:solidFill>
                  <a:schemeClr val="tx1"/>
                </a:solidFill>
              </a:rPr>
              <a:t>KV </a:t>
            </a:r>
            <a:r>
              <a:rPr lang="zh-CN" altLang="en-US" sz="1500" b="1">
                <a:solidFill>
                  <a:schemeClr val="tx1"/>
                </a:solidFill>
              </a:rPr>
              <a:t>原型进行实验论证。</a:t>
            </a:r>
          </a:p>
          <a:p>
            <a:pPr>
              <a:lnSpc>
                <a:spcPct val="150000"/>
              </a:lnSpc>
            </a:pPr>
            <a:endParaRPr lang="zh-CN" altLang="en-US" sz="1500" b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500" b="1">
                <a:solidFill>
                  <a:schemeClr val="tx1"/>
                </a:solidFill>
              </a:rPr>
              <a:t>主要贡献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1. </a:t>
            </a:r>
            <a:r>
              <a:rPr lang="zh-CN" altLang="en-US" sz="1500" b="1">
                <a:solidFill>
                  <a:schemeClr val="tx1"/>
                </a:solidFill>
              </a:rPr>
              <a:t>统一语义框架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2. </a:t>
            </a:r>
            <a:r>
              <a:rPr lang="zh-CN" altLang="en-US" sz="1500" b="1">
                <a:solidFill>
                  <a:schemeClr val="tx1"/>
                </a:solidFill>
              </a:rPr>
              <a:t>混合隔离操作语义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3. TLA+ </a:t>
            </a:r>
            <a:r>
              <a:rPr lang="zh-CN" altLang="en-US" sz="1500" b="1">
                <a:solidFill>
                  <a:schemeClr val="tx1"/>
                </a:solidFill>
              </a:rPr>
              <a:t>形式化验证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4. </a:t>
            </a:r>
            <a:r>
              <a:rPr lang="zh-CN" altLang="en-US" sz="1500" b="1">
                <a:solidFill>
                  <a:schemeClr val="tx1"/>
                </a:solidFill>
              </a:rPr>
              <a:t>原型系统与性能实验</a:t>
            </a:r>
            <a:endParaRPr lang="en-US" altLang="zh-CN" sz="1500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15353" y="6048509"/>
            <a:ext cx="3375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图：论文研究路线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30" y="915060"/>
            <a:ext cx="6042364" cy="5080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一致性语义的统一视角</a:t>
            </a:r>
            <a:endParaRPr kumimoji="1"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370295" y="5885668"/>
            <a:ext cx="3563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图：使用 </a:t>
            </a:r>
            <a:r>
              <a:rPr lang="en-US" altLang="zh-CN" sz="1200"/>
              <a:t>VIS / AR </a:t>
            </a:r>
            <a:r>
              <a:rPr lang="zh-CN" altLang="en-US" sz="1200"/>
              <a:t>描述事务可见性与仲裁顺序</a:t>
            </a: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359" y="798792"/>
            <a:ext cx="7906870" cy="4923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抽象执行模型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121525" y="5800777"/>
            <a:ext cx="4040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</a:t>
            </a:r>
            <a:r>
              <a:rPr lang="en-US" altLang="zh-CN" sz="1200"/>
              <a:t>X = (H, VIS, AR) </a:t>
            </a:r>
            <a:r>
              <a:rPr lang="zh-CN" altLang="en-US" sz="1200"/>
              <a:t>的抽象执行结构</a:t>
            </a:r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017" y="1297217"/>
            <a:ext cx="9340137" cy="4407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隔离级别的公理化表达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516278" y="6035466"/>
            <a:ext cx="278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图：隔离级别关系</a:t>
            </a:r>
            <a:endParaRPr lang="zh-CN" altLang="en-US" sz="1200" dirty="0"/>
          </a:p>
        </p:txBody>
      </p:sp>
      <p:sp>
        <p:nvSpPr>
          <p:cNvPr id="8" name="文本框 7"/>
          <p:cNvSpPr txBox="1"/>
          <p:nvPr/>
        </p:nvSpPr>
        <p:spPr>
          <a:xfrm>
            <a:off x="7255469" y="2601156"/>
            <a:ext cx="278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图：一致性公理</a:t>
            </a:r>
            <a:endParaRPr lang="zh-CN" altLang="en-US" sz="1200" dirty="0"/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6234392" y="3160367"/>
            <a:ext cx="5455407" cy="304437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chemeClr val="tx1"/>
                </a:solidFill>
              </a:rPr>
              <a:t>核心结论</a:t>
            </a:r>
          </a:p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chemeClr val="tx1"/>
                </a:solidFill>
              </a:rPr>
              <a:t>1. </a:t>
            </a:r>
            <a:r>
              <a:rPr lang="zh-CN" altLang="en-US" sz="1500" dirty="0">
                <a:solidFill>
                  <a:schemeClr val="tx1"/>
                </a:solidFill>
              </a:rPr>
              <a:t>各隔离级别都可表示为对 </a:t>
            </a:r>
            <a:r>
              <a:rPr lang="en-US" altLang="zh-CN" sz="1500" dirty="0">
                <a:solidFill>
                  <a:schemeClr val="tx1"/>
                </a:solidFill>
              </a:rPr>
              <a:t>VIS / AR </a:t>
            </a:r>
            <a:r>
              <a:rPr lang="zh-CN" altLang="en-US" sz="1500" dirty="0">
                <a:solidFill>
                  <a:schemeClr val="tx1"/>
                </a:solidFill>
              </a:rPr>
              <a:t>的约束组合。</a:t>
            </a:r>
          </a:p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chemeClr val="tx1"/>
                </a:solidFill>
              </a:rPr>
              <a:t>2. RA</a:t>
            </a:r>
            <a:r>
              <a:rPr lang="zh-CN" altLang="en-US" sz="1500" dirty="0">
                <a:solidFill>
                  <a:schemeClr val="tx1"/>
                </a:solidFill>
              </a:rPr>
              <a:t>、</a:t>
            </a:r>
            <a:r>
              <a:rPr lang="en-US" altLang="zh-CN" sz="1500" dirty="0">
                <a:solidFill>
                  <a:schemeClr val="tx1"/>
                </a:solidFill>
              </a:rPr>
              <a:t>CC</a:t>
            </a:r>
            <a:r>
              <a:rPr lang="zh-CN" altLang="en-US" sz="1500" dirty="0">
                <a:solidFill>
                  <a:schemeClr val="tx1"/>
                </a:solidFill>
              </a:rPr>
              <a:t>、</a:t>
            </a:r>
            <a:r>
              <a:rPr lang="en-US" altLang="zh-CN" sz="1500" dirty="0">
                <a:solidFill>
                  <a:schemeClr val="tx1"/>
                </a:solidFill>
              </a:rPr>
              <a:t>PC</a:t>
            </a:r>
            <a:r>
              <a:rPr lang="zh-CN" altLang="en-US" sz="1500" dirty="0">
                <a:solidFill>
                  <a:schemeClr val="tx1"/>
                </a:solidFill>
              </a:rPr>
              <a:t>、</a:t>
            </a:r>
            <a:r>
              <a:rPr lang="en-US" altLang="zh-CN" sz="1500" dirty="0">
                <a:solidFill>
                  <a:schemeClr val="tx1"/>
                </a:solidFill>
              </a:rPr>
              <a:t>PSI</a:t>
            </a:r>
            <a:r>
              <a:rPr lang="zh-CN" altLang="en-US" sz="1500" dirty="0">
                <a:solidFill>
                  <a:schemeClr val="tx1"/>
                </a:solidFill>
              </a:rPr>
              <a:t>、</a:t>
            </a:r>
            <a:r>
              <a:rPr lang="en-US" altLang="zh-CN" sz="1500" dirty="0">
                <a:solidFill>
                  <a:schemeClr val="tx1"/>
                </a:solidFill>
              </a:rPr>
              <a:t>SI</a:t>
            </a:r>
            <a:r>
              <a:rPr lang="zh-CN" altLang="en-US" sz="1500" dirty="0">
                <a:solidFill>
                  <a:schemeClr val="tx1"/>
                </a:solidFill>
              </a:rPr>
              <a:t>、</a:t>
            </a:r>
            <a:r>
              <a:rPr lang="en-US" altLang="zh-CN" sz="1500" dirty="0">
                <a:solidFill>
                  <a:schemeClr val="tx1"/>
                </a:solidFill>
              </a:rPr>
              <a:t>SER </a:t>
            </a:r>
            <a:r>
              <a:rPr lang="zh-CN" altLang="en-US" sz="1500" dirty="0">
                <a:solidFill>
                  <a:schemeClr val="tx1"/>
                </a:solidFill>
              </a:rPr>
              <a:t>在前缀性与冲突检查上逐步增强。</a:t>
            </a:r>
          </a:p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chemeClr val="tx1"/>
                </a:solidFill>
              </a:rPr>
              <a:t>3. </a:t>
            </a:r>
            <a:r>
              <a:rPr lang="zh-CN" altLang="en-US" sz="1500" dirty="0">
                <a:solidFill>
                  <a:schemeClr val="tx1"/>
                </a:solidFill>
              </a:rPr>
              <a:t>更强隔离意味着更少异常，但通常伴随更高协调成本。</a:t>
            </a:r>
          </a:p>
          <a:p>
            <a:pPr>
              <a:lnSpc>
                <a:spcPct val="150000"/>
              </a:lnSpc>
            </a:pPr>
            <a:r>
              <a:rPr lang="en-US" altLang="zh-CN" sz="1500" dirty="0">
                <a:solidFill>
                  <a:schemeClr val="tx1"/>
                </a:solidFill>
              </a:rPr>
              <a:t>4. </a:t>
            </a:r>
            <a:r>
              <a:rPr lang="zh-CN" altLang="en-US" sz="1500" dirty="0">
                <a:solidFill>
                  <a:schemeClr val="tx1"/>
                </a:solidFill>
              </a:rPr>
              <a:t>统一表达为混合隔离建模提供了基础。</a:t>
            </a:r>
            <a:endParaRPr lang="en-US" altLang="zh-CN" sz="15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47" y="851308"/>
            <a:ext cx="5587253" cy="51026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392" y="771971"/>
            <a:ext cx="5794002" cy="155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从一致性定义到操作语义</a:t>
            </a:r>
            <a:endParaRPr kumimoji="1"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456394" y="3075116"/>
            <a:ext cx="3234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图：全局时间线与可见性</a:t>
            </a:r>
            <a:endParaRPr lang="zh-CN" altLang="en-US" sz="1200" dirty="0"/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176492" y="1085690"/>
            <a:ext cx="5455407" cy="5173916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500" b="1">
                <a:solidFill>
                  <a:schemeClr val="tx1"/>
                </a:solidFill>
              </a:rPr>
              <a:t>为什么需要操作语义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1. </a:t>
            </a:r>
            <a:r>
              <a:rPr lang="zh-CN" altLang="en-US" sz="1500" b="1">
                <a:solidFill>
                  <a:schemeClr val="tx1"/>
                </a:solidFill>
              </a:rPr>
              <a:t>公理化语义回答</a:t>
            </a:r>
            <a:r>
              <a:rPr lang="en-US" altLang="zh-CN" sz="1500" b="1">
                <a:solidFill>
                  <a:schemeClr val="tx1"/>
                </a:solidFill>
              </a:rPr>
              <a:t>"</a:t>
            </a:r>
            <a:r>
              <a:rPr lang="zh-CN" altLang="en-US" sz="1500" b="1">
                <a:solidFill>
                  <a:schemeClr val="tx1"/>
                </a:solidFill>
              </a:rPr>
              <a:t>什么样的执行是正确的</a:t>
            </a:r>
            <a:r>
              <a:rPr lang="en-US" altLang="zh-CN" sz="1500" b="1">
                <a:solidFill>
                  <a:schemeClr val="tx1"/>
                </a:solidFill>
              </a:rPr>
              <a:t>"</a:t>
            </a:r>
            <a:r>
              <a:rPr lang="zh-CN" altLang="en-US" sz="1500" b="1">
                <a:solidFill>
                  <a:schemeClr val="tx1"/>
                </a:solidFill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2. </a:t>
            </a:r>
            <a:r>
              <a:rPr lang="zh-CN" altLang="en-US" sz="1500" b="1">
                <a:solidFill>
                  <a:schemeClr val="tx1"/>
                </a:solidFill>
              </a:rPr>
              <a:t>系统实现还需要描述事务如何开始、读取、写入、提交与回滚。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3. </a:t>
            </a:r>
            <a:r>
              <a:rPr lang="zh-CN" altLang="en-US" sz="1500" b="1">
                <a:solidFill>
                  <a:schemeClr val="tx1"/>
                </a:solidFill>
              </a:rPr>
              <a:t>操作语义把一致性约束落到具体状态转移。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4. </a:t>
            </a:r>
            <a:r>
              <a:rPr lang="zh-CN" altLang="en-US" sz="1500" b="1">
                <a:solidFill>
                  <a:schemeClr val="tx1"/>
                </a:solidFill>
              </a:rPr>
              <a:t>这一层连接了形式化定义、验证方法与工程实现。</a:t>
            </a:r>
            <a:endParaRPr lang="en-US" altLang="zh-CN" sz="1500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56394" y="5921052"/>
            <a:ext cx="3234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图：快速提交路径示意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750" y="738883"/>
            <a:ext cx="6281177" cy="221358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750" y="3560458"/>
            <a:ext cx="6183458" cy="2094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面向混合隔离级别的操作语义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3988073" y="5959660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</a:t>
            </a:r>
            <a:r>
              <a:rPr lang="en-US" altLang="zh-CN" sz="1200"/>
              <a:t>StartTx / ExecuteOp / CommitTx </a:t>
            </a:r>
            <a:r>
              <a:rPr lang="zh-CN" altLang="en-US" sz="1200"/>
              <a:t>三阶段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57" y="836342"/>
            <a:ext cx="5427275" cy="5060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操作语义中的关键状态与状态转移</a:t>
            </a:r>
            <a:endParaRPr kumimoji="1" lang="zh-CN" altLang="en-US" sz="2400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图：关键提交与冲突检测路径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97" y="1020822"/>
            <a:ext cx="8421006" cy="4608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基于 </a:t>
            </a:r>
            <a:r>
              <a:rPr kumimoji="1" lang="en-US" altLang="zh-CN" sz="2400">
                <a:sym typeface="+mn-ea"/>
              </a:rPr>
              <a:t>TLA+ </a:t>
            </a:r>
            <a:r>
              <a:rPr kumimoji="1" lang="zh-CN" altLang="en-US" sz="2400">
                <a:sym typeface="+mn-ea"/>
              </a:rPr>
              <a:t>的建模与验证</a:t>
            </a:r>
            <a:endParaRPr kumimoji="1" lang="zh-CN" altLang="en-US" sz="2400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13292" y="5702186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</a:t>
            </a:r>
            <a:r>
              <a:rPr lang="en-US" altLang="zh-CN" sz="1200"/>
              <a:t>TLA+ </a:t>
            </a:r>
            <a:r>
              <a:rPr lang="zh-CN" altLang="en-US" sz="1200"/>
              <a:t>规约片段与状态转移定义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1760938"/>
            <a:ext cx="10148047" cy="3605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en-US" altLang="zh-CN" sz="2400">
                <a:sym typeface="+mn-ea"/>
              </a:rPr>
              <a:t>TLA+ </a:t>
            </a:r>
            <a:r>
              <a:rPr kumimoji="1" lang="zh-CN" altLang="en-US" sz="2400">
                <a:sym typeface="+mn-ea"/>
              </a:rPr>
              <a:t>验证内容与结论</a:t>
            </a:r>
            <a:endParaRPr kumimoji="1" lang="zh-CN" altLang="en-US" sz="2400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99844" y="6038344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图：模型检查覆盖事务状态、读写操作与提交约束</a:t>
            </a:r>
            <a:endParaRPr lang="zh-CN" altLang="en-US" sz="1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46" y="922822"/>
            <a:ext cx="6447961" cy="5115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14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原型系统总体架构</a:t>
            </a:r>
            <a:endParaRPr kumimoji="1" lang="zh-CN" altLang="en-US" sz="2400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006568" y="5798789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图：分片式分布式 </a:t>
            </a:r>
            <a:r>
              <a:rPr lang="en-US" altLang="zh-CN" sz="1200"/>
              <a:t>KV </a:t>
            </a:r>
            <a:r>
              <a:rPr lang="zh-CN" altLang="en-US" sz="1200"/>
              <a:t>原型架构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018" y="1025401"/>
            <a:ext cx="7886208" cy="468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15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原型设计与关键实现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978449" y="1567562"/>
            <a:ext cx="8235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表：原型系统关键设计要点</a:t>
            </a:r>
            <a:endParaRPr lang="zh-CN" altLang="en-US" sz="12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3200"/>
              </p:ext>
            </p:extLst>
          </p:nvPr>
        </p:nvGraphicFramePr>
        <p:xfrm>
          <a:off x="2032000" y="2054478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模块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/>
                        <a:t>实现要点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事务模型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支持 </a:t>
                      </a:r>
                      <a:r>
                        <a:rPr lang="en-US" altLang="zh-CN" sz="1400"/>
                        <a:t>PC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PSI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SI</a:t>
                      </a:r>
                      <a:r>
                        <a:rPr lang="zh-CN" altLang="en-US" sz="1400"/>
                        <a:t>、</a:t>
                      </a:r>
                      <a:r>
                        <a:rPr lang="en-US" altLang="zh-CN" sz="1400"/>
                        <a:t>SER </a:t>
                      </a:r>
                      <a:r>
                        <a:rPr lang="zh-CN" altLang="en-US" sz="1400"/>
                        <a:t>等混合隔离事务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并发控制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MVCC </a:t>
                      </a:r>
                      <a:r>
                        <a:rPr lang="zh-CN" altLang="en-US" sz="1400"/>
                        <a:t>维护多版本数据与快照可见性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时间基准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HLC </a:t>
                      </a:r>
                      <a:r>
                        <a:rPr lang="zh-CN" altLang="en-US" sz="1400"/>
                        <a:t>提供全局近似时序与因果顺序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提交协议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跨分片事务使用两阶段提交保证原子性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单分片优化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本地快速提交，降低协调与锁持有成本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事务元数据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维护读写集、事务状态与提交时间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目标定位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以验证语义与协议可行性为主，而非工业化产品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从理论模型到工程实现的映射</a:t>
            </a:r>
            <a:endParaRPr kumimoji="1"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9" y="1406064"/>
            <a:ext cx="7550491" cy="3226448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209839" y="4818968"/>
            <a:ext cx="406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图：原型系统模块与交互关系</a:t>
            </a:r>
            <a:endParaRPr lang="zh-CN" altLang="en-US" sz="1200" dirty="0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7948892" y="1406064"/>
            <a:ext cx="4032438" cy="3481942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500" b="1">
                <a:solidFill>
                  <a:schemeClr val="tx1"/>
                </a:solidFill>
              </a:rPr>
              <a:t>映射关系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1. VIS / AR -&gt; </a:t>
            </a:r>
            <a:r>
              <a:rPr lang="zh-CN" altLang="en-US" sz="1500" b="1">
                <a:solidFill>
                  <a:schemeClr val="tx1"/>
                </a:solidFill>
              </a:rPr>
              <a:t>快照时间、版本链与提交顺序。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2. </a:t>
            </a:r>
            <a:r>
              <a:rPr lang="zh-CN" altLang="en-US" sz="1500" b="1">
                <a:solidFill>
                  <a:schemeClr val="tx1"/>
                </a:solidFill>
              </a:rPr>
              <a:t>抽象执行历史 </a:t>
            </a:r>
            <a:r>
              <a:rPr lang="en-US" altLang="zh-CN" sz="1500" b="1">
                <a:solidFill>
                  <a:schemeClr val="tx1"/>
                </a:solidFill>
              </a:rPr>
              <a:t>-&gt; </a:t>
            </a:r>
            <a:r>
              <a:rPr lang="zh-CN" altLang="en-US" sz="1500" b="1">
                <a:solidFill>
                  <a:schemeClr val="tx1"/>
                </a:solidFill>
              </a:rPr>
              <a:t>事务元数据、操作日志与读写集。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3. StartTx / ExecuteOp / CommitTx -&gt; Router </a:t>
            </a:r>
            <a:r>
              <a:rPr lang="zh-CN" altLang="en-US" sz="1500" b="1">
                <a:solidFill>
                  <a:schemeClr val="tx1"/>
                </a:solidFill>
              </a:rPr>
              <a:t>与 </a:t>
            </a:r>
            <a:r>
              <a:rPr lang="en-US" altLang="zh-CN" sz="1500" b="1">
                <a:solidFill>
                  <a:schemeClr val="tx1"/>
                </a:solidFill>
              </a:rPr>
              <a:t>Shard </a:t>
            </a:r>
            <a:r>
              <a:rPr lang="zh-CN" altLang="en-US" sz="1500" b="1">
                <a:solidFill>
                  <a:schemeClr val="tx1"/>
                </a:solidFill>
              </a:rPr>
              <a:t>的处理流程。</a:t>
            </a:r>
          </a:p>
          <a:p>
            <a:pPr>
              <a:lnSpc>
                <a:spcPct val="150000"/>
              </a:lnSpc>
            </a:pPr>
            <a:r>
              <a:rPr lang="en-US" altLang="zh-CN" sz="1500" b="1">
                <a:solidFill>
                  <a:schemeClr val="tx1"/>
                </a:solidFill>
              </a:rPr>
              <a:t>4. </a:t>
            </a:r>
            <a:r>
              <a:rPr lang="zh-CN" altLang="en-US" sz="1500" b="1">
                <a:solidFill>
                  <a:schemeClr val="tx1"/>
                </a:solidFill>
              </a:rPr>
              <a:t>原型系统不是独立实现，而是对形式化模型的工程化落地。</a:t>
            </a:r>
            <a:endParaRPr lang="en-US" altLang="zh-CN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17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实验设计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60377" y="4225657"/>
            <a:ext cx="527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图：对比策略、控制变量与观测指标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90" y="1828801"/>
            <a:ext cx="10834208" cy="2049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18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实验结果：吞吐量对比（单 </a:t>
            </a:r>
            <a:r>
              <a:rPr kumimoji="1" lang="en-US" altLang="zh-CN" sz="2400">
                <a:sym typeface="+mn-ea"/>
              </a:rPr>
              <a:t>AZ</a:t>
            </a:r>
            <a:r>
              <a:rPr kumimoji="1" lang="zh-CN" altLang="en-US" sz="2400">
                <a:sym typeface="+mn-ea"/>
              </a:rPr>
              <a:t>）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96235" y="5303751"/>
            <a:ext cx="5439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图：单 </a:t>
            </a:r>
            <a:r>
              <a:rPr lang="en-US" altLang="zh-CN" sz="1200"/>
              <a:t>AZ </a:t>
            </a:r>
            <a:r>
              <a:rPr lang="zh-CN" altLang="en-US" sz="1200"/>
              <a:t>场景下不同隔离策略的吞吐量</a:t>
            </a:r>
            <a:endParaRPr lang="zh-CN" alt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866" y="1171982"/>
            <a:ext cx="9944720" cy="3765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19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实验结果：吞吐量对比（双 </a:t>
            </a:r>
            <a:r>
              <a:rPr kumimoji="1" lang="en-US" altLang="zh-CN" sz="2400">
                <a:sym typeface="+mn-ea"/>
              </a:rPr>
              <a:t>AZ</a:t>
            </a:r>
            <a:r>
              <a:rPr kumimoji="1" lang="zh-CN" altLang="en-US" sz="2400">
                <a:sym typeface="+mn-ea"/>
              </a:rPr>
              <a:t>）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106271" y="5545302"/>
            <a:ext cx="6031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图：双 </a:t>
            </a:r>
            <a:r>
              <a:rPr lang="en-US" altLang="zh-CN" sz="1200"/>
              <a:t>AZ </a:t>
            </a:r>
            <a:r>
              <a:rPr lang="zh-CN" altLang="en-US" sz="1200"/>
              <a:t>场景下不同隔离策略的吞吐量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69" y="1232477"/>
            <a:ext cx="10497462" cy="4039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20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实验结果：整体意义分析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287806" y="906067"/>
            <a:ext cx="6031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表：不同策略的总体表现</a:t>
            </a:r>
            <a:endParaRPr lang="zh-CN" altLang="en-US" sz="1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80787"/>
              </p:ext>
            </p:extLst>
          </p:nvPr>
        </p:nvGraphicFramePr>
        <p:xfrm>
          <a:off x="1472452" y="1492872"/>
          <a:ext cx="95541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/>
                        <a:t>策略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/>
                        <a:t>SER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/>
                        <a:t>SI</a:t>
                      </a:r>
                      <a:endParaRPr lang="zh-CN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/>
                        <a:t>混合隔离</a:t>
                      </a:r>
                      <a:endParaRPr lang="zh-CN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整体吞吐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最低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中等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最高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10480"/>
              </p:ext>
            </p:extLst>
          </p:nvPr>
        </p:nvGraphicFramePr>
        <p:xfrm>
          <a:off x="1311088" y="3523378"/>
          <a:ext cx="9930653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4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观察项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平均延迟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长尾延迟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竞争等待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关键事务正确性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/>
                        <a:t>整体意义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实验现象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下降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下降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减少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保持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更优匹配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结论解释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非核心事务减少协调开销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冲突热点被有效分散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高低隔离事务不再统一阻塞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强语义事务未被降级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说明按需分配隔离级别是可行的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287806" y="2985200"/>
            <a:ext cx="6031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表：实验结论与实际意义</a:t>
            </a:r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21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032184" y="359490"/>
            <a:ext cx="10834208" cy="461665"/>
          </a:xfrm>
        </p:spPr>
        <p:txBody>
          <a:bodyPr/>
          <a:lstStyle/>
          <a:p>
            <a:r>
              <a:rPr kumimoji="1" lang="zh-CN" altLang="en-US" sz="2400">
                <a:sym typeface="+mn-ea"/>
              </a:rPr>
              <a:t>全文总结与未来展望</a:t>
            </a:r>
            <a:endParaRPr kumimoji="1" lang="zh-CN" altLang="en-US" sz="2400" dirty="0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701053" y="1781735"/>
            <a:ext cx="8996081" cy="3664324"/>
          </a:xfrm>
          <a:prstGeom prst="rect">
            <a:avLst/>
          </a:prstGeom>
          <a:solidFill>
            <a:srgbClr val="ECECEC"/>
          </a:solidFill>
          <a:ln>
            <a:solidFill>
              <a:srgbClr val="6A0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</a:rPr>
              <a:t>全文总结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1. </a:t>
            </a:r>
            <a:r>
              <a:rPr lang="zh-CN" altLang="en-US" sz="1600" b="1">
                <a:solidFill>
                  <a:schemeClr val="tx1"/>
                </a:solidFill>
              </a:rPr>
              <a:t>建立了一致性语义、抽象执行与操作语义之间的统一链路。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2. </a:t>
            </a:r>
            <a:r>
              <a:rPr lang="zh-CN" altLang="en-US" sz="1600" b="1">
                <a:solidFill>
                  <a:schemeClr val="tx1"/>
                </a:solidFill>
              </a:rPr>
              <a:t>使用 </a:t>
            </a:r>
            <a:r>
              <a:rPr lang="en-US" altLang="zh-CN" sz="1600" b="1">
                <a:solidFill>
                  <a:schemeClr val="tx1"/>
                </a:solidFill>
              </a:rPr>
              <a:t>TLA+ </a:t>
            </a:r>
            <a:r>
              <a:rPr lang="zh-CN" altLang="en-US" sz="1600" b="1">
                <a:solidFill>
                  <a:schemeClr val="tx1"/>
                </a:solidFill>
              </a:rPr>
              <a:t>对关键状态转移与安全性质进行了验证。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3. </a:t>
            </a:r>
            <a:r>
              <a:rPr lang="zh-CN" altLang="en-US" sz="1600" b="1">
                <a:solidFill>
                  <a:schemeClr val="tx1"/>
                </a:solidFill>
              </a:rPr>
              <a:t>实现了支持混合隔离级别的分布式 </a:t>
            </a:r>
            <a:r>
              <a:rPr lang="en-US" altLang="zh-CN" sz="1600" b="1">
                <a:solidFill>
                  <a:schemeClr val="tx1"/>
                </a:solidFill>
              </a:rPr>
              <a:t>KV </a:t>
            </a:r>
            <a:r>
              <a:rPr lang="zh-CN" altLang="en-US" sz="1600" b="1">
                <a:solidFill>
                  <a:schemeClr val="tx1"/>
                </a:solidFill>
              </a:rPr>
              <a:t>原型系统。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4. </a:t>
            </a:r>
            <a:r>
              <a:rPr lang="zh-CN" altLang="en-US" sz="1600" b="1">
                <a:solidFill>
                  <a:schemeClr val="tx1"/>
                </a:solidFill>
              </a:rPr>
              <a:t>实验表明，混合隔离在保证关键事务正确性的前提下获得了更优吞吐。</a:t>
            </a:r>
          </a:p>
          <a:p>
            <a:pPr>
              <a:lnSpc>
                <a:spcPct val="150000"/>
              </a:lnSpc>
            </a:pPr>
            <a:endParaRPr lang="zh-CN" altLang="en-US" sz="1600" b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</a:rPr>
              <a:t>未来展望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1. </a:t>
            </a:r>
            <a:r>
              <a:rPr lang="zh-CN" altLang="en-US" sz="1600" b="1">
                <a:solidFill>
                  <a:schemeClr val="tx1"/>
                </a:solidFill>
              </a:rPr>
              <a:t>完善持久化能力、动态扩缩容与高可用机制。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2. </a:t>
            </a:r>
            <a:r>
              <a:rPr lang="zh-CN" altLang="en-US" sz="1600" b="1">
                <a:solidFill>
                  <a:schemeClr val="tx1"/>
                </a:solidFill>
              </a:rPr>
              <a:t>引入更标准化的工业基准负载。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</a:rPr>
              <a:t>3. </a:t>
            </a:r>
            <a:r>
              <a:rPr lang="zh-CN" altLang="en-US" sz="1600" b="1">
                <a:solidFill>
                  <a:schemeClr val="tx1"/>
                </a:solidFill>
              </a:rPr>
              <a:t>研究更细粒度的隔离级别推荐与自动选择机制。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1155</Words>
  <Application>Microsoft Office PowerPoint</Application>
  <PresentationFormat>宽屏</PresentationFormat>
  <Paragraphs>200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黑体</vt:lpstr>
      <vt:lpstr>宋体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</dc:creator>
  <cp:lastModifiedBy>Jihua Zhang</cp:lastModifiedBy>
  <cp:revision>42</cp:revision>
  <dcterms:created xsi:type="dcterms:W3CDTF">2024-03-31T07:17:00Z</dcterms:created>
  <dcterms:modified xsi:type="dcterms:W3CDTF">2026-04-04T09:52:31Z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B2588779497C7BA0160E09660AF6FDF4_43</vt:lpwstr>
  </property>
</Properties>
</file>